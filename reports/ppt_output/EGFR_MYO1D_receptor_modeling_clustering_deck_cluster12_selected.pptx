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8f91d68ae469a" /><Relationship Type="http://schemas.openxmlformats.org/officeDocument/2006/relationships/extended-properties" Target="/docProps/app.xml" Id="Rea59e74959244129" /><Relationship Type="http://schemas.openxmlformats.org/officeDocument/2006/relationships/officeDocument" Target="/ppt/presentation.xml" Id="R2d62c21d9c4f47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2e53b4a55a4ba8"/>
  </p:sldMasterIdLst>
  <p:notesMasterIdLst>
    <p:notesMasterId xmlns:r="http://schemas.openxmlformats.org/officeDocument/2006/relationships" r:id="R4bcfd0b451b74c0a"/>
  </p:notesMasterIdLst>
  <p:sldIdLst>
    <p:sldId xmlns:r="http://schemas.openxmlformats.org/officeDocument/2006/relationships" id="256" r:id="R4e348694fe6b4ff3"/>
    <p:sldId xmlns:r="http://schemas.openxmlformats.org/officeDocument/2006/relationships" id="257" r:id="R93ad9267c3a34f76"/>
    <p:sldId xmlns:r="http://schemas.openxmlformats.org/officeDocument/2006/relationships" id="258" r:id="Re5ec43004d24497e"/>
    <p:sldId xmlns:r="http://schemas.openxmlformats.org/officeDocument/2006/relationships" id="259" r:id="R44e14d8bc1f24f5c"/>
    <p:sldId xmlns:r="http://schemas.openxmlformats.org/officeDocument/2006/relationships" id="260" r:id="R3c5fce5d6469499a"/>
    <p:sldId xmlns:r="http://schemas.openxmlformats.org/officeDocument/2006/relationships" id="261" r:id="Rfa1cfa23946b448f"/>
    <p:sldId xmlns:r="http://schemas.openxmlformats.org/officeDocument/2006/relationships" id="262" r:id="R3a91fd7349f04c92"/>
    <p:sldId xmlns:r="http://schemas.openxmlformats.org/officeDocument/2006/relationships" id="263" r:id="R1ccc43e187824d5c"/>
    <p:sldId xmlns:r="http://schemas.openxmlformats.org/officeDocument/2006/relationships" id="264" r:id="R984403892e9a4393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e53b4a55a4ba8" /><Relationship Type="http://schemas.openxmlformats.org/officeDocument/2006/relationships/theme" Target="/ppt/theme/theme1.xml" Id="Rd56bad928c844ec9" /><Relationship Type="http://schemas.openxmlformats.org/officeDocument/2006/relationships/notesMaster" Target="/ppt/notesMasters/notesMaster1.xml" Id="R4bcfd0b451b74c0a" /><Relationship Type="http://schemas.openxmlformats.org/officeDocument/2006/relationships/presProps" Target="/ppt/presProps.xml" Id="R86e68d3c38984854" /><Relationship Type="http://schemas.openxmlformats.org/officeDocument/2006/relationships/viewProps" Target="/ppt/viewProps.xml" Id="R2581abe04a8f4598" /><Relationship Type="http://schemas.openxmlformats.org/officeDocument/2006/relationships/tableStyles" Target="/ppt/tableStyles.xml" Id="R3630d9069c4449e5" /><Relationship Type="http://schemas.openxmlformats.org/officeDocument/2006/relationships/slide" Target="/ppt/slides/slide1.xml" Id="R4e348694fe6b4ff3" /><Relationship Type="http://schemas.openxmlformats.org/officeDocument/2006/relationships/slide" Target="/ppt/slides/slide2.xml" Id="R93ad9267c3a34f76" /><Relationship Type="http://schemas.openxmlformats.org/officeDocument/2006/relationships/slide" Target="/ppt/slides/slide3.xml" Id="Re5ec43004d24497e" /><Relationship Type="http://schemas.openxmlformats.org/officeDocument/2006/relationships/slide" Target="/ppt/slides/slide4.xml" Id="R44e14d8bc1f24f5c" /><Relationship Type="http://schemas.openxmlformats.org/officeDocument/2006/relationships/slide" Target="/ppt/slides/slide5.xml" Id="R3c5fce5d6469499a" /><Relationship Type="http://schemas.openxmlformats.org/officeDocument/2006/relationships/slide" Target="/ppt/slides/slide6.xml" Id="Rfa1cfa23946b448f" /><Relationship Type="http://schemas.openxmlformats.org/officeDocument/2006/relationships/slide" Target="/ppt/slides/slide7.xml" Id="R3a91fd7349f04c92" /><Relationship Type="http://schemas.openxmlformats.org/officeDocument/2006/relationships/slide" Target="/ppt/slides/slide8.xml" Id="R1ccc43e187824d5c" /><Relationship Type="http://schemas.openxmlformats.org/officeDocument/2006/relationships/slide" Target="/ppt/slides/slide9.xml" Id="R984403892e9a43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4855ef114b44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e01a93c8264e85" /><Relationship Type="http://schemas.openxmlformats.org/officeDocument/2006/relationships/notesMaster" Target="/ppt/notesMasters/notesMaster1.xml" Id="R2813b13fe8ef49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a98a703a68400d" /><Relationship Type="http://schemas.openxmlformats.org/officeDocument/2006/relationships/notesMaster" Target="/ppt/notesMasters/notesMaster1.xml" Id="R9ce655f2cfba40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ed0e5fce8f4355" /><Relationship Type="http://schemas.openxmlformats.org/officeDocument/2006/relationships/notesMaster" Target="/ppt/notesMasters/notesMaster1.xml" Id="Rf54995bbb71a4f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53fa76d1cd42e8" /><Relationship Type="http://schemas.openxmlformats.org/officeDocument/2006/relationships/notesMaster" Target="/ppt/notesMasters/notesMaster1.xml" Id="R87a0b30fd8f14c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3c8a4d1d85415b" /><Relationship Type="http://schemas.openxmlformats.org/officeDocument/2006/relationships/notesMaster" Target="/ppt/notesMasters/notesMaster1.xml" Id="R0ce8412294ac4b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ef2174c574564" /><Relationship Type="http://schemas.openxmlformats.org/officeDocument/2006/relationships/notesMaster" Target="/ppt/notesMasters/notesMaster1.xml" Id="Rf4f7818453b9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8f1227a394a3c" /><Relationship Type="http://schemas.openxmlformats.org/officeDocument/2006/relationships/notesMaster" Target="/ppt/notesMasters/notesMaster1.xml" Id="R662f01c4e3b048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8fc89ebfd4b6d" /><Relationship Type="http://schemas.openxmlformats.org/officeDocument/2006/relationships/notesMaster" Target="/ppt/notesMasters/notesMaster1.xml" Id="Rc9d54be2f9734a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69708f46274a7a" /><Relationship Type="http://schemas.openxmlformats.org/officeDocument/2006/relationships/notesMaster" Target="/ppt/notesMasters/notesMaster1.xml" Id="R9f1e8ee3e81f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1d09f7b7c4de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7a6ab574d84533" /><Relationship Type="http://schemas.openxmlformats.org/officeDocument/2006/relationships/slideLayout" Target="/ppt/slideLayouts/slideLayout2.xml" Id="Rb7fdaac2080140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fdaac2080140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857f39572482d" /><Relationship Type="http://schemas.openxmlformats.org/officeDocument/2006/relationships/image" Target="/ppt/media/image.png" Id="Ra8d8559c45c046aa" /><Relationship Type="http://schemas.openxmlformats.org/officeDocument/2006/relationships/notesSlide" Target="/ppt/notesSlides/notesSlide1.xml" Id="R1a47d3f83be443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5f943ceb04f0c" /><Relationship Type="http://schemas.openxmlformats.org/officeDocument/2006/relationships/notesSlide" Target="/ppt/notesSlides/notesSlide2.xml" Id="R23ecb174e0594f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99531545a4cf6" /><Relationship Type="http://schemas.openxmlformats.org/officeDocument/2006/relationships/notesSlide" Target="/ppt/notesSlides/notesSlide3.xml" Id="R98f16a436724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6e91ef7fc42df" /><Relationship Type="http://schemas.openxmlformats.org/officeDocument/2006/relationships/image" Target="/ppt/media/image2.png" Id="Rffca9221c0474423" /><Relationship Type="http://schemas.openxmlformats.org/officeDocument/2006/relationships/image" Target="/ppt/media/image3.png" Id="R199779f5c3d9401d" /><Relationship Type="http://schemas.openxmlformats.org/officeDocument/2006/relationships/image" Target="/ppt/media/image4.png" Id="Rc6bb54ac59f64ba3" /><Relationship Type="http://schemas.openxmlformats.org/officeDocument/2006/relationships/image" Target="/ppt/media/image5.png" Id="R1b595cf463f3443c" /><Relationship Type="http://schemas.openxmlformats.org/officeDocument/2006/relationships/notesSlide" Target="/ppt/notesSlides/notesSlide4.xml" Id="Rc8bd3d0d784b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3bf562e7441d2" /><Relationship Type="http://schemas.openxmlformats.org/officeDocument/2006/relationships/image" Target="/ppt/media/image6.png" Id="R6a960d9b455541bd" /><Relationship Type="http://schemas.openxmlformats.org/officeDocument/2006/relationships/image" Target="/ppt/media/image7.png" Id="R631455abe22b422f" /><Relationship Type="http://schemas.openxmlformats.org/officeDocument/2006/relationships/image" Target="/ppt/media/image8.png" Id="R185a0901f1664400" /><Relationship Type="http://schemas.openxmlformats.org/officeDocument/2006/relationships/notesSlide" Target="/ppt/notesSlides/notesSlide5.xml" Id="Ra83e4846ce4f48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e8e6f296740cf" /><Relationship Type="http://schemas.openxmlformats.org/officeDocument/2006/relationships/image" Target="/ppt/media/image9.png" Id="Rfdad8f74bc504278" /><Relationship Type="http://schemas.openxmlformats.org/officeDocument/2006/relationships/image" Target="/ppt/media/image10.png" Id="Ra79d5cb0cd0841b4" /><Relationship Type="http://schemas.openxmlformats.org/officeDocument/2006/relationships/notesSlide" Target="/ppt/notesSlides/notesSlide6.xml" Id="Rb5f73c09a5ee45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a0cc38bdfc4b2d" /><Relationship Type="http://schemas.openxmlformats.org/officeDocument/2006/relationships/image" Target="/ppt/media/image11.png" Id="R6c50cedc08284a3f" /><Relationship Type="http://schemas.openxmlformats.org/officeDocument/2006/relationships/image" Target="/ppt/media/image12.png" Id="R260be65561884ac6" /><Relationship Type="http://schemas.openxmlformats.org/officeDocument/2006/relationships/notesSlide" Target="/ppt/notesSlides/notesSlide7.xml" Id="R3c347ee4d7804d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5fed39a0274692" /><Relationship Type="http://schemas.openxmlformats.org/officeDocument/2006/relationships/notesSlide" Target="/ppt/notesSlides/notesSlide8.xml" Id="R4d0e6b07a24349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b412b235e64011" /><Relationship Type="http://schemas.openxmlformats.org/officeDocument/2006/relationships/notesSlide" Target="/ppt/notesSlides/notesSlide9.xml" Id="R50b49a70601045f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cover-backgrou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8559c45c046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FDE905E4-D24E-4560-A550-CB38678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239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EGFR-MYO1D 진행 보고</a:t>
            </a:r>
          </a:p>
        </p:txBody>
      </p:sp>
      <p:sp>
        <p:nvSpPr>
          <p:cNvPr id="3" name="slide-title-line-1">
            <a:extLst xmlns:a="http://schemas.openxmlformats.org/drawingml/2006/main">
              <a:ext uri="{FF2B5EF4-FFF2-40B4-BE49-F238E27FC236}">
                <a16:creationId xmlns:a16="http://schemas.microsoft.com/office/drawing/2014/main" id="{AE5DB44E-0168-4504-B2D9-5A01BD66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EGFR 모델을 먼저</a:t>
            </a:r>
          </a:p>
        </p:txBody>
      </p:sp>
      <p:sp>
        <p:nvSpPr>
          <p:cNvPr id="4" name="slide-title-line-2">
            <a:extLst xmlns:a="http://schemas.openxmlformats.org/drawingml/2006/main">
              <a:ext uri="{FF2B5EF4-FFF2-40B4-BE49-F238E27FC236}">
                <a16:creationId xmlns:a16="http://schemas.microsoft.com/office/drawing/2014/main" id="{548E4920-4326-4780-8B82-CBCA377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9334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32026"/>
                </a:solidFill>
              </a:defRPr>
            </a:pPr>
            <a:r>
              <a:rPr sz="4650" b="1">
                <a:solidFill>
                  <a:srgbClr val="132026"/>
                </a:solidFill>
              </a:rPr>
              <a:t>만들고 확인했습니다</a:t>
            </a:r>
          </a:p>
        </p:txBody>
      </p:sp>
      <p:sp>
        <p:nvSpPr>
          <p:cNvPr id="5" name="slide-title-line-3">
            <a:extLst xmlns:a="http://schemas.openxmlformats.org/drawingml/2006/main">
              <a:ext uri="{FF2B5EF4-FFF2-40B4-BE49-F238E27FC236}">
                <a16:creationId xmlns:a16="http://schemas.microsoft.com/office/drawing/2014/main" id="{1E4B529C-2303-436C-BAC4-C4AF38DD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9334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32026"/>
                </a:solidFill>
              </a:defRPr>
            </a:pPr>
            <a:r>
              <a:rPr sz="4350" b="1">
                <a:solidFill>
                  <a:srgbClr val="132026"/>
                </a:solidFill>
              </a:rPr>
              <a:t>대표 구조도 정했습니다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52310-619B-4DC8-8E4D-56B784C2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66D"/>
          </a:solidFill>
          <a:ln xmlns:a="http://schemas.openxmlformats.org/drawingml/2006/main" w="0">
            <a:solidFill>
              <a:srgbClr val="23A66D"/>
            </a:solidFill>
            <a:prstDash val="solid"/>
          </a:ln>
        </p:spPr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97FF02E-A3BE-4D0F-B00B-568B025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7829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0505A"/>
                </a:solidFill>
              </a:defRPr>
            </a:pPr>
            <a:r>
              <a:rPr sz="1875">
                <a:solidFill>
                  <a:srgbClr val="40505A"/>
                </a:solidFill>
              </a:rPr>
              <a:t>MYO1D가 EGFR에 붙는지 보려면, 먼저 EGFR의 모양과 방향을 정해야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69C30-DD20-46FA-8C14-ED28EBE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667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A29FB-5E1E-4202-8711-7DADDB72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2324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모델 만들기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5D96CA-D303-411E-AA1C-09CC91A5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10100"/>
            <a:ext cx="2190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5FBD6-7B5C-449D-9D3B-DC5AC184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05350"/>
            <a:ext cx="1847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200 ns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13376-E1F3-4B80-BFF4-B426ED08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10100"/>
            <a:ext cx="20955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2E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D17A6-88BA-4206-89E3-71505B5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05350"/>
            <a:ext cx="1752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6903A"/>
                </a:solidFill>
              </a:defRPr>
            </a:pPr>
            <a:r>
              <a:rPr sz="1050" b="1">
                <a:solidFill>
                  <a:srgbClr val="E6903A"/>
                </a:solidFill>
              </a:rPr>
              <a:t>대표 구조 선택</a:t>
            </a:r>
          </a:p>
        </p:txBody>
      </p:sp>
      <p:sp>
        <p:nvSpPr>
          <p:cNvPr id="14" name="scope-note">
            <a:extLst xmlns:a="http://schemas.openxmlformats.org/drawingml/2006/main">
              <a:ext uri="{FF2B5EF4-FFF2-40B4-BE49-F238E27FC236}">
                <a16:creationId xmlns:a16="http://schemas.microsoft.com/office/drawing/2014/main" id="{C20F37FF-52B0-491C-A405-5E7FB21B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579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47C"/>
                </a:solidFill>
              </a:defRPr>
            </a:pPr>
            <a:r>
              <a:rPr sz="1275">
                <a:solidFill>
                  <a:srgbClr val="65747C"/>
                </a:solidFill>
              </a:rPr>
              <a:t>이번 발표는 EGFR 대표 구조를 정하고 MYO1D 분석으로 넘어가는 준비 상황입니다.</a:t>
            </a:r>
          </a:p>
        </p:txBody>
      </p:sp>
      <p:sp>
        <p:nvSpPr>
          <p:cNvPr id="15" name="footer-label-01 / 09">
            <a:extLst xmlns:a="http://schemas.openxmlformats.org/drawingml/2006/main">
              <a:ext uri="{FF2B5EF4-FFF2-40B4-BE49-F238E27FC236}">
                <a16:creationId xmlns:a16="http://schemas.microsoft.com/office/drawing/2014/main" id="{DC06680B-E107-4B4B-95C4-90C1F02B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01 / 09</a:t>
            </a:r>
          </a:p>
        </p:txBody>
      </p:sp>
      <p:sp>
        <p:nvSpPr>
          <p:cNvPr id="16" name="footer-source-01 / 09">
            <a:extLst xmlns:a="http://schemas.openxmlformats.org/drawingml/2006/main">
              <a:ext uri="{FF2B5EF4-FFF2-40B4-BE49-F238E27FC236}">
                <a16:creationId xmlns:a16="http://schemas.microsoft.com/office/drawing/2014/main" id="{8813F56E-D9E7-4D25-B19B-944FA8D3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631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표지 그림은 개념 그림입니다. 결과 설명은 로컬 데이터 파일을 기준으로 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032547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B60EC90-39F4-4472-B2FF-3765A1F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왜 먼저 해야 하나?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DF1EBC-C180-4F65-B6D7-980C193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96202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MYO1D를 보기 전에 EGFR 모양부터 정합니다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9D34625-0802-4C97-8C8F-FC102FAF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2249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0505A"/>
                </a:solidFill>
              </a:defRPr>
            </a:pPr>
            <a:r>
              <a:rPr sz="1950">
                <a:solidFill>
                  <a:srgbClr val="40505A"/>
                </a:solidFill>
              </a:rPr>
              <a:t>EGFR 모양이 바뀌면 MYO1D가 붙는 위치도 달라 보일 수 있습니다. 그래서 기준이 될 EGFR 모델을 먼저 정했습니다.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EE269-5AA7-4E42-91A1-61441DA1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E46BD-308A-4FDA-A067-C8D3AF0D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A66D"/>
                </a:solidFill>
              </a:defRPr>
            </a:pPr>
            <a:r>
              <a:rPr sz="1350" b="1">
                <a:solidFill>
                  <a:srgbClr val="23A66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6AA31-EE5B-466D-8131-B278F4AE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EGFR 대표 구조 정하기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12A5C-6AD9-4CF9-89A4-58CB9C33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Cluster 1/2 구간 대표 구조 사용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39F604-421A-484F-BBF6-64AB796B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A3DA5-F856-4604-8B68-14DFE0F2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A8352-BF22-4627-94B4-475D235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D7794-A610-49B9-BEB5-11720784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MYO1D 붙여보기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A8784-68C3-4463-BE3B-BC938FEB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EGFR 모델이 정해진 뒤 진행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555BC-13E0-4067-BEFB-997A6EE3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044CB3-7F4B-4AD9-AAC0-7D793805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FD352-81ED-4FC6-99CD-924D9D3D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C8"/>
                </a:solidFill>
              </a:defRPr>
            </a:pPr>
            <a:r>
              <a:rPr sz="1350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36540-4B57-466D-9446-3AA10AA6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붙는 자리 찾기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DDD797-4906-4996-8292-460F264C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EGFR의 어느 부분과 닿는지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C9C8D-ED89-4F88-9DD8-3EA05711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8238D0-A2F3-4E1B-B294-58968D4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83634-AFAC-4CC6-BB8E-6A48DF2C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71B88-64F1-496B-9914-6642C4A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작은 홈 찾기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3D3E41-66AC-4DDD-ADA2-0B6CDC64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790950"/>
            <a:ext cx="2152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약물이 들어갈 만한 공간 후보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13B3C-B47A-4E53-BA0F-58CA974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952750"/>
            <a:ext cx="40005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9AB1BA"/>
                </a:solidFill>
              </a:defRPr>
            </a:pPr>
            <a:r>
              <a:rPr sz="2550" b="1">
                <a:solidFill>
                  <a:srgbClr val="9AB1BA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69A7F-E4EA-441A-953C-07EA232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2952750"/>
            <a:ext cx="2571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114A6F-BEA4-4E8D-854B-4A3E1D2C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124200"/>
            <a:ext cx="215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6903A"/>
                </a:solidFill>
              </a:defRPr>
            </a:pPr>
            <a:r>
              <a:rPr sz="1350" b="1">
                <a:solidFill>
                  <a:srgbClr val="E6903A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9E9ED-81BD-4D5A-8C2B-AC173301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429000"/>
            <a:ext cx="2152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026"/>
                </a:solidFill>
              </a:defRPr>
            </a:pPr>
            <a:r>
              <a:rPr sz="1725" b="1">
                <a:solidFill>
                  <a:srgbClr val="132026"/>
                </a:solidFill>
              </a:rPr>
              <a:t>화합물 넣어보기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FD9DE-853D-4D90-9925-022DA3BD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이 발표의 결과가 아니라 다음 단계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31B84-5845-4E12-8E3F-F5C51DD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이번 발표 내용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06885-F572-421F-96EF-9FCC5E5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B5C37F-1144-4EFB-B23C-9098C0B8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EGFR의 여러 부분을 이어 붙여 기본 모델을 만들었습니다.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B626E-2694-48CB-92D1-6D1B1D82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0342E-AC9C-4D72-921D-46215D4E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방향 모델이 현재 지표에서 가장 좋아 보였습니다.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9E27E3-2D4D-4FCB-B578-92D19FC4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76333A-0F53-45BC-BAB7-469A796E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Cluster 1/2 대표 구조를 다음 입력 후보로 정했습니다.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2407FA-6251-4BC8-A882-2BD67BED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아직 다음 단계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1F1D82-C77C-4E5E-8B75-08D2338A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95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D201C1-AC37-4E6D-9D15-C183E7B8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9590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MYO1D를 붙여본 최종 결과는 아직 아닙니다.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3A66EF-B518-42EA-AA5E-D3896529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6959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7495AE-2916-4778-8B9F-85BD8254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959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붙는 자리와 작은 홈 찾기는 다음 단계입니다.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326C7A-D8A9-4CFD-B64F-BF8ACF7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115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BC3CA5-B3A7-4497-A4F9-831F58E9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15050"/>
            <a:ext cx="790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화합물 docking은 MYO1D 자리와 pocket을 본 뒤 시작합니다.</a:t>
            </a:r>
          </a:p>
        </p:txBody>
      </p:sp>
      <p:sp>
        <p:nvSpPr>
          <p:cNvPr id="42" name="footer-label-02 / 09">
            <a:extLst xmlns:a="http://schemas.openxmlformats.org/drawingml/2006/main">
              <a:ext uri="{FF2B5EF4-FFF2-40B4-BE49-F238E27FC236}">
                <a16:creationId xmlns:a16="http://schemas.microsoft.com/office/drawing/2014/main" id="{4FE6D6C9-2402-47A9-A8C2-FCCC6090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02 / 09</a:t>
            </a:r>
          </a:p>
        </p:txBody>
      </p:sp>
      <p:sp>
        <p:nvSpPr>
          <p:cNvPr id="43" name="footer-source-02 / 09">
            <a:extLst xmlns:a="http://schemas.openxmlformats.org/drawingml/2006/main">
              <a:ext uri="{FF2B5EF4-FFF2-40B4-BE49-F238E27FC236}">
                <a16:creationId xmlns:a16="http://schemas.microsoft.com/office/drawing/2014/main" id="{1B2FF973-466E-4762-B52F-FFC5CB9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9544050"/>
            <a:ext cx="3009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reports/EGFR_modeling_clustering_PPT_data_package.md</a:t>
            </a:r>
          </a:p>
        </p:txBody>
      </p:sp>
    </p:spTree>
    <p:extLst>
      <p:ext uri="{BB962C8B-B14F-4D97-AF65-F5344CB8AC3E}">
        <p14:creationId xmlns:p14="http://schemas.microsoft.com/office/powerpoint/2010/main" val="86025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904EDEE-4581-4C1E-AB96-AEC78E62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모델을 만든 방법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00C6B0-046B-4D01-868F-4F220FE1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9544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EGFR은 여러 자료를 이어 붙여 만들었습니다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882BCE1-CC16-40A2-B147-974BAE0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08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EGFR의 막 부분, 연결 부분, 세포 안쪽 효소 부분을 각각 다른 구조 자료에서 가져와 하나의 모델로 만들었습니다.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B1869-DA25-4BDA-B82D-2922AD4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0340"/>
            <a:ext cx="10572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857E4-E78A-42BA-9AA3-7B73EBA0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부분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4C60A-F1FD-4E2E-AAE6-BBB65AD4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433D4-1992-463E-9E4E-B61969CE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무엇에 썼나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B43C6-1CE4-45E2-AD85-56D725D0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5750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주의할 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A5A50-6A1B-4235-8C0C-06D7758D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326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B5C76-44E4-418A-8F09-6543CD0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막을 지나는 부분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2A9B7-09B6-4A7D-8535-5A06451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2M0B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E442B-74C3-4F27-A6C4-190E029D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EGFR 두 가닥이 막을 지나는 모양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0C749-92F8-4737-A390-8782D0E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814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스크립트에서는 634-670 구간을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E2617-A34B-4CC8-A37E-D916BE8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099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E63C8-E9EA-417B-8A7D-7F461DA9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막 근처 연결부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E11C7-51E9-40F9-9D55-21918386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2M20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8FC603-A39E-4C59-A9E0-812C5687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0055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막 근처에서 이어지는 방향 참고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BCAD1-E0C2-443A-9051-F3937866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196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좌표 생성 과정 일부는 추가 확인 필요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FF0369-0CD7-483B-B94E-396C39E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8715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74DEE-DD53-4168-895A-69FF6D31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세포 안쪽 효소부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B17FD3-1584-4F88-8431-29BE0C07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3GT8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5E65FA-7CC4-4109-9671-D2D5F260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inactive KD dimer 모양 참고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01BAB-2AE7-4949-9935-6B137615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768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번호 체계가 달라서 해석 시 주의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C0AAC1-E93C-4362-98C7-E1A04F2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06440"/>
            <a:ext cx="10572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CD5FE-C212-48B7-B427-BF83DD7F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96000"/>
            <a:ext cx="1714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32026"/>
                </a:solidFill>
              </a:defRPr>
            </a:pPr>
            <a:r>
              <a:rPr sz="1200" b="1">
                <a:solidFill>
                  <a:srgbClr val="132026"/>
                </a:solidFill>
              </a:rPr>
              <a:t>빈 구간 채우기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01AABA-6FB6-499C-84EF-C7855740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960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MODELLER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AC1DC-7C67-4D5F-95EA-0B64B175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96000"/>
            <a:ext cx="33813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0505A"/>
                </a:solidFill>
              </a:defRPr>
            </a:pPr>
            <a:r>
              <a:rPr sz="1125" b="0">
                <a:solidFill>
                  <a:srgbClr val="40505A"/>
                </a:solidFill>
              </a:rPr>
              <a:t>없는 구간을 계산으로 메움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1318D2-EB8B-4A77-9C98-DA04286C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1505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47C"/>
                </a:solidFill>
              </a:defRPr>
            </a:pPr>
            <a:r>
              <a:rPr sz="1050" b="0">
                <a:solidFill>
                  <a:srgbClr val="65747C"/>
                </a:solidFill>
              </a:rPr>
              <a:t>실험 구조가 아니라 모델링 결과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70504-A611-4422-980F-C6303B3D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724150"/>
            <a:ext cx="64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작업 순서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46EB7-E386-4EBD-AB4B-B264E4F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320040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AED2C-A098-4AFA-931A-06EA797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528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CD24A3-DD70-473B-B55A-5CA5BE2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3528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막 부분을 먼저 맞춤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EBB8A1-5DE6-48BD-947B-A36B075A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6004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2M0B 자료로 EGFR 두 가닥의 막 부분을 잡음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C8BF06-0FFE-4E2F-8FF7-2D72BB8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01955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59424F-577A-49FF-8132-488AC50D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1910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3C7FCB-2B75-4DCD-9667-CCAF3256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1719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연결부 방향을 참고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0CE967-ED1D-44AC-A72E-41BD2491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4196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2M20 자료로 막 근처 방향을 정리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56429A-9477-4E7B-9784-3C608F2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83870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569EA4-B065-412E-AB90-1A8AAE6A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911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2382CE-6424-4935-A29C-166597A8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49911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세포 안쪽 큰 부분을 붙임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16B03-51C1-4737-804B-1A4EC864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2387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3GT8 자료로 KD dimer 부분을 배치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40F067-5FEB-4DF1-9CF7-D404EE4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5785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808601-6EC4-4B14-8481-25F43C50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293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4DE8C4-152D-48B2-9F95-AB63B83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81025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빈 구간을 계산으로 채움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42F277-3728-4B65-94A8-78A69AD0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05790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JM-B와 A-loop처럼 없는 부분을 MODELLER로 보완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FA59AE-D94D-4264-ACA7-F5E0D6AB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6477000"/>
            <a:ext cx="5695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B0B9FA-70DE-4140-93BC-BE18011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629400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905911-5917-4D9F-9299-75E73736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629400"/>
            <a:ext cx="508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026"/>
                </a:solidFill>
              </a:defRPr>
            </a:pPr>
            <a:r>
              <a:rPr sz="1425" b="1">
                <a:solidFill>
                  <a:srgbClr val="132026"/>
                </a:solidFill>
              </a:rPr>
              <a:t>방향 후보 5개를 만듦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1B420D-7E2B-4430-91E5-F82306A6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6877050"/>
            <a:ext cx="5086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-20°, -10°, 0°, +10°, +20°를 비교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56283E-A4A1-4072-87F4-9597351F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296150"/>
            <a:ext cx="5695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Slide 6의 구조 그림은 이 모델 PDB의 실제 CA 좌표를 이용해 만든 overview입니다.</a:t>
            </a:r>
          </a:p>
        </p:txBody>
      </p:sp>
      <p:sp>
        <p:nvSpPr>
          <p:cNvPr id="51" name="footer-label-03 / 09">
            <a:extLst xmlns:a="http://schemas.openxmlformats.org/drawingml/2006/main">
              <a:ext uri="{FF2B5EF4-FFF2-40B4-BE49-F238E27FC236}">
                <a16:creationId xmlns:a16="http://schemas.microsoft.com/office/drawing/2014/main" id="{1627CA83-F96E-47F9-8864-002AE131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03 / 09</a:t>
            </a:r>
          </a:p>
        </p:txBody>
      </p:sp>
      <p:sp>
        <p:nvSpPr>
          <p:cNvPr id="52" name="footer-source-03 / 09">
            <a:extLst xmlns:a="http://schemas.openxmlformats.org/drawingml/2006/main">
              <a:ext uri="{FF2B5EF4-FFF2-40B4-BE49-F238E27FC236}">
                <a16:creationId xmlns:a16="http://schemas.microsoft.com/office/drawing/2014/main" id="{74889FDC-0611-41EB-9A65-7DE9BA2B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9563100"/>
            <a:ext cx="3486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1.align/*, 01_numbering_provenance/template_model_mapping.csv</a:t>
            </a:r>
          </a:p>
        </p:txBody>
      </p:sp>
    </p:spTree>
    <p:extLst>
      <p:ext uri="{BB962C8B-B14F-4D97-AF65-F5344CB8AC3E}">
        <p14:creationId xmlns:p14="http://schemas.microsoft.com/office/powerpoint/2010/main" val="18101144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1ABAE7B-4C00-4A05-BF9E-DBB1CAF7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방향 비교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452D04-2E81-41F1-9294-55094A3D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8420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+10° 방향 모델이 가장 좋아 보였습니다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4694079-C46D-4D0E-803B-F0189187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0896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EGFR 안쪽 큰 부분을 여러 각도로 돌려 비교했고, 현재 계산된 지표에서는 +10°가 가장 안정적으로 보였습니다.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C788E-A2A6-4BC9-AF95-396B0CBE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64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선택 이유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DB221-A398-4709-BA80-ECE11E32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4226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08DF3-5D28-4170-AABB-EA4253F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움직임 크기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8DBFE-C228-4CC2-94A4-487CAC41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2.68 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B1C5F-1999-46AD-95D4-797DDCD7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RMSD가 낮을수록 덜 흔들린다는 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F44AF-9B14-45E7-86B7-A1A99C0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3885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8E076-1B6D-4BA3-9A28-DB7D2B7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전체 크기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35F16-FF38-47B2-A90B-5392BA77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28.31 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B9377-5290-480F-9924-2021D731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Rg가 비슷하게 유지되어 비교적 안정적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C6627-0DD0-4FF5-944C-0EB8D37A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5510"/>
            <a:ext cx="47625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F7922-E46D-4830-8B67-2C079397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722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두 가닥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486FB-E89F-4B1F-889B-5ADF639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00800"/>
            <a:ext cx="430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11.49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1CD1A-92D0-4498-B328-5465063C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34200"/>
            <a:ext cx="4305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H-bond가 더 많이 보인 조건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28FB0-2B83-4174-88C1-C33A33A8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628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주의: 모든 지표가 완벽하게 다 있는 것은 아닙니다. 그래도 현재 가지고 있는 자료에서는 +10°가 가장 좋은 후보입니다.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FD7CA6-61FE-4696-8ACE-F4E7BD1C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81250"/>
            <a:ext cx="56864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19" name="slide4-rms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a9221c0474423"/>
          <a:stretch xmlns:a="http://schemas.openxmlformats.org/drawingml/2006/main"/>
        </p:blipFill>
        <p:spPr>
          <a:xfrm xmlns:a="http://schemas.openxmlformats.org/drawingml/2006/main">
            <a:off x="6456521" y="2476500"/>
            <a:ext cx="4660583" cy="266319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2E8440-2F15-4BAB-80EF-9B0939EB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0065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각 방향별 흔들림 정도(RMSD)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E3D91-48B4-4CC0-A2FA-4CFE870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2381250"/>
            <a:ext cx="56864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2" name="slide4-r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779f5c3d9401d"/>
          <a:stretch xmlns:a="http://schemas.openxmlformats.org/drawingml/2006/main"/>
        </p:blipFill>
        <p:spPr>
          <a:xfrm xmlns:a="http://schemas.openxmlformats.org/drawingml/2006/main">
            <a:off x="12314396" y="2476500"/>
            <a:ext cx="4660583" cy="266319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FFF846-F49C-41DE-A91C-44EBA7CE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20065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각 방향별 전체 크기 변화(Rg)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66523-7834-41C0-829B-9F896246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600700"/>
            <a:ext cx="56864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5" name="slide4-hbo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b54ac59f64ba3"/>
          <a:stretch xmlns:a="http://schemas.openxmlformats.org/drawingml/2006/main"/>
        </p:blipFill>
        <p:spPr>
          <a:xfrm xmlns:a="http://schemas.openxmlformats.org/drawingml/2006/main">
            <a:off x="6456521" y="5695950"/>
            <a:ext cx="4660583" cy="266319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8ED80C-531B-491C-A478-D591822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두 가닥 사이 연결 정도(H-bond)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236D1A-599E-4A3F-8972-EB006320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5600700"/>
            <a:ext cx="5686425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8" name="slide4-sco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95cf463f3443c"/>
          <a:stretch xmlns:a="http://schemas.openxmlformats.org/drawingml/2006/main"/>
        </p:blipFill>
        <p:spPr>
          <a:xfrm xmlns:a="http://schemas.openxmlformats.org/drawingml/2006/main">
            <a:off x="12314396" y="5695950"/>
            <a:ext cx="4660583" cy="266319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58C00-0E92-40DB-B59D-F5369B07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8420100"/>
            <a:ext cx="546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현재 지표를 합친 방향 점수</a:t>
            </a:r>
          </a:p>
        </p:txBody>
      </p:sp>
      <p:sp>
        <p:nvSpPr>
          <p:cNvPr id="30" name="footer-label-04 / 09">
            <a:extLst xmlns:a="http://schemas.openxmlformats.org/drawingml/2006/main">
              <a:ext uri="{FF2B5EF4-FFF2-40B4-BE49-F238E27FC236}">
                <a16:creationId xmlns:a16="http://schemas.microsoft.com/office/drawing/2014/main" id="{B29F8304-998E-4A02-A81B-67CCFFED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04 / 09</a:t>
            </a:r>
          </a:p>
        </p:txBody>
      </p:sp>
      <p:sp>
        <p:nvSpPr>
          <p:cNvPr id="31" name="footer-source-04 / 09">
            <a:extLst xmlns:a="http://schemas.openxmlformats.org/drawingml/2006/main">
              <a:ext uri="{FF2B5EF4-FFF2-40B4-BE49-F238E27FC236}">
                <a16:creationId xmlns:a16="http://schemas.microsoft.com/office/drawing/2014/main" id="{7D94EE0A-ED26-4C80-BF0E-3BDF0999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954405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02_orientation_metrics/orientation_comparison_table.csv, figures/</a:t>
            </a:r>
          </a:p>
        </p:txBody>
      </p:sp>
    </p:spTree>
    <p:extLst>
      <p:ext uri="{BB962C8B-B14F-4D97-AF65-F5344CB8AC3E}">
        <p14:creationId xmlns:p14="http://schemas.microsoft.com/office/powerpoint/2010/main" val="11539774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B7833FA-1E68-4061-A2A1-0A9D6482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200 ns 확인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2F1114-9AC0-4980-BB80-AE1CE6CC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8382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최종 움직임 기록 파일을 확인했습니다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657F65F-4ADD-49D0-A118-D7D8730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232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trajectory는 단백질이 시간에 따라 어떻게 움직였는지 저장한 기록입니다. 이번에는 +10° 모델의 200 ns 기록을 확인했습니다.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14EFB-F69B-4EBB-A2FD-BF7C90E1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319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282A2-8895-48A3-AB51-05EEE3B8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원자 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88742-4286-4103-B396-81BC9B97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49,854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16F4C-A154-445C-B87D-E6CEFD7B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물 분자를 뺀 최종 시스템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F6256-A8C6-4B47-8E79-CCFFE435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266319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911D1-5F94-4C2B-A47B-A755B82B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저장 장면 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12CE1-78D7-492C-B278-FD8137D7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8610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2,001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E5F34-C52D-422C-B8E7-7DB0E8E0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시간별로 저장된 구조 장면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BAD7F-6F82-4783-86FF-058F8019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319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AC3C4-A482-428B-9A19-3452DD00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57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확인한 시간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1F631-EB7D-4A73-87A4-20963EB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8610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6903A"/>
                </a:solidFill>
              </a:defRPr>
            </a:pPr>
            <a:r>
              <a:rPr sz="3150" b="1">
                <a:solidFill>
                  <a:srgbClr val="E6903A"/>
                </a:solidFill>
              </a:rPr>
              <a:t>0-200 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89540-F9E7-45BD-98EC-57A1ED3D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19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ns는 아주 짧은 시간 단위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FE1E7-F95C-4AB3-B6BC-D40FE566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4538" y="2663190"/>
            <a:ext cx="4043363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9CC3F-B0B5-4A46-9DD8-83D0B24E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2857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검사 결과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1720E-59C9-480A-909B-1202E6E0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86100"/>
            <a:ext cx="358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9ED88-0937-432B-A70F-9FA018FC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619500"/>
            <a:ext cx="3581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분석에 사용할 수 있는 상태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FE6793-E8EF-4B62-91A9-867E9129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9115"/>
            <a:ext cx="5448300" cy="3937635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1" name="slide5-kd-dist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0d9b455541bd"/>
          <a:stretch xmlns:a="http://schemas.openxmlformats.org/drawingml/2006/main"/>
        </p:blipFill>
        <p:spPr>
          <a:xfrm xmlns:a="http://schemas.openxmlformats.org/drawingml/2006/main">
            <a:off x="914400" y="482885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78B68-0EF5-4346-B075-B94DC45B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KD 부분이 막에서 얼마나 떨어져 있는지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38F0C-178A-4F17-8F54-57F59C01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9115"/>
            <a:ext cx="5448300" cy="3937635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4" name="slide5-contac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455abe22b422f"/>
          <a:stretch xmlns:a="http://schemas.openxmlformats.org/drawingml/2006/main"/>
        </p:blipFill>
        <p:spPr>
          <a:xfrm xmlns:a="http://schemas.openxmlformats.org/drawingml/2006/main">
            <a:off x="6534150" y="482885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D6CC2-5145-4608-A56A-D132BA91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EGFR 두 가닥이 서로 얼마나 닿아 있는지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1E8B8-08A4-4055-84B4-13038423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349115"/>
            <a:ext cx="5448300" cy="3937635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27" name="slide5-tm-kd-til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a0901f1664400"/>
          <a:stretch xmlns:a="http://schemas.openxmlformats.org/drawingml/2006/main"/>
        </p:blipFill>
        <p:spPr>
          <a:xfrm xmlns:a="http://schemas.openxmlformats.org/drawingml/2006/main">
            <a:off x="12153900" y="4828858"/>
            <a:ext cx="5219700" cy="278384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C9CF4D-9594-45D9-B960-B46045D8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8058150"/>
            <a:ext cx="5219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막 부분과 KD 부분의 각도 변화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2E78AC-EA9A-4FB7-A327-7B7DDD45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96300"/>
            <a:ext cx="16687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사용한 최종 파일: EGFR_plus10_step7_production_nw.gro + EGFR_plus10_step7_200ns_nw.xtc. 다른 full_200ns.xtc 파일은 최종 근거로 쓰지 않았습니다.</a:t>
            </a:r>
          </a:p>
        </p:txBody>
      </p:sp>
      <p:sp>
        <p:nvSpPr>
          <p:cNvPr id="30" name="footer-label-05 / 09">
            <a:extLst xmlns:a="http://schemas.openxmlformats.org/drawingml/2006/main">
              <a:ext uri="{FF2B5EF4-FFF2-40B4-BE49-F238E27FC236}">
                <a16:creationId xmlns:a16="http://schemas.microsoft.com/office/drawing/2014/main" id="{31EF0CD4-DFD8-4B46-9C32-675F531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05 / 09</a:t>
            </a:r>
          </a:p>
        </p:txBody>
      </p:sp>
      <p:sp>
        <p:nvSpPr>
          <p:cNvPr id="31" name="footer-source-05 / 09">
            <a:extLst xmlns:a="http://schemas.openxmlformats.org/drawingml/2006/main">
              <a:ext uri="{FF2B5EF4-FFF2-40B4-BE49-F238E27FC236}">
                <a16:creationId xmlns:a16="http://schemas.microsoft.com/office/drawing/2014/main" id="{2BF4C48F-E55E-4172-A939-3E8B3EA6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954405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gmx_check_EGFR_plus10_step7_200ns_nw.txt, trajectory_metrics/</a:t>
            </a:r>
          </a:p>
        </p:txBody>
      </p:sp>
    </p:spTree>
    <p:extLst>
      <p:ext uri="{BB962C8B-B14F-4D97-AF65-F5344CB8AC3E}">
        <p14:creationId xmlns:p14="http://schemas.microsoft.com/office/powerpoint/2010/main" val="10845283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0E676D3-42A3-42FB-A0FD-B3B03E0A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구조 그림으로 확인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1F236B-CA9E-4AED-BC91-7767611D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857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32026"/>
                </a:solidFill>
              </a:defRPr>
            </a:pPr>
            <a:r>
              <a:rPr sz="3450" b="1">
                <a:solidFill>
                  <a:srgbClr val="132026"/>
                </a:solidFill>
              </a:rPr>
              <a:t>EGFR 구조 그림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0FB2358-2E3E-488A-8886-AE23F38F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43050"/>
            <a:ext cx="9734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아래 그림은 실제 PDB 좌표를 간단히 그린 overview입니다. 현재 진행 상황 설명용으로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43977-4F9E-44D0-8064-A1822D94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19300"/>
            <a:ext cx="5057775" cy="662940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5" name="slide6-sid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d8f74bc504278"/>
          <a:stretch xmlns:a="http://schemas.openxmlformats.org/drawingml/2006/main"/>
        </p:blipFill>
        <p:spPr>
          <a:xfrm xmlns:a="http://schemas.openxmlformats.org/drawingml/2006/main">
            <a:off x="914400" y="3684610"/>
            <a:ext cx="4829175" cy="310447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40A0F-3070-41C9-9A98-7EA895DD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옆에서 본 EGFR 모델과 막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B28FA-3956-42C9-8724-216E5A36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19300"/>
            <a:ext cx="5057775" cy="6629400"/>
          </a:xfrm>
          <a:prstGeom xmlns:a="http://schemas.openxmlformats.org/drawingml/2006/main" prst="roundRect">
            <a:avLst>
              <a:gd name="adj" fmla="val 1507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8" name="slide6-t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d5cb0cd0841b4"/>
          <a:stretch xmlns:a="http://schemas.openxmlformats.org/drawingml/2006/main"/>
        </p:blipFill>
        <p:spPr>
          <a:xfrm xmlns:a="http://schemas.openxmlformats.org/drawingml/2006/main">
            <a:off x="6143625" y="3684610"/>
            <a:ext cx="4829175" cy="310447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D6BD2-7CDB-49E7-82CC-1DAAB9B8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420100"/>
            <a:ext cx="48387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위에서 본 EGFR 두 가닥의 배치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96944-C0A1-45DC-B2C5-7CFFDDFC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019300"/>
            <a:ext cx="800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쉽게 말하면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1D40-5D8A-4EBD-AD52-6B94B5FB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5336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CAF32-3D39-4FB7-B64F-400D00B1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53365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모델은 막 근처에서 EGFR 두 가닥이 같이 있는 모양을 유지합니다.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311DE-1743-4E7C-BD76-05F2AE22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2194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8ADD9-3C6F-4FB4-8BEB-C3B7ACE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219450"/>
            <a:ext cx="5867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200 ns 확인 결과, 다음 MYO1D 분석에 넣을 후보로 쓸 수 있어 보입니다.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0CBA3-549C-4A4C-B1E0-5889DC6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93820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5939E-3834-439C-90CE-200D695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0767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막과의 거리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C491A6-C4BC-47EF-9AA5-55AED981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3053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3A66D"/>
                </a:solidFill>
              </a:defRPr>
            </a:pPr>
            <a:r>
              <a:rPr sz="3150" b="1">
                <a:solidFill>
                  <a:srgbClr val="23A66D"/>
                </a:solidFill>
              </a:rPr>
              <a:t>25.66 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BC1AF-A823-467D-907A-5428826F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85775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150-200 ns 구간 평균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5EA37-CFB8-4D77-97A8-0D9FF613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522595"/>
            <a:ext cx="607695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89DB2-400E-470A-8B3F-A95A4481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715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5747C"/>
                </a:solidFill>
              </a:defRPr>
            </a:pPr>
            <a:r>
              <a:rPr sz="1125" b="1">
                <a:solidFill>
                  <a:srgbClr val="65747C"/>
                </a:solidFill>
              </a:rPr>
              <a:t>두 가닥 접촉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9CE71-B4C5-431E-8585-4803D7CC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5943600"/>
            <a:ext cx="561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A8C8"/>
                </a:solidFill>
              </a:defRPr>
            </a:pPr>
            <a:r>
              <a:rPr sz="3150" b="1">
                <a:solidFill>
                  <a:srgbClr val="00A8C8"/>
                </a:solidFill>
              </a:rPr>
              <a:t>505.28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B76606-EF35-4AC7-A29B-41429B98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6477000"/>
            <a:ext cx="5619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5747C"/>
                </a:solidFill>
              </a:defRPr>
            </a:pPr>
            <a:r>
              <a:rPr sz="1050">
                <a:solidFill>
                  <a:srgbClr val="65747C"/>
                </a:solidFill>
              </a:rPr>
              <a:t>서로 가까운 원자 접촉 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582B8-87B2-471A-89D5-959E7A0F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143750"/>
            <a:ext cx="6076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주의: 이 그림은 실제 좌표를 단순하게 그린 overview입니다. 더 예쁜 최종 그림은 PyMOL/ChimeraX로 나중에 만들 수 있습니다.</a:t>
            </a:r>
          </a:p>
        </p:txBody>
      </p:sp>
      <p:sp>
        <p:nvSpPr>
          <p:cNvPr id="24" name="footer-label-06 / 09">
            <a:extLst xmlns:a="http://schemas.openxmlformats.org/drawingml/2006/main">
              <a:ext uri="{FF2B5EF4-FFF2-40B4-BE49-F238E27FC236}">
                <a16:creationId xmlns:a16="http://schemas.microsoft.com/office/drawing/2014/main" id="{F0450446-83C5-4CFC-8992-AEF0A4B9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06 / 09</a:t>
            </a:r>
          </a:p>
        </p:txBody>
      </p:sp>
      <p:sp>
        <p:nvSpPr>
          <p:cNvPr id="25" name="footer-source-06 / 09">
            <a:extLst xmlns:a="http://schemas.openxmlformats.org/drawingml/2006/main">
              <a:ext uri="{FF2B5EF4-FFF2-40B4-BE49-F238E27FC236}">
                <a16:creationId xmlns:a16="http://schemas.microsoft.com/office/drawing/2014/main" id="{CC1A2CA9-4EFB-4ACF-80EF-41A2E79D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9563100"/>
            <a:ext cx="4419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EGFR_plus10_final_model_EGFR_rot10_best.pdb, membrane_stability_*_mdanalysis.csv</a:t>
            </a:r>
          </a:p>
        </p:txBody>
      </p:sp>
    </p:spTree>
    <p:extLst>
      <p:ext uri="{BB962C8B-B14F-4D97-AF65-F5344CB8AC3E}">
        <p14:creationId xmlns:p14="http://schemas.microsoft.com/office/powerpoint/2010/main" val="489431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C103230-EE43-4FC4-BEE8-622164E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대표 구조 선택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70F77E-CA5A-4D14-95EA-E90CE5AF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9048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Cluster 1과 2 대표 구조를 쓰기로 했습니다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241741-A43E-4302-87D3-0CD09CE6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329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clustering은 비슷한 구조끼리 묶어서 대표 모양을 고르는 과정입니다. 이번에는 Cluster 1/2가 나오는 구간을 다음 MYO1D 분석 입력으로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E8B0-B99C-4DD2-963A-BDFF6984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8096250" cy="3057525"/>
          </a:xfrm>
          <a:prstGeom xmlns:a="http://schemas.openxmlformats.org/drawingml/2006/main" prst="roundRect">
            <a:avLst>
              <a:gd name="adj" fmla="val 2492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5" name="slide7-popul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cedc08284a3f"/>
          <a:stretch xmlns:a="http://schemas.openxmlformats.org/drawingml/2006/main"/>
        </p:blipFill>
        <p:spPr>
          <a:xfrm xmlns:a="http://schemas.openxmlformats.org/drawingml/2006/main">
            <a:off x="1784460" y="2457450"/>
            <a:ext cx="6127530" cy="267271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D349C-7937-457D-B654-7E61924F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선택 구간에서 C1과 C2가 가장 큰 대표 그룹으로 나타남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CF583-A25B-407F-ADBB-D8AB87B3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91175"/>
            <a:ext cx="8096250" cy="3057525"/>
          </a:xfrm>
          <a:prstGeom xmlns:a="http://schemas.openxmlformats.org/drawingml/2006/main" prst="roundRect">
            <a:avLst>
              <a:gd name="adj" fmla="val 2492"/>
            </a:avLst>
          </a:prstGeom>
          <a:solidFill xmlns:a="http://schemas.openxmlformats.org/drawingml/2006/main">
            <a:srgbClr val="F8FBFC"/>
          </a:solidFill>
        </p:spPr>
      </p:sp>
      <p:pic>
        <p:nvPicPr>
          <p:cNvPr id="8" name="slide7-timel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be65561884ac6"/>
          <a:stretch xmlns:a="http://schemas.openxmlformats.org/drawingml/2006/main"/>
        </p:blipFill>
        <p:spPr>
          <a:xfrm xmlns:a="http://schemas.openxmlformats.org/drawingml/2006/main">
            <a:off x="1199454" y="5686425"/>
            <a:ext cx="7297541" cy="267271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25E22-336F-4DEC-AE51-19AD2644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420100"/>
            <a:ext cx="7867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5747C"/>
                </a:solidFill>
              </a:defRPr>
            </a:pPr>
            <a:r>
              <a:rPr sz="900">
                <a:solidFill>
                  <a:srgbClr val="65747C"/>
                </a:solidFill>
              </a:rPr>
              <a:t>시간에 따라 어느 cluster에 속했는지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6379F-F35D-434C-984C-5AEF5206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선택한 대표 구조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69E3AA-B7FD-41B3-9BDA-7A255706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033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A25C0-A1AF-45BD-8B53-22A9DD31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1465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선택 구간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633F5-C4C6-42F3-BBA7-1269315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9337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70-100 ns, cutoff 0.173 nm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CA3536-FB36-4BA5-B663-787AA64D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293370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B51DB-F3A0-48DE-914F-5D960168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853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C9598-5363-4E4C-A6D9-DB001CDB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5285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Cluster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BF60D-3E4C-43E5-81CB-538A0262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7719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121/301장, 40.2%, 대표 시간 79.3 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6344A3-D227-4A85-A662-EACA81C2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377190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대표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3DF1F-EDD0-41CE-98AE-824ECD6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1673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DF4353-1109-4AD3-BF05-366A299B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9105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Cluster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150FA-AD51-4DA4-A5B3-59599C2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6101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68/301장, 22.6%, 대표 시간 93.5 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D4637-D28B-4681-98C1-0A79223C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61010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대표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AD275-92DA-4F61-97CE-41D31BF3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5493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93066-52EF-4DBC-8EA2-6FE22D59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2925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C1 구조 파일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13415-A288-4586-B922-C1677463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4483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EGFR_170-200.pdb로 정리된 대표 구조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36B4E8-06DE-4865-AC82-4C61EF97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544830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A66D"/>
                </a:solidFill>
              </a:defRPr>
            </a:pPr>
            <a:r>
              <a:rPr sz="1050" b="1">
                <a:solidFill>
                  <a:srgbClr val="23A66D"/>
                </a:solidFill>
              </a:rPr>
              <a:t>사용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D4FFC-3E19-4FA4-8054-ABAD7FE3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993130"/>
            <a:ext cx="82486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0F3C5-74BC-44E5-A3C4-164EEAD9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267450"/>
            <a:ext cx="2428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026"/>
                </a:solidFill>
              </a:defRPr>
            </a:pPr>
            <a:r>
              <a:rPr sz="1125" b="1">
                <a:solidFill>
                  <a:srgbClr val="132026"/>
                </a:solidFill>
              </a:rPr>
              <a:t>C2 구조 파일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E502F5-CCC1-4401-A830-2AD7170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286500"/>
            <a:ext cx="3143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05A"/>
                </a:solidFill>
              </a:defRPr>
            </a:pPr>
            <a:r>
              <a:rPr sz="1050" b="0">
                <a:solidFill>
                  <a:srgbClr val="40505A"/>
                </a:solidFill>
              </a:rPr>
              <a:t>cluster_2_representative.pdb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C0607-F051-4C5A-90A5-85461E7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628650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사용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27D209-5E51-42D8-9467-5DD6715D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838950"/>
            <a:ext cx="8248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쉽게 말하면: EGFR 대표 구조는 C1 하나만 보지 않고, C1과 C2 두 모양을 다음 MYO1D docking 입력 후보로 가져갑니다.</a:t>
            </a:r>
          </a:p>
        </p:txBody>
      </p:sp>
      <p:sp>
        <p:nvSpPr>
          <p:cNvPr id="32" name="footer-label-07 / 09">
            <a:extLst xmlns:a="http://schemas.openxmlformats.org/drawingml/2006/main">
              <a:ext uri="{FF2B5EF4-FFF2-40B4-BE49-F238E27FC236}">
                <a16:creationId xmlns:a16="http://schemas.microsoft.com/office/drawing/2014/main" id="{4ACD9BE6-D28E-4F87-A5A6-4F2B972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440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07 / 09</a:t>
            </a:r>
          </a:p>
        </p:txBody>
      </p:sp>
      <p:sp>
        <p:nvSpPr>
          <p:cNvPr id="33" name="footer-source-07 / 09">
            <a:extLst xmlns:a="http://schemas.openxmlformats.org/drawingml/2006/main">
              <a:ext uri="{FF2B5EF4-FFF2-40B4-BE49-F238E27FC236}">
                <a16:creationId xmlns:a16="http://schemas.microsoft.com/office/drawing/2014/main" id="{A7D541D8-0D28-47E4-A776-E2F8C645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9563100"/>
            <a:ext cx="3905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3.rotate_EGFR/10/cluster_results/70-100ns_cut0.173/clustering_summary.txt</a:t>
            </a:r>
          </a:p>
        </p:txBody>
      </p:sp>
    </p:spTree>
    <p:extLst>
      <p:ext uri="{BB962C8B-B14F-4D97-AF65-F5344CB8AC3E}">
        <p14:creationId xmlns:p14="http://schemas.microsoft.com/office/powerpoint/2010/main" val="18399893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721B269-89E5-41A6-BAD0-11F0098E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현재 상태 정리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DBA893-436B-4AB0-B4DC-8F8EF71A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43053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완료한 일과 남은 일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34D4706-9BDC-4A1F-A00C-74FD5CCC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7600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발표에서는 완료된 일, 확인 중인 일, 다음에 할 일을 나누어 보여주면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1C634-207B-4727-BF50-22584847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3710"/>
            <a:ext cx="5422900" cy="4663440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E8F7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0F73A-D9BB-428E-B5F5-232279B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1162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지금 말할 수 있음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118D7-1DAB-4E87-9484-596A4C64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FD1F9-0E79-4D3B-80E4-5E2BCD8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EGFR 기본 모델을 만들었습니다.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0F18A-BB08-4A9C-B8B6-53323D2C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2F068-B1D0-4A62-B51C-BC01371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+10° 방향 모델을 현재 후보로 골랐습니다.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EAFBA-FCAB-4625-B956-95940518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CE6B3-C742-47D1-AE4D-2E4EB015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200 ns 움직임 기록 파일을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89B42-5433-4A8E-A3B0-FFF52204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7FFD5-DFE1-47D0-931A-E60DB76F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Cluster 1/2 대표 구조를 다음 입력 후보로 정했습니다.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BE307-32C5-4872-AB40-D4401B9A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3013710"/>
            <a:ext cx="5422900" cy="4663440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8E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40901-CA82-4034-9D7E-598D829D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6903A"/>
                </a:solidFill>
              </a:defRPr>
            </a:pPr>
            <a:r>
              <a:rPr sz="1200" b="1">
                <a:solidFill>
                  <a:srgbClr val="E6903A"/>
                </a:solidFill>
              </a:rPr>
              <a:t>아직 확인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ED1AC-AF61-4425-A1E0-E23B4509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C8D6A3-33D3-484D-8448-D2F9D27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814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C1/C2 구조 파일을 MYO1D docking 입력 형식으로 정리합니다.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A34E1-EF6A-48B7-B877-8ED2FDA5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270E25-A2EB-4FC5-A20C-1774D268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6720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대표 구조별로 MYO1D docking 결과를 비교해야 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AA04A-5EDE-4055-B4FB-250164CE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B2FA6-15F7-4A05-BCEC-E5C60C81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72050"/>
            <a:ext cx="4743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더 예쁜 구조 그림은 나중에 PyMOL/ChimeraX로 만들 수 있습니다.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97F83-4430-4CAD-B3C2-984049F4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76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480A2-1C5A-4344-9835-701F66CD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7690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일부 연결부 제작 과정은 추가 확인이 필요합니다.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69418-D7F5-4E98-89AC-93998E8B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3013710"/>
            <a:ext cx="5422900" cy="4663440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E8F5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3B3A4E-C643-4B70-9F06-2A29C0F5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219450"/>
            <a:ext cx="647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8C8"/>
                </a:solidFill>
              </a:defRPr>
            </a:pPr>
            <a:r>
              <a:rPr sz="1200" b="1">
                <a:solidFill>
                  <a:srgbClr val="00A8C8"/>
                </a:solidFill>
              </a:rPr>
              <a:t>다음 단계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65DA9-1C19-4B5C-ADB0-F8E8806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752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4B6343-A389-4EEB-88C0-013BC948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7528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MYO1D를 EGFR에 붙여보는 docking.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95BAE-161A-4364-8FB1-562235A8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91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D36F8E-1F2D-488A-8246-6A89DB21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19100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MYO1D가 닿는 EGFR 위치 찾기.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2BFF55-5A73-4795-BA29-CCB9236C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291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925372-443C-4228-94B7-E9476797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62915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약물이 들어갈 만한 작은 홈 찾기.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CCE269-49A9-4F7D-ADFB-2FA6CECB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067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19520B-58BE-4481-9743-E3E93D1E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5067300"/>
            <a:ext cx="4743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대표 구조가 정해진 뒤 화합물 docking.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A3932-0E8C-4A10-9726-40C9BE70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943850"/>
            <a:ext cx="16687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263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117AC-2E06-4CD4-9EDC-681EF3D9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096250"/>
            <a:ext cx="16230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발표 핵심: EGFR 모델 준비, 200 ns 확인, C1/C2 대표 구조 선택까지 진행 완료. 이제 MYO1D 분석으로 넘어갑니다.</a:t>
            </a:r>
          </a:p>
        </p:txBody>
      </p:sp>
      <p:sp>
        <p:nvSpPr>
          <p:cNvPr id="36" name="footer-label-08 / 09">
            <a:extLst xmlns:a="http://schemas.openxmlformats.org/drawingml/2006/main">
              <a:ext uri="{FF2B5EF4-FFF2-40B4-BE49-F238E27FC236}">
                <a16:creationId xmlns:a16="http://schemas.microsoft.com/office/drawing/2014/main" id="{374BB2A7-5B96-4738-B757-2FD10EC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08 / 09</a:t>
            </a:r>
          </a:p>
        </p:txBody>
      </p:sp>
      <p:sp>
        <p:nvSpPr>
          <p:cNvPr id="37" name="footer-source-08 / 09">
            <a:extLst xmlns:a="http://schemas.openxmlformats.org/drawingml/2006/main">
              <a:ext uri="{FF2B5EF4-FFF2-40B4-BE49-F238E27FC236}">
                <a16:creationId xmlns:a16="http://schemas.microsoft.com/office/drawing/2014/main" id="{C5715004-301E-4191-8D48-683CEB11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95440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자료: reports/EGFR_modeling_clustering_PPT_data_package.md, reports/다음할일.md</a:t>
            </a:r>
          </a:p>
        </p:txBody>
      </p:sp>
    </p:spTree>
    <p:extLst>
      <p:ext uri="{BB962C8B-B14F-4D97-AF65-F5344CB8AC3E}">
        <p14:creationId xmlns:p14="http://schemas.microsoft.com/office/powerpoint/2010/main" val="16273454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0B34175-A06A-4D90-BB5A-B0E72146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다음 단계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459E5-99A7-41C4-BDB8-507631BA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4400"/>
            <a:ext cx="79629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32026"/>
                </a:solidFill>
              </a:defRPr>
            </a:pPr>
            <a:r>
              <a:rPr sz="3900" b="1">
                <a:solidFill>
                  <a:srgbClr val="132026"/>
                </a:solidFill>
              </a:rPr>
              <a:t>대표 구조를 정했고 MYO1D로 갑니다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18E52B3-8810-4724-B706-0B7B7AD5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1296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0505A"/>
                </a:solidFill>
              </a:defRPr>
            </a:pPr>
            <a:r>
              <a:rPr sz="1800">
                <a:solidFill>
                  <a:srgbClr val="40505A"/>
                </a:solidFill>
              </a:rPr>
              <a:t>다음 분석에서는 Cluster 1과 Cluster 2 대표 구조에 MYO1D를 붙여보고, 어느 위치가 반복해서 나오는지 비교합니다.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8520A-0133-407A-A0B6-E2022085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9390"/>
            <a:ext cx="7334250" cy="5909310"/>
          </a:xfrm>
          <a:prstGeom xmlns:a="http://schemas.openxmlformats.org/drawingml/2006/main" prst="roundRect">
            <a:avLst>
              <a:gd name="adj" fmla="val 1289"/>
            </a:avLst>
          </a:prstGeom>
          <a:solidFill xmlns:a="http://schemas.openxmlformats.org/drawingml/2006/main">
            <a:srgbClr val="F8FBFC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DD5C9-F07C-43BB-ACDE-67F0F3CE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28950"/>
            <a:ext cx="800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정해진 입력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B178B-7118-4074-AEFC-20839F5D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66865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2026"/>
                </a:solidFill>
              </a:defRPr>
            </a:pPr>
            <a:r>
              <a:rPr sz="2700" b="1">
                <a:solidFill>
                  <a:srgbClr val="132026"/>
                </a:solidFill>
              </a:rPr>
              <a:t>C1과 C2 대표 구조를 MYO1D docking에 사용합니다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6D47C-B31B-4BDE-BD6C-DAFB2B40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03A"/>
          </a:solidFill>
          <a:ln xmlns:a="http://schemas.openxmlformats.org/drawingml/2006/main" w="0">
            <a:solidFill>
              <a:srgbClr val="E69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372E0-311C-413A-8E72-5757BD4D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02D67-651E-418A-98D4-E0E5B475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9585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Cluster 1은 가장 많이 나온 대표 모양입니다.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2E999-70FA-41A1-B8E7-F2FE5252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882D7-47D4-4CD6-93D1-6A07E40B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72100"/>
            <a:ext cx="647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Cluster 2는 두 번째로 많이 나온 대표 모양입니다.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73659-3490-44CC-9F1D-797CDA01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29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932B9-83E8-4972-8382-D442A6EE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29300"/>
            <a:ext cx="647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32026"/>
                </a:solidFill>
              </a:defRPr>
            </a:pPr>
            <a:r>
              <a:rPr sz="1725">
                <a:solidFill>
                  <a:srgbClr val="132026"/>
                </a:solidFill>
              </a:rPr>
              <a:t>689/692/713/715 같은 residue 이름을 최종 topology 기준으로 다시 확인합니다.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C2644-A9BE-44FE-AE6A-4A7A050F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572250"/>
            <a:ext cx="6686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47C"/>
                </a:solidFill>
              </a:defRPr>
            </a:pPr>
            <a:r>
              <a:rPr sz="1200">
                <a:solidFill>
                  <a:srgbClr val="65747C"/>
                </a:solidFill>
              </a:rPr>
              <a:t>다음에 추가할 자료: C1/C2별 MYO1D docking 결과, 반복해서 닿는 EGFR 위치, pocket 후보.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B3125-30FE-45E1-B0B0-2C09F2C3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43200"/>
            <a:ext cx="990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3A66D"/>
                </a:solidFill>
              </a:defRPr>
            </a:pPr>
            <a:r>
              <a:rPr sz="1200" b="1">
                <a:solidFill>
                  <a:srgbClr val="23A66D"/>
                </a:solidFill>
              </a:rPr>
              <a:t>다음 작업 순서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17876A-17DA-48FE-9E40-9CCD2D53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A66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7AE78-93E7-403B-9AA9-1800782E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1470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0907B6-27F9-4EEF-A897-A591082F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385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C1/C2 구조 준비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174A4-15EE-449D-B65A-BDACF458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두 대표 구조를 docking 입력으로 정리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12F0C-FFFE-4B4F-9F97-54489B13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767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576151-8813-4440-B6B4-3B4DC215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77832-16A5-4423-853B-37D573E4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338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MYO1D 붙여보기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B09B6-0144-4F77-81FE-2F50B5D2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1960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C1과 C2 각각에 MYO1D docking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DFE35D-6A2F-4F7F-8E6E-74AD57D2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C8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BD825-4D21-43D9-891E-24006B8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0540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5E469-B08F-4CE2-9FB6-682B76AD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292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닿는 자리 정리하기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2C861F-9F3C-46C3-A127-85358715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31495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EGFR에서 MYO1D가 닿는 부분 표시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D24182-9CBA-45FE-9143-AA097F3F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8674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0877E-3216-4409-9E3D-C59CBCCE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0075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C77D3-1855-4A32-AD66-94EA8F18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2455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작은 홈 찾기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06303-59BE-41E6-A475-4D8E316B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21030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약물이 들어갈 만한 공간 후보 찾기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019E0-7A31-4A0F-9C3F-72C1755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7627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03A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37F7C6-7937-4E4E-BAA2-D306DB53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896100"/>
            <a:ext cx="28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066D6F-6C09-416D-8AF1-28248C6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819900"/>
            <a:ext cx="822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026"/>
                </a:solidFill>
              </a:defRPr>
            </a:pPr>
            <a:r>
              <a:rPr sz="1650" b="1">
                <a:solidFill>
                  <a:srgbClr val="132026"/>
                </a:solidFill>
              </a:rPr>
              <a:t>화합물 넣어보기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D0B184-7614-4DD9-800B-DEDD1745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105650"/>
            <a:ext cx="8229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대표 구조와 pocket이 정해진 뒤 진행</a:t>
            </a:r>
          </a:p>
        </p:txBody>
      </p:sp>
      <p:sp>
        <p:nvSpPr>
          <p:cNvPr id="36" name="footer-label-09 / 09">
            <a:extLst xmlns:a="http://schemas.openxmlformats.org/drawingml/2006/main">
              <a:ext uri="{FF2B5EF4-FFF2-40B4-BE49-F238E27FC236}">
                <a16:creationId xmlns:a16="http://schemas.microsoft.com/office/drawing/2014/main" id="{8513C282-5BE6-4881-B361-44CF1A01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821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5747C"/>
                </a:solidFill>
              </a:defRPr>
            </a:pPr>
            <a:r>
              <a:rPr sz="1125">
                <a:solidFill>
                  <a:srgbClr val="65747C"/>
                </a:solidFill>
              </a:rPr>
              <a:t>09 / 09</a:t>
            </a:r>
          </a:p>
        </p:txBody>
      </p:sp>
      <p:sp>
        <p:nvSpPr>
          <p:cNvPr id="37" name="footer-source-09 / 09">
            <a:extLst xmlns:a="http://schemas.openxmlformats.org/drawingml/2006/main">
              <a:ext uri="{FF2B5EF4-FFF2-40B4-BE49-F238E27FC236}">
                <a16:creationId xmlns:a16="http://schemas.microsoft.com/office/drawing/2014/main" id="{99CDA1BA-9828-4C2B-9272-C444335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9544050"/>
            <a:ext cx="2743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A91"/>
                </a:solidFill>
              </a:defRPr>
            </a:pPr>
            <a:r>
              <a:rPr sz="900">
                <a:solidFill>
                  <a:srgbClr val="7C8A91"/>
                </a:solidFill>
              </a:rPr>
              <a:t>다음 작업은 reports/다음할일.md에 따로 정리했습니다.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052353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2026-04-29T17:05:23.9740000Z</dcterms:created>
  <dcterms:modified xsi:type="dcterms:W3CDTF">2026-04-29T17:05:23.9750000Z</dcterms:modified>
</coreProperties>
</file>