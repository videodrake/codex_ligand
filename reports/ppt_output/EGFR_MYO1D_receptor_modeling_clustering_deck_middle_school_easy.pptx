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88" autoAdjust="0"/>
  </p:normalViewPr>
  <p:slideViewPr>
    <p:cSldViewPr snapToGrid="0">
      <p:cViewPr>
        <p:scale>
          <a:sx n="100" d="100"/>
          <a:sy n="100" d="100"/>
        </p:scale>
        <p:origin x="72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ver-background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eyebrow">
            <a:extLst>
              <a:ext uri="{FF2B5EF4-FFF2-40B4-BE49-F238E27FC236}">
                <a16:creationId xmlns:a16="http://schemas.microsoft.com/office/drawing/2014/main" id="{33715186-5FA3-4B55-908B-6AAE55211EA2}"/>
              </a:ext>
            </a:extLst>
          </p:cNvPr>
          <p:cNvSpPr>
            <a:spLocks noGrp="1"/>
          </p:cNvSpPr>
          <p:nvPr/>
        </p:nvSpPr>
        <p:spPr>
          <a:xfrm>
            <a:off x="819150" y="72390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진행 보고</a:t>
            </a:r>
          </a:p>
        </p:txBody>
      </p:sp>
      <p:sp>
        <p:nvSpPr>
          <p:cNvPr id="3" name="slide-title-line-1">
            <a:extLst>
              <a:ext uri="{FF2B5EF4-FFF2-40B4-BE49-F238E27FC236}">
                <a16:creationId xmlns:a16="http://schemas.microsoft.com/office/drawing/2014/main" id="{5F1488C5-E08F-42D1-93F9-A3AD88FF9C23}"/>
              </a:ext>
            </a:extLst>
          </p:cNvPr>
          <p:cNvSpPr>
            <a:spLocks noGrp="1"/>
          </p:cNvSpPr>
          <p:nvPr/>
        </p:nvSpPr>
        <p:spPr>
          <a:xfrm>
            <a:off x="819150" y="1143000"/>
            <a:ext cx="9334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모델을 먼저</a:t>
            </a:r>
          </a:p>
        </p:txBody>
      </p:sp>
      <p:sp>
        <p:nvSpPr>
          <p:cNvPr id="4" name="slide-title-line-2">
            <a:extLst>
              <a:ext uri="{FF2B5EF4-FFF2-40B4-BE49-F238E27FC236}">
                <a16:creationId xmlns:a16="http://schemas.microsoft.com/office/drawing/2014/main" id="{9395BBD4-B2BF-4BA4-A2A3-485D2C5CE14E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93345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만들고 확인했습니다</a:t>
            </a:r>
          </a:p>
        </p:txBody>
      </p:sp>
      <p:sp>
        <p:nvSpPr>
          <p:cNvPr id="5" name="slide-title-line-3">
            <a:extLst>
              <a:ext uri="{FF2B5EF4-FFF2-40B4-BE49-F238E27FC236}">
                <a16:creationId xmlns:a16="http://schemas.microsoft.com/office/drawing/2014/main" id="{824FD9CE-6AB4-4B03-A3E2-59CB69C34884}"/>
              </a:ext>
            </a:extLst>
          </p:cNvPr>
          <p:cNvSpPr>
            <a:spLocks noGrp="1"/>
          </p:cNvSpPr>
          <p:nvPr/>
        </p:nvSpPr>
        <p:spPr>
          <a:xfrm>
            <a:off x="819150" y="2705100"/>
            <a:ext cx="933450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대표 구조도 찾는 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55E998-850C-48D8-942D-21E839E61A30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2381250" cy="47625"/>
          </a:xfrm>
          <a:prstGeom prst="rect">
            <a:avLst/>
          </a:prstGeom>
          <a:solidFill>
            <a:srgbClr val="23A66D"/>
          </a:solidFill>
          <a:ln w="0">
            <a:solidFill>
              <a:srgbClr val="23A66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423A331A-CC4B-421E-A504-3A73A37FDDC3}"/>
              </a:ext>
            </a:extLst>
          </p:cNvPr>
          <p:cNvSpPr>
            <a:spLocks noGrp="1"/>
          </p:cNvSpPr>
          <p:nvPr/>
        </p:nvSpPr>
        <p:spPr>
          <a:xfrm>
            <a:off x="819150" y="3771900"/>
            <a:ext cx="78295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MYO1D가 EGFR에 붙는지 보려면, 먼저 EGFR의 모양과 방향을 정해야 합니다.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7ED32E9-6BA0-4C9F-B888-BE6F791BD561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2667000" cy="419100"/>
          </a:xfrm>
          <a:prstGeom prst="roundRect">
            <a:avLst>
              <a:gd name="adj" fmla="val 50000"/>
            </a:avLst>
          </a:prstGeom>
          <a:solidFill>
            <a:srgbClr val="E8F7F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14934C-91B4-4582-B759-307D199A9573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23241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모델 만들기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73D75C-3F67-4BDB-B20A-50FB942D866C}"/>
              </a:ext>
            </a:extLst>
          </p:cNvPr>
          <p:cNvSpPr>
            <a:spLocks noGrp="1"/>
          </p:cNvSpPr>
          <p:nvPr/>
        </p:nvSpPr>
        <p:spPr>
          <a:xfrm>
            <a:off x="3619500" y="4610100"/>
            <a:ext cx="2190750" cy="419100"/>
          </a:xfrm>
          <a:prstGeom prst="roundRect">
            <a:avLst>
              <a:gd name="adj" fmla="val 50000"/>
            </a:avLst>
          </a:prstGeom>
          <a:solidFill>
            <a:srgbClr val="E8F5F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541033-36B2-4383-81B4-A0A69855D1DE}"/>
              </a:ext>
            </a:extLst>
          </p:cNvPr>
          <p:cNvSpPr>
            <a:spLocks noGrp="1"/>
          </p:cNvSpPr>
          <p:nvPr/>
        </p:nvSpPr>
        <p:spPr>
          <a:xfrm>
            <a:off x="3790950" y="4705350"/>
            <a:ext cx="18478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200 ns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929F869-B9C3-49A2-97C0-D65914F57D20}"/>
              </a:ext>
            </a:extLst>
          </p:cNvPr>
          <p:cNvSpPr>
            <a:spLocks noGrp="1"/>
          </p:cNvSpPr>
          <p:nvPr/>
        </p:nvSpPr>
        <p:spPr>
          <a:xfrm>
            <a:off x="5943600" y="461010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FFF2E4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2E23A6-9808-436C-AC71-5DCC5BD87832}"/>
              </a:ext>
            </a:extLst>
          </p:cNvPr>
          <p:cNvSpPr>
            <a:spLocks noGrp="1"/>
          </p:cNvSpPr>
          <p:nvPr/>
        </p:nvSpPr>
        <p:spPr>
          <a:xfrm>
            <a:off x="6115050" y="4705350"/>
            <a:ext cx="17526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대표 구조 찾기</a:t>
            </a:r>
          </a:p>
        </p:txBody>
      </p:sp>
      <p:sp>
        <p:nvSpPr>
          <p:cNvPr id="14" name="scope-note">
            <a:extLst>
              <a:ext uri="{FF2B5EF4-FFF2-40B4-BE49-F238E27FC236}">
                <a16:creationId xmlns:a16="http://schemas.microsoft.com/office/drawing/2014/main" id="{BE5DE251-9172-4C24-8079-6B22C2435DA5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62674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이번 발표는 EGFR 준비 상황입니다. MYO1D docking, pocket, compound는 다음 단계입니다.</a:t>
            </a:r>
          </a:p>
        </p:txBody>
      </p:sp>
      <p:sp>
        <p:nvSpPr>
          <p:cNvPr id="15" name="footer-label-01 / 09">
            <a:extLst>
              <a:ext uri="{FF2B5EF4-FFF2-40B4-BE49-F238E27FC236}">
                <a16:creationId xmlns:a16="http://schemas.microsoft.com/office/drawing/2014/main" id="{8DBE3D69-2FA9-47F1-BD7A-A454A7C3E568}"/>
              </a:ext>
            </a:extLst>
          </p:cNvPr>
          <p:cNvSpPr>
            <a:spLocks noGrp="1"/>
          </p:cNvSpPr>
          <p:nvPr/>
        </p:nvSpPr>
        <p:spPr>
          <a:xfrm>
            <a:off x="800100" y="95440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>
              <a:ext uri="{FF2B5EF4-FFF2-40B4-BE49-F238E27FC236}">
                <a16:creationId xmlns:a16="http://schemas.microsoft.com/office/drawing/2014/main" id="{DE7153DE-F275-4FD8-9BA4-0863F427DB12}"/>
              </a:ext>
            </a:extLst>
          </p:cNvPr>
          <p:cNvSpPr>
            <a:spLocks noGrp="1"/>
          </p:cNvSpPr>
          <p:nvPr/>
        </p:nvSpPr>
        <p:spPr>
          <a:xfrm>
            <a:off x="13392150" y="9563100"/>
            <a:ext cx="4095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표지 그림은 개념 그림입니다. 결과 설명은 로컬 데이터 파일을 기준으로 했습니다.</a:t>
            </a:r>
          </a:p>
        </p:txBody>
      </p:sp>
    </p:spTree>
    <p:extLst>
      <p:ext uri="{BB962C8B-B14F-4D97-AF65-F5344CB8AC3E}">
        <p14:creationId xmlns:p14="http://schemas.microsoft.com/office/powerpoint/2010/main" val="820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eyebrow">
            <a:extLst>
              <a:ext uri="{FF2B5EF4-FFF2-40B4-BE49-F238E27FC236}">
                <a16:creationId xmlns:a16="http://schemas.microsoft.com/office/drawing/2014/main" id="{10A54291-3ACB-4025-AF53-40031CC61E58}"/>
              </a:ext>
            </a:extLst>
          </p:cNvPr>
          <p:cNvSpPr>
            <a:spLocks noGrp="1"/>
          </p:cNvSpPr>
          <p:nvPr/>
        </p:nvSpPr>
        <p:spPr>
          <a:xfrm>
            <a:off x="800100" y="64770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왜 먼저 해야 하나?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E4A75A7-6C7E-4831-A49E-B2F50D669232}"/>
              </a:ext>
            </a:extLst>
          </p:cNvPr>
          <p:cNvSpPr>
            <a:spLocks noGrp="1"/>
          </p:cNvSpPr>
          <p:nvPr/>
        </p:nvSpPr>
        <p:spPr>
          <a:xfrm>
            <a:off x="800100" y="990600"/>
            <a:ext cx="99441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 dirty="0">
                <a:solidFill>
                  <a:srgbClr val="132026"/>
                </a:solidFill>
              </a:rPr>
              <a:t>MYO1D를 </a:t>
            </a:r>
            <a:r>
              <a:rPr sz="3900" b="1" dirty="0" err="1">
                <a:solidFill>
                  <a:srgbClr val="132026"/>
                </a:solidFill>
              </a:rPr>
              <a:t>보기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전에</a:t>
            </a:r>
            <a:r>
              <a:rPr sz="3900" b="1" dirty="0">
                <a:solidFill>
                  <a:srgbClr val="132026"/>
                </a:solidFill>
              </a:rPr>
              <a:t> EGFR </a:t>
            </a:r>
            <a:r>
              <a:rPr sz="3900" b="1" dirty="0" err="1">
                <a:solidFill>
                  <a:srgbClr val="132026"/>
                </a:solidFill>
              </a:rPr>
              <a:t>모양부터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정합니다</a:t>
            </a:r>
            <a:endParaRPr sz="3900" b="1" dirty="0">
              <a:solidFill>
                <a:srgbClr val="132026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182DC5A6-D618-4430-AA97-659D68EF8220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2249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EGFR 모양이 바뀌면 MYO1D가 붙는 위치도 달라 보일 수 있습니다. 그래서 기준이 될 EGFR 모델을 먼저 정했습니다.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0939158-75B8-48BB-97ED-060E2736F51C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E8F7F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3D6CA8-EDB9-45EB-97B6-ACE37191BDDE}"/>
              </a:ext>
            </a:extLst>
          </p:cNvPr>
          <p:cNvSpPr>
            <a:spLocks noGrp="1"/>
          </p:cNvSpPr>
          <p:nvPr/>
        </p:nvSpPr>
        <p:spPr>
          <a:xfrm>
            <a:off x="1009650" y="3124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13880D-9278-4173-8587-0277C350AB00}"/>
              </a:ext>
            </a:extLst>
          </p:cNvPr>
          <p:cNvSpPr>
            <a:spLocks noGrp="1"/>
          </p:cNvSpPr>
          <p:nvPr/>
        </p:nvSpPr>
        <p:spPr>
          <a:xfrm>
            <a:off x="1009650" y="3429000"/>
            <a:ext cx="2152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모델 정하기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9C9A3E-4AD1-4025-B55A-B53EE3BFE6F9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1526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방향 모델을 현재 후보로 선택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9FEBAE-5067-4A21-B28D-401A749639E3}"/>
              </a:ext>
            </a:extLst>
          </p:cNvPr>
          <p:cNvSpPr>
            <a:spLocks noGrp="1"/>
          </p:cNvSpPr>
          <p:nvPr/>
        </p:nvSpPr>
        <p:spPr>
          <a:xfrm>
            <a:off x="3543300" y="2952750"/>
            <a:ext cx="400050" cy="1657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59E19B-D817-4009-9148-7B284F1FD7B3}"/>
              </a:ext>
            </a:extLst>
          </p:cNvPr>
          <p:cNvSpPr>
            <a:spLocks noGrp="1"/>
          </p:cNvSpPr>
          <p:nvPr/>
        </p:nvSpPr>
        <p:spPr>
          <a:xfrm>
            <a:off x="4114800" y="295275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13DE7B-2862-4ED8-A074-D16DA25FAE1A}"/>
              </a:ext>
            </a:extLst>
          </p:cNvPr>
          <p:cNvSpPr>
            <a:spLocks noGrp="1"/>
          </p:cNvSpPr>
          <p:nvPr/>
        </p:nvSpPr>
        <p:spPr>
          <a:xfrm>
            <a:off x="4324350" y="3124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88857A-B99A-4E4F-AC18-4128495653A0}"/>
              </a:ext>
            </a:extLst>
          </p:cNvPr>
          <p:cNvSpPr>
            <a:spLocks noGrp="1"/>
          </p:cNvSpPr>
          <p:nvPr/>
        </p:nvSpPr>
        <p:spPr>
          <a:xfrm>
            <a:off x="4324350" y="3429000"/>
            <a:ext cx="2152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붙여보기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1E0957-2758-400C-B252-6CCE95868784}"/>
              </a:ext>
            </a:extLst>
          </p:cNvPr>
          <p:cNvSpPr>
            <a:spLocks noGrp="1"/>
          </p:cNvSpPr>
          <p:nvPr/>
        </p:nvSpPr>
        <p:spPr>
          <a:xfrm>
            <a:off x="4324350" y="3790950"/>
            <a:ext cx="2152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EGFR 모델이 정해진 뒤 진행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363F7C-90FA-47C1-9666-3355542932DF}"/>
              </a:ext>
            </a:extLst>
          </p:cNvPr>
          <p:cNvSpPr>
            <a:spLocks noGrp="1"/>
          </p:cNvSpPr>
          <p:nvPr/>
        </p:nvSpPr>
        <p:spPr>
          <a:xfrm>
            <a:off x="6858000" y="2952750"/>
            <a:ext cx="400050" cy="1657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E27F205-E39C-494B-84F8-B898850EDCFA}"/>
              </a:ext>
            </a:extLst>
          </p:cNvPr>
          <p:cNvSpPr>
            <a:spLocks noGrp="1"/>
          </p:cNvSpPr>
          <p:nvPr/>
        </p:nvSpPr>
        <p:spPr>
          <a:xfrm>
            <a:off x="7429500" y="295275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3D5463-AD0D-4852-AC69-986247161631}"/>
              </a:ext>
            </a:extLst>
          </p:cNvPr>
          <p:cNvSpPr>
            <a:spLocks noGrp="1"/>
          </p:cNvSpPr>
          <p:nvPr/>
        </p:nvSpPr>
        <p:spPr>
          <a:xfrm>
            <a:off x="7639050" y="3124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150F9C-11CB-447C-B3CA-34CC079E1517}"/>
              </a:ext>
            </a:extLst>
          </p:cNvPr>
          <p:cNvSpPr>
            <a:spLocks noGrp="1"/>
          </p:cNvSpPr>
          <p:nvPr/>
        </p:nvSpPr>
        <p:spPr>
          <a:xfrm>
            <a:off x="7639050" y="3429000"/>
            <a:ext cx="2152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붙는 자리 찾기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E0C9F2-8520-41C1-BBE5-649CCDA98441}"/>
              </a:ext>
            </a:extLst>
          </p:cNvPr>
          <p:cNvSpPr>
            <a:spLocks noGrp="1"/>
          </p:cNvSpPr>
          <p:nvPr/>
        </p:nvSpPr>
        <p:spPr>
          <a:xfrm>
            <a:off x="7639050" y="3790950"/>
            <a:ext cx="2152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EGFR의 어느 부분과 닿는지 확인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43E0AB-BB84-4810-828A-775093CADA30}"/>
              </a:ext>
            </a:extLst>
          </p:cNvPr>
          <p:cNvSpPr>
            <a:spLocks noGrp="1"/>
          </p:cNvSpPr>
          <p:nvPr/>
        </p:nvSpPr>
        <p:spPr>
          <a:xfrm>
            <a:off x="10172700" y="2952750"/>
            <a:ext cx="400050" cy="1657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82814D4-B236-4BDE-950C-63F836FFB677}"/>
              </a:ext>
            </a:extLst>
          </p:cNvPr>
          <p:cNvSpPr>
            <a:spLocks noGrp="1"/>
          </p:cNvSpPr>
          <p:nvPr/>
        </p:nvSpPr>
        <p:spPr>
          <a:xfrm>
            <a:off x="10744200" y="295275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FA1B4B-FEFA-417C-AC36-66CACF1CA125}"/>
              </a:ext>
            </a:extLst>
          </p:cNvPr>
          <p:cNvSpPr>
            <a:spLocks noGrp="1"/>
          </p:cNvSpPr>
          <p:nvPr/>
        </p:nvSpPr>
        <p:spPr>
          <a:xfrm>
            <a:off x="10953750" y="3124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B45EFA4-5100-4F93-903C-247DFE5BCD8C}"/>
              </a:ext>
            </a:extLst>
          </p:cNvPr>
          <p:cNvSpPr>
            <a:spLocks noGrp="1"/>
          </p:cNvSpPr>
          <p:nvPr/>
        </p:nvSpPr>
        <p:spPr>
          <a:xfrm>
            <a:off x="10953750" y="3429000"/>
            <a:ext cx="2152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작은 홈 찾기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0B494D-1B63-48EA-A023-7735DD1189CC}"/>
              </a:ext>
            </a:extLst>
          </p:cNvPr>
          <p:cNvSpPr>
            <a:spLocks noGrp="1"/>
          </p:cNvSpPr>
          <p:nvPr/>
        </p:nvSpPr>
        <p:spPr>
          <a:xfrm>
            <a:off x="10953750" y="3790950"/>
            <a:ext cx="2152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약물이 들어갈 만한 공간 후보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3F8BA0-E47B-4737-ADFD-A0BD0D371995}"/>
              </a:ext>
            </a:extLst>
          </p:cNvPr>
          <p:cNvSpPr>
            <a:spLocks noGrp="1"/>
          </p:cNvSpPr>
          <p:nvPr/>
        </p:nvSpPr>
        <p:spPr>
          <a:xfrm>
            <a:off x="13487400" y="2952750"/>
            <a:ext cx="400050" cy="1657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B36B37-1163-4B44-A276-BC2E7AD6B19C}"/>
              </a:ext>
            </a:extLst>
          </p:cNvPr>
          <p:cNvSpPr>
            <a:spLocks noGrp="1"/>
          </p:cNvSpPr>
          <p:nvPr/>
        </p:nvSpPr>
        <p:spPr>
          <a:xfrm>
            <a:off x="14058900" y="295275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0E9666-6B27-4DAC-9B64-199D280FC250}"/>
              </a:ext>
            </a:extLst>
          </p:cNvPr>
          <p:cNvSpPr>
            <a:spLocks noGrp="1"/>
          </p:cNvSpPr>
          <p:nvPr/>
        </p:nvSpPr>
        <p:spPr>
          <a:xfrm>
            <a:off x="14268450" y="31242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2B86495-8BE4-4345-817B-1B1D7F7EDB0B}"/>
              </a:ext>
            </a:extLst>
          </p:cNvPr>
          <p:cNvSpPr>
            <a:spLocks noGrp="1"/>
          </p:cNvSpPr>
          <p:nvPr/>
        </p:nvSpPr>
        <p:spPr>
          <a:xfrm>
            <a:off x="14268450" y="3429000"/>
            <a:ext cx="21526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화합물 넣어보기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E9421B1-3932-4FEC-8838-7E0A935D79B0}"/>
              </a:ext>
            </a:extLst>
          </p:cNvPr>
          <p:cNvSpPr>
            <a:spLocks noGrp="1"/>
          </p:cNvSpPr>
          <p:nvPr/>
        </p:nvSpPr>
        <p:spPr>
          <a:xfrm>
            <a:off x="14268450" y="3790950"/>
            <a:ext cx="21526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이 발표의 결과가 아니라 다음 단계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C5F5E8-FDFD-4463-ACDC-817DB59B9C89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990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발표 내용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C7CEC2F-D24F-4A65-86DD-E35B22DB1EDE}"/>
              </a:ext>
            </a:extLst>
          </p:cNvPr>
          <p:cNvSpPr>
            <a:spLocks noGrp="1"/>
          </p:cNvSpPr>
          <p:nvPr/>
        </p:nvSpPr>
        <p:spPr>
          <a:xfrm>
            <a:off x="800100" y="52959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2A5F868-3B79-4B5E-931B-29F68B294CEC}"/>
              </a:ext>
            </a:extLst>
          </p:cNvPr>
          <p:cNvSpPr>
            <a:spLocks noGrp="1"/>
          </p:cNvSpPr>
          <p:nvPr/>
        </p:nvSpPr>
        <p:spPr>
          <a:xfrm>
            <a:off x="1028700" y="5295900"/>
            <a:ext cx="790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EGFR의 여러 부분을 이어 붙여 기본 모델을 만들었습니다.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2EEB20F-C476-4B06-BA08-0836D0969E0A}"/>
              </a:ext>
            </a:extLst>
          </p:cNvPr>
          <p:cNvSpPr>
            <a:spLocks noGrp="1"/>
          </p:cNvSpPr>
          <p:nvPr/>
        </p:nvSpPr>
        <p:spPr>
          <a:xfrm>
            <a:off x="800100" y="56959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B6512D-0143-4086-9D23-448CE6DE4D95}"/>
              </a:ext>
            </a:extLst>
          </p:cNvPr>
          <p:cNvSpPr>
            <a:spLocks noGrp="1"/>
          </p:cNvSpPr>
          <p:nvPr/>
        </p:nvSpPr>
        <p:spPr>
          <a:xfrm>
            <a:off x="1028700" y="5695950"/>
            <a:ext cx="790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방향 모델이 현재 지표에서 가장 좋아 보였습니다.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D94457E-1CCF-4AF6-98A2-5EF080E862C2}"/>
              </a:ext>
            </a:extLst>
          </p:cNvPr>
          <p:cNvSpPr>
            <a:spLocks noGrp="1"/>
          </p:cNvSpPr>
          <p:nvPr/>
        </p:nvSpPr>
        <p:spPr>
          <a:xfrm>
            <a:off x="800100" y="61150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0BE87C-697B-4978-A7F9-B8C3F33C5D69}"/>
              </a:ext>
            </a:extLst>
          </p:cNvPr>
          <p:cNvSpPr>
            <a:spLocks noGrp="1"/>
          </p:cNvSpPr>
          <p:nvPr/>
        </p:nvSpPr>
        <p:spPr>
          <a:xfrm>
            <a:off x="1028700" y="6115050"/>
            <a:ext cx="790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200 ns 동안 움직인 기록 파일이 제대로 있는지 확인했습니다.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C16231-4DE2-429B-91AE-00F9B87D8C66}"/>
              </a:ext>
            </a:extLst>
          </p:cNvPr>
          <p:cNvSpPr>
            <a:spLocks noGrp="1"/>
          </p:cNvSpPr>
          <p:nvPr/>
        </p:nvSpPr>
        <p:spPr>
          <a:xfrm>
            <a:off x="9372600" y="4953000"/>
            <a:ext cx="990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아직 다음 단계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9EF87A7-3AA4-4658-9C5D-4003CF42B013}"/>
              </a:ext>
            </a:extLst>
          </p:cNvPr>
          <p:cNvSpPr>
            <a:spLocks noGrp="1"/>
          </p:cNvSpPr>
          <p:nvPr/>
        </p:nvSpPr>
        <p:spPr>
          <a:xfrm>
            <a:off x="9372600" y="52959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0DB1529-346D-49DB-B5D0-513613EFA133}"/>
              </a:ext>
            </a:extLst>
          </p:cNvPr>
          <p:cNvSpPr>
            <a:spLocks noGrp="1"/>
          </p:cNvSpPr>
          <p:nvPr/>
        </p:nvSpPr>
        <p:spPr>
          <a:xfrm>
            <a:off x="9601200" y="5295900"/>
            <a:ext cx="790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MYO1D를 붙여본 최종 결과는 아직 아닙니다.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1E3C229-BE3A-4063-B50C-300A1DBEB832}"/>
              </a:ext>
            </a:extLst>
          </p:cNvPr>
          <p:cNvSpPr>
            <a:spLocks noGrp="1"/>
          </p:cNvSpPr>
          <p:nvPr/>
        </p:nvSpPr>
        <p:spPr>
          <a:xfrm>
            <a:off x="9372600" y="56959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E5296E6-CD2B-49D6-8F02-4793C2C09FE2}"/>
              </a:ext>
            </a:extLst>
          </p:cNvPr>
          <p:cNvSpPr>
            <a:spLocks noGrp="1"/>
          </p:cNvSpPr>
          <p:nvPr/>
        </p:nvSpPr>
        <p:spPr>
          <a:xfrm>
            <a:off x="9601200" y="5695950"/>
            <a:ext cx="790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붙는 자리와 작은 홈 찾기는 다음 단계입니다.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313A51F-3CEB-47D7-858D-F226A581DE83}"/>
              </a:ext>
            </a:extLst>
          </p:cNvPr>
          <p:cNvSpPr>
            <a:spLocks noGrp="1"/>
          </p:cNvSpPr>
          <p:nvPr/>
        </p:nvSpPr>
        <p:spPr>
          <a:xfrm>
            <a:off x="9372600" y="61150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E3F0B9F-2D32-4BF4-89A5-D829D97AE9FE}"/>
              </a:ext>
            </a:extLst>
          </p:cNvPr>
          <p:cNvSpPr>
            <a:spLocks noGrp="1"/>
          </p:cNvSpPr>
          <p:nvPr/>
        </p:nvSpPr>
        <p:spPr>
          <a:xfrm>
            <a:off x="9601200" y="6115050"/>
            <a:ext cx="790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화합물 docking은 EGFR 대표 구조를 정한 뒤 시작합니다.</a:t>
            </a:r>
          </a:p>
        </p:txBody>
      </p:sp>
      <p:sp>
        <p:nvSpPr>
          <p:cNvPr id="42" name="footer-label-02 / 09">
            <a:extLst>
              <a:ext uri="{FF2B5EF4-FFF2-40B4-BE49-F238E27FC236}">
                <a16:creationId xmlns:a16="http://schemas.microsoft.com/office/drawing/2014/main" id="{57FFFF8A-A6A5-43CC-AFD6-F206DC6C8D30}"/>
              </a:ext>
            </a:extLst>
          </p:cNvPr>
          <p:cNvSpPr>
            <a:spLocks noGrp="1"/>
          </p:cNvSpPr>
          <p:nvPr/>
        </p:nvSpPr>
        <p:spPr>
          <a:xfrm>
            <a:off x="800100" y="95821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>
              <a:ext uri="{FF2B5EF4-FFF2-40B4-BE49-F238E27FC236}">
                <a16:creationId xmlns:a16="http://schemas.microsoft.com/office/drawing/2014/main" id="{58D9E3AD-7EF3-4DB6-A6FC-4E87056B830F}"/>
              </a:ext>
            </a:extLst>
          </p:cNvPr>
          <p:cNvSpPr>
            <a:spLocks noGrp="1"/>
          </p:cNvSpPr>
          <p:nvPr/>
        </p:nvSpPr>
        <p:spPr>
          <a:xfrm>
            <a:off x="14478000" y="9544050"/>
            <a:ext cx="3009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31434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yebrow">
            <a:extLst>
              <a:ext uri="{FF2B5EF4-FFF2-40B4-BE49-F238E27FC236}">
                <a16:creationId xmlns:a16="http://schemas.microsoft.com/office/drawing/2014/main" id="{E75A6626-110F-4C63-B6A8-387E5E04C292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모델을 만든 방법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E607111-453A-4D88-838E-8B3F16099733}"/>
              </a:ext>
            </a:extLst>
          </p:cNvPr>
          <p:cNvSpPr>
            <a:spLocks noGrp="1"/>
          </p:cNvSpPr>
          <p:nvPr/>
        </p:nvSpPr>
        <p:spPr>
          <a:xfrm>
            <a:off x="800099" y="933450"/>
            <a:ext cx="10008927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 dirty="0" err="1">
                <a:solidFill>
                  <a:srgbClr val="132026"/>
                </a:solidFill>
              </a:rPr>
              <a:t>EGFR은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여러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자료를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이어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붙여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만들었습니다</a:t>
            </a:r>
            <a:endParaRPr sz="3900" b="1" dirty="0">
              <a:solidFill>
                <a:srgbClr val="132026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D8BD433-3779-45ED-A0AC-D8E754D46A12}"/>
              </a:ext>
            </a:extLst>
          </p:cNvPr>
          <p:cNvSpPr>
            <a:spLocks noGrp="1"/>
          </p:cNvSpPr>
          <p:nvPr/>
        </p:nvSpPr>
        <p:spPr>
          <a:xfrm>
            <a:off x="800100" y="2209800"/>
            <a:ext cx="11087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EGFR의 막 부분, 연결 부분, 세포 안쪽 효소 부분을 각각 다른 구조 자료에서 가져와 하나의 모델로 만들었습니다.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8031240-7253-4D02-B41D-2994A0D41E29}"/>
              </a:ext>
            </a:extLst>
          </p:cNvPr>
          <p:cNvSpPr>
            <a:spLocks noGrp="1"/>
          </p:cNvSpPr>
          <p:nvPr/>
        </p:nvSpPr>
        <p:spPr>
          <a:xfrm>
            <a:off x="800100" y="2720340"/>
            <a:ext cx="10572750" cy="476250"/>
          </a:xfrm>
          <a:prstGeom prst="roundRect">
            <a:avLst>
              <a:gd name="adj" fmla="val 12000"/>
            </a:avLst>
          </a:prstGeom>
          <a:solidFill>
            <a:srgbClr val="0B263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FE0BF0-12A0-4643-9E59-8D380643E7F8}"/>
              </a:ext>
            </a:extLst>
          </p:cNvPr>
          <p:cNvSpPr>
            <a:spLocks noGrp="1"/>
          </p:cNvSpPr>
          <p:nvPr/>
        </p:nvSpPr>
        <p:spPr>
          <a:xfrm>
            <a:off x="971550" y="2857500"/>
            <a:ext cx="1714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부분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555B6E-DE88-4A0F-ADCE-D02CDA4925C7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1238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자료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A0CEC5-864A-4B04-A888-EEB9C4B1811F}"/>
              </a:ext>
            </a:extLst>
          </p:cNvPr>
          <p:cNvSpPr>
            <a:spLocks noGrp="1"/>
          </p:cNvSpPr>
          <p:nvPr/>
        </p:nvSpPr>
        <p:spPr>
          <a:xfrm>
            <a:off x="4267200" y="2857500"/>
            <a:ext cx="33813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무엇에 썼나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9E396E-F99F-49BC-A4F2-F0371C8FDDE3}"/>
              </a:ext>
            </a:extLst>
          </p:cNvPr>
          <p:cNvSpPr>
            <a:spLocks noGrp="1"/>
          </p:cNvSpPr>
          <p:nvPr/>
        </p:nvSpPr>
        <p:spPr>
          <a:xfrm>
            <a:off x="7829550" y="2857500"/>
            <a:ext cx="3143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주의할 점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92FA65-CED2-442F-A791-05FCA1A85B30}"/>
              </a:ext>
            </a:extLst>
          </p:cNvPr>
          <p:cNvSpPr>
            <a:spLocks noGrp="1"/>
          </p:cNvSpPr>
          <p:nvPr/>
        </p:nvSpPr>
        <p:spPr>
          <a:xfrm>
            <a:off x="800100" y="3263265"/>
            <a:ext cx="10572750" cy="781050"/>
          </a:xfrm>
          <a:prstGeom prst="roundRect">
            <a:avLst>
              <a:gd name="adj" fmla="val 7317"/>
            </a:avLst>
          </a:prstGeom>
          <a:solidFill>
            <a:srgbClr val="E8F7F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AD7638-D1BD-4BA0-9CB4-ED039EABC98D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714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32026"/>
                </a:solidFill>
              </a:defRPr>
            </a:pPr>
            <a:r>
              <a:rPr sz="1600" b="1" dirty="0" err="1">
                <a:solidFill>
                  <a:srgbClr val="132026"/>
                </a:solidFill>
              </a:rPr>
              <a:t>막을</a:t>
            </a:r>
            <a:r>
              <a:rPr sz="1600" b="1" dirty="0">
                <a:solidFill>
                  <a:srgbClr val="132026"/>
                </a:solidFill>
              </a:rPr>
              <a:t> </a:t>
            </a:r>
            <a:r>
              <a:rPr sz="1600" b="1" dirty="0" err="1">
                <a:solidFill>
                  <a:srgbClr val="132026"/>
                </a:solidFill>
              </a:rPr>
              <a:t>지나는</a:t>
            </a:r>
            <a:r>
              <a:rPr sz="1600" b="1" dirty="0">
                <a:solidFill>
                  <a:srgbClr val="132026"/>
                </a:solidFill>
              </a:rPr>
              <a:t> </a:t>
            </a:r>
            <a:r>
              <a:rPr sz="1600" b="1" dirty="0" err="1">
                <a:solidFill>
                  <a:srgbClr val="132026"/>
                </a:solidFill>
              </a:rPr>
              <a:t>부분</a:t>
            </a:r>
            <a:r>
              <a:rPr lang="en-US" sz="1600" b="1" dirty="0">
                <a:solidFill>
                  <a:srgbClr val="132026"/>
                </a:solidFill>
              </a:rPr>
              <a:t>(TM)</a:t>
            </a:r>
            <a:endParaRPr sz="1600" b="1" dirty="0">
              <a:solidFill>
                <a:srgbClr val="132026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629CD3-BC61-4D05-A661-A304776117DD}"/>
              </a:ext>
            </a:extLst>
          </p:cNvPr>
          <p:cNvSpPr>
            <a:spLocks noGrp="1"/>
          </p:cNvSpPr>
          <p:nvPr/>
        </p:nvSpPr>
        <p:spPr>
          <a:xfrm>
            <a:off x="2857500" y="3562350"/>
            <a:ext cx="1238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0A8C8"/>
                </a:solidFill>
              </a:defRPr>
            </a:pPr>
            <a:r>
              <a:rPr sz="16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8EC484-9FC9-4891-976F-C7764F5311EF}"/>
              </a:ext>
            </a:extLst>
          </p:cNvPr>
          <p:cNvSpPr>
            <a:spLocks noGrp="1"/>
          </p:cNvSpPr>
          <p:nvPr/>
        </p:nvSpPr>
        <p:spPr>
          <a:xfrm>
            <a:off x="4267200" y="3562350"/>
            <a:ext cx="33813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40505A"/>
                </a:solidFill>
              </a:defRPr>
            </a:pPr>
            <a:r>
              <a:rPr sz="1400" b="0">
                <a:solidFill>
                  <a:srgbClr val="40505A"/>
                </a:solidFill>
              </a:rPr>
              <a:t>EGFR 두 가닥이 막을 지나는 모양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2C4C05-4B23-423E-9FB1-6E93F4787D2B}"/>
              </a:ext>
            </a:extLst>
          </p:cNvPr>
          <p:cNvSpPr>
            <a:spLocks noGrp="1"/>
          </p:cNvSpPr>
          <p:nvPr/>
        </p:nvSpPr>
        <p:spPr>
          <a:xfrm>
            <a:off x="7829550" y="358140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65747C"/>
                </a:solidFill>
              </a:defRPr>
            </a:pPr>
            <a:r>
              <a:rPr sz="1200" b="0">
                <a:solidFill>
                  <a:srgbClr val="65747C"/>
                </a:solidFill>
              </a:rPr>
              <a:t>스크립트에서는 634-670 구간을 사용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DC0A7E5-46E2-4E41-9B3A-BAADB4693FB2}"/>
              </a:ext>
            </a:extLst>
          </p:cNvPr>
          <p:cNvSpPr>
            <a:spLocks noGrp="1"/>
          </p:cNvSpPr>
          <p:nvPr/>
        </p:nvSpPr>
        <p:spPr>
          <a:xfrm>
            <a:off x="800100" y="4110990"/>
            <a:ext cx="10572750" cy="781050"/>
          </a:xfrm>
          <a:prstGeom prst="roundRect">
            <a:avLst>
              <a:gd name="adj" fmla="val 7317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AAF7C6-A7F8-4EA4-923A-A585BCC398D9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714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32026"/>
                </a:solidFill>
              </a:defRPr>
            </a:pPr>
            <a:r>
              <a:rPr sz="1600" b="1" dirty="0">
                <a:solidFill>
                  <a:srgbClr val="132026"/>
                </a:solidFill>
              </a:rPr>
              <a:t>막 </a:t>
            </a:r>
            <a:r>
              <a:rPr sz="1600" b="1" dirty="0" err="1">
                <a:solidFill>
                  <a:srgbClr val="132026"/>
                </a:solidFill>
              </a:rPr>
              <a:t>근처</a:t>
            </a:r>
            <a:r>
              <a:rPr sz="1600" b="1" dirty="0">
                <a:solidFill>
                  <a:srgbClr val="132026"/>
                </a:solidFill>
              </a:rPr>
              <a:t> </a:t>
            </a:r>
            <a:r>
              <a:rPr sz="1600" b="1" dirty="0" err="1">
                <a:solidFill>
                  <a:srgbClr val="132026"/>
                </a:solidFill>
              </a:rPr>
              <a:t>연결부</a:t>
            </a:r>
            <a:r>
              <a:rPr lang="en-US" sz="1600" b="1" dirty="0">
                <a:solidFill>
                  <a:srgbClr val="132026"/>
                </a:solidFill>
              </a:rPr>
              <a:t>(JM)</a:t>
            </a:r>
            <a:endParaRPr sz="1600" b="1" dirty="0">
              <a:solidFill>
                <a:srgbClr val="132026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3F148F-9AC5-4C21-A897-4D6F2A3CCB39}"/>
              </a:ext>
            </a:extLst>
          </p:cNvPr>
          <p:cNvSpPr>
            <a:spLocks noGrp="1"/>
          </p:cNvSpPr>
          <p:nvPr/>
        </p:nvSpPr>
        <p:spPr>
          <a:xfrm>
            <a:off x="2857500" y="4400550"/>
            <a:ext cx="1238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0A8C8"/>
                </a:solidFill>
              </a:defRPr>
            </a:pPr>
            <a:r>
              <a:rPr sz="16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AF300A-CA09-4126-B532-85CC579C3E8A}"/>
              </a:ext>
            </a:extLst>
          </p:cNvPr>
          <p:cNvSpPr>
            <a:spLocks noGrp="1"/>
          </p:cNvSpPr>
          <p:nvPr/>
        </p:nvSpPr>
        <p:spPr>
          <a:xfrm>
            <a:off x="4267200" y="4400550"/>
            <a:ext cx="33813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40505A"/>
                </a:solidFill>
              </a:defRPr>
            </a:pPr>
            <a:r>
              <a:rPr sz="1400" b="0">
                <a:solidFill>
                  <a:srgbClr val="40505A"/>
                </a:solidFill>
              </a:rPr>
              <a:t>막 근처에서 이어지는 방향 참고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EF590C-01F2-456A-B574-413FEEDE4B03}"/>
              </a:ext>
            </a:extLst>
          </p:cNvPr>
          <p:cNvSpPr>
            <a:spLocks noGrp="1"/>
          </p:cNvSpPr>
          <p:nvPr/>
        </p:nvSpPr>
        <p:spPr>
          <a:xfrm>
            <a:off x="7829550" y="441960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65747C"/>
                </a:solidFill>
              </a:defRPr>
            </a:pPr>
            <a:r>
              <a:rPr sz="1200" b="0">
                <a:solidFill>
                  <a:srgbClr val="65747C"/>
                </a:solidFill>
              </a:rPr>
              <a:t>좌표 생성 과정 일부는 추가 확인 필요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E214952-6010-4081-A2D3-DC2495E76E1B}"/>
              </a:ext>
            </a:extLst>
          </p:cNvPr>
          <p:cNvSpPr>
            <a:spLocks noGrp="1"/>
          </p:cNvSpPr>
          <p:nvPr/>
        </p:nvSpPr>
        <p:spPr>
          <a:xfrm>
            <a:off x="800100" y="4958715"/>
            <a:ext cx="10572750" cy="781050"/>
          </a:xfrm>
          <a:prstGeom prst="roundRect">
            <a:avLst>
              <a:gd name="adj" fmla="val 7317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4356CC-61BB-4023-AB39-2711BA30B498}"/>
              </a:ext>
            </a:extLst>
          </p:cNvPr>
          <p:cNvSpPr>
            <a:spLocks noGrp="1"/>
          </p:cNvSpPr>
          <p:nvPr/>
        </p:nvSpPr>
        <p:spPr>
          <a:xfrm>
            <a:off x="971550" y="5257800"/>
            <a:ext cx="1714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32026"/>
                </a:solidFill>
              </a:defRPr>
            </a:pPr>
            <a:r>
              <a:rPr sz="1600" b="1" dirty="0" err="1">
                <a:solidFill>
                  <a:srgbClr val="132026"/>
                </a:solidFill>
              </a:rPr>
              <a:t>세포</a:t>
            </a:r>
            <a:r>
              <a:rPr sz="1600" b="1" dirty="0">
                <a:solidFill>
                  <a:srgbClr val="132026"/>
                </a:solidFill>
              </a:rPr>
              <a:t> </a:t>
            </a:r>
            <a:r>
              <a:rPr sz="1600" b="1" dirty="0" err="1">
                <a:solidFill>
                  <a:srgbClr val="132026"/>
                </a:solidFill>
              </a:rPr>
              <a:t>안쪽</a:t>
            </a:r>
            <a:r>
              <a:rPr sz="1600" b="1" dirty="0">
                <a:solidFill>
                  <a:srgbClr val="132026"/>
                </a:solidFill>
              </a:rPr>
              <a:t> </a:t>
            </a:r>
            <a:r>
              <a:rPr sz="1600" b="1" dirty="0" err="1">
                <a:solidFill>
                  <a:srgbClr val="132026"/>
                </a:solidFill>
              </a:rPr>
              <a:t>효소부</a:t>
            </a:r>
            <a:r>
              <a:rPr lang="en-US" sz="1600" b="1" dirty="0">
                <a:solidFill>
                  <a:srgbClr val="132026"/>
                </a:solidFill>
              </a:rPr>
              <a:t>(Kinase)</a:t>
            </a:r>
            <a:endParaRPr sz="1600" b="1" dirty="0">
              <a:solidFill>
                <a:srgbClr val="132026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33BDB3-8F7F-4C06-968B-81D80B660712}"/>
              </a:ext>
            </a:extLst>
          </p:cNvPr>
          <p:cNvSpPr>
            <a:spLocks noGrp="1"/>
          </p:cNvSpPr>
          <p:nvPr/>
        </p:nvSpPr>
        <p:spPr>
          <a:xfrm>
            <a:off x="2857500" y="5257800"/>
            <a:ext cx="1238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0A8C8"/>
                </a:solidFill>
              </a:defRPr>
            </a:pPr>
            <a:r>
              <a:rPr sz="16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26E7F9-2CFE-4B77-A529-9C2262FA310D}"/>
              </a:ext>
            </a:extLst>
          </p:cNvPr>
          <p:cNvSpPr>
            <a:spLocks noGrp="1"/>
          </p:cNvSpPr>
          <p:nvPr/>
        </p:nvSpPr>
        <p:spPr>
          <a:xfrm>
            <a:off x="4267200" y="5257800"/>
            <a:ext cx="33813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40505A"/>
                </a:solidFill>
              </a:defRPr>
            </a:pPr>
            <a:r>
              <a:rPr sz="1400" b="0">
                <a:solidFill>
                  <a:srgbClr val="40505A"/>
                </a:solidFill>
              </a:rPr>
              <a:t>inactive KD dimer 모양 참고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EAD319-BBDC-44BD-934E-9E57E2370B63}"/>
              </a:ext>
            </a:extLst>
          </p:cNvPr>
          <p:cNvSpPr>
            <a:spLocks noGrp="1"/>
          </p:cNvSpPr>
          <p:nvPr/>
        </p:nvSpPr>
        <p:spPr>
          <a:xfrm>
            <a:off x="7829550" y="52768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65747C"/>
                </a:solidFill>
              </a:defRPr>
            </a:pPr>
            <a:r>
              <a:rPr sz="1200" b="0">
                <a:solidFill>
                  <a:srgbClr val="65747C"/>
                </a:solidFill>
              </a:rPr>
              <a:t>번호 체계가 달라서 해석 시 주의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2BFCD7E-F45E-4D6B-A820-36889429E8BF}"/>
              </a:ext>
            </a:extLst>
          </p:cNvPr>
          <p:cNvSpPr>
            <a:spLocks noGrp="1"/>
          </p:cNvSpPr>
          <p:nvPr/>
        </p:nvSpPr>
        <p:spPr>
          <a:xfrm>
            <a:off x="800100" y="5806440"/>
            <a:ext cx="10572750" cy="781050"/>
          </a:xfrm>
          <a:prstGeom prst="roundRect">
            <a:avLst>
              <a:gd name="adj" fmla="val 7317"/>
            </a:avLst>
          </a:prstGeom>
          <a:solidFill>
            <a:srgbClr val="FFF8E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EACB6C-C6B6-4FFD-BEBE-8FFDE555D789}"/>
              </a:ext>
            </a:extLst>
          </p:cNvPr>
          <p:cNvSpPr>
            <a:spLocks noGrp="1"/>
          </p:cNvSpPr>
          <p:nvPr/>
        </p:nvSpPr>
        <p:spPr>
          <a:xfrm>
            <a:off x="971550" y="6096000"/>
            <a:ext cx="1714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32026"/>
                </a:solidFill>
              </a:defRPr>
            </a:pPr>
            <a:r>
              <a:rPr sz="1600" b="1">
                <a:solidFill>
                  <a:srgbClr val="132026"/>
                </a:solidFill>
              </a:rPr>
              <a:t>빈 구간 채우기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F6E1DD-4EC8-41EE-96B5-81D519718648}"/>
              </a:ext>
            </a:extLst>
          </p:cNvPr>
          <p:cNvSpPr>
            <a:spLocks noGrp="1"/>
          </p:cNvSpPr>
          <p:nvPr/>
        </p:nvSpPr>
        <p:spPr>
          <a:xfrm>
            <a:off x="2857500" y="6096000"/>
            <a:ext cx="1238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0A8C8"/>
                </a:solidFill>
              </a:defRPr>
            </a:pPr>
            <a:r>
              <a:rPr sz="16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B08AA7-F43C-4F0E-87FC-D54C1FCB07E4}"/>
              </a:ext>
            </a:extLst>
          </p:cNvPr>
          <p:cNvSpPr>
            <a:spLocks noGrp="1"/>
          </p:cNvSpPr>
          <p:nvPr/>
        </p:nvSpPr>
        <p:spPr>
          <a:xfrm>
            <a:off x="4267200" y="6096000"/>
            <a:ext cx="33813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0">
                <a:solidFill>
                  <a:srgbClr val="40505A"/>
                </a:solidFill>
              </a:defRPr>
            </a:pPr>
            <a:r>
              <a:rPr sz="1400" b="0">
                <a:solidFill>
                  <a:srgbClr val="40505A"/>
                </a:solidFill>
              </a:rPr>
              <a:t>없는 구간을 계산으로 메움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F5BF133-3C48-4C2C-9636-6B5A75164214}"/>
              </a:ext>
            </a:extLst>
          </p:cNvPr>
          <p:cNvSpPr>
            <a:spLocks noGrp="1"/>
          </p:cNvSpPr>
          <p:nvPr/>
        </p:nvSpPr>
        <p:spPr>
          <a:xfrm>
            <a:off x="7829550" y="61150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65747C"/>
                </a:solidFill>
              </a:defRPr>
            </a:pPr>
            <a:r>
              <a:rPr sz="1200" b="0">
                <a:solidFill>
                  <a:srgbClr val="65747C"/>
                </a:solidFill>
              </a:rPr>
              <a:t>실험 구조가 아니라 모델링 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2A7DFEB-DEB0-4F7E-9258-168788B3CACC}"/>
              </a:ext>
            </a:extLst>
          </p:cNvPr>
          <p:cNvSpPr>
            <a:spLocks noGrp="1"/>
          </p:cNvSpPr>
          <p:nvPr/>
        </p:nvSpPr>
        <p:spPr>
          <a:xfrm>
            <a:off x="11791950" y="2724150"/>
            <a:ext cx="647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작업 순서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E3C42D9-F845-456D-B83D-62408C72420E}"/>
              </a:ext>
            </a:extLst>
          </p:cNvPr>
          <p:cNvSpPr>
            <a:spLocks noGrp="1"/>
          </p:cNvSpPr>
          <p:nvPr/>
        </p:nvSpPr>
        <p:spPr>
          <a:xfrm>
            <a:off x="11791950" y="3200400"/>
            <a:ext cx="5695950" cy="704850"/>
          </a:xfrm>
          <a:prstGeom prst="roundRect">
            <a:avLst>
              <a:gd name="adj" fmla="val 1081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8E31C48-7541-4CCF-9ED0-663FB8764550}"/>
              </a:ext>
            </a:extLst>
          </p:cNvPr>
          <p:cNvSpPr>
            <a:spLocks noGrp="1"/>
          </p:cNvSpPr>
          <p:nvPr/>
        </p:nvSpPr>
        <p:spPr>
          <a:xfrm>
            <a:off x="12001500" y="33528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23A66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FA8353A-14DC-40A2-A84E-14B5BA13A2EC}"/>
              </a:ext>
            </a:extLst>
          </p:cNvPr>
          <p:cNvSpPr>
            <a:spLocks noGrp="1"/>
          </p:cNvSpPr>
          <p:nvPr/>
        </p:nvSpPr>
        <p:spPr>
          <a:xfrm>
            <a:off x="12211050" y="33528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막 부분을 먼저 맞춤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2FB823C-EEB7-41A5-B17B-C6D3A370DF2F}"/>
              </a:ext>
            </a:extLst>
          </p:cNvPr>
          <p:cNvSpPr>
            <a:spLocks noGrp="1"/>
          </p:cNvSpPr>
          <p:nvPr/>
        </p:nvSpPr>
        <p:spPr>
          <a:xfrm>
            <a:off x="12211050" y="3600450"/>
            <a:ext cx="5086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2M0B 자료로 EGFR 두 가닥의 막 부분을 잡음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99C92C-2346-46F4-AB05-83C0BA0F3DF1}"/>
              </a:ext>
            </a:extLst>
          </p:cNvPr>
          <p:cNvSpPr>
            <a:spLocks noGrp="1"/>
          </p:cNvSpPr>
          <p:nvPr/>
        </p:nvSpPr>
        <p:spPr>
          <a:xfrm>
            <a:off x="11791950" y="4019550"/>
            <a:ext cx="5695950" cy="704850"/>
          </a:xfrm>
          <a:prstGeom prst="roundRect">
            <a:avLst>
              <a:gd name="adj" fmla="val 1081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E57BC93-2758-40E7-ADC3-8597D9911022}"/>
              </a:ext>
            </a:extLst>
          </p:cNvPr>
          <p:cNvSpPr>
            <a:spLocks noGrp="1"/>
          </p:cNvSpPr>
          <p:nvPr/>
        </p:nvSpPr>
        <p:spPr>
          <a:xfrm>
            <a:off x="12001500" y="41910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01CD77C-39B3-41FB-AD3D-B9133103DF40}"/>
              </a:ext>
            </a:extLst>
          </p:cNvPr>
          <p:cNvSpPr>
            <a:spLocks noGrp="1"/>
          </p:cNvSpPr>
          <p:nvPr/>
        </p:nvSpPr>
        <p:spPr>
          <a:xfrm>
            <a:off x="12211050" y="41719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연결부 방향을 참고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B5C1396-DC0A-47D2-906F-A48DF3C0BABB}"/>
              </a:ext>
            </a:extLst>
          </p:cNvPr>
          <p:cNvSpPr>
            <a:spLocks noGrp="1"/>
          </p:cNvSpPr>
          <p:nvPr/>
        </p:nvSpPr>
        <p:spPr>
          <a:xfrm>
            <a:off x="12211050" y="4419600"/>
            <a:ext cx="5086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2M20 자료로 막 근처 방향을 정리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B71D88A-A298-4261-BE49-ADD65A61F237}"/>
              </a:ext>
            </a:extLst>
          </p:cNvPr>
          <p:cNvSpPr>
            <a:spLocks noGrp="1"/>
          </p:cNvSpPr>
          <p:nvPr/>
        </p:nvSpPr>
        <p:spPr>
          <a:xfrm>
            <a:off x="11791950" y="4838700"/>
            <a:ext cx="5695950" cy="704850"/>
          </a:xfrm>
          <a:prstGeom prst="roundRect">
            <a:avLst>
              <a:gd name="adj" fmla="val 1081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D8E76DB-E6E5-4867-9EC3-40FF23BF52C3}"/>
              </a:ext>
            </a:extLst>
          </p:cNvPr>
          <p:cNvSpPr>
            <a:spLocks noGrp="1"/>
          </p:cNvSpPr>
          <p:nvPr/>
        </p:nvSpPr>
        <p:spPr>
          <a:xfrm>
            <a:off x="12001500" y="49911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92A8EE1-B6E7-42B2-A242-3D23B0D195DA}"/>
              </a:ext>
            </a:extLst>
          </p:cNvPr>
          <p:cNvSpPr>
            <a:spLocks noGrp="1"/>
          </p:cNvSpPr>
          <p:nvPr/>
        </p:nvSpPr>
        <p:spPr>
          <a:xfrm>
            <a:off x="12211050" y="49911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세포 안쪽 큰 부분을 붙임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B327E0F-9754-409B-A65E-81E3EF0A434D}"/>
              </a:ext>
            </a:extLst>
          </p:cNvPr>
          <p:cNvSpPr>
            <a:spLocks noGrp="1"/>
          </p:cNvSpPr>
          <p:nvPr/>
        </p:nvSpPr>
        <p:spPr>
          <a:xfrm>
            <a:off x="12211050" y="5238750"/>
            <a:ext cx="5086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3GT8 자료로 KD dimer 부분을 배치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95EC89D-4C96-49FD-9DF1-B40EA6800392}"/>
              </a:ext>
            </a:extLst>
          </p:cNvPr>
          <p:cNvSpPr>
            <a:spLocks noGrp="1"/>
          </p:cNvSpPr>
          <p:nvPr/>
        </p:nvSpPr>
        <p:spPr>
          <a:xfrm>
            <a:off x="11791950" y="5657850"/>
            <a:ext cx="5695950" cy="704850"/>
          </a:xfrm>
          <a:prstGeom prst="roundRect">
            <a:avLst>
              <a:gd name="adj" fmla="val 1081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B5C9A97-5120-408A-804D-866AA94145EF}"/>
              </a:ext>
            </a:extLst>
          </p:cNvPr>
          <p:cNvSpPr>
            <a:spLocks noGrp="1"/>
          </p:cNvSpPr>
          <p:nvPr/>
        </p:nvSpPr>
        <p:spPr>
          <a:xfrm>
            <a:off x="12001500" y="58293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E6903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A63B17C-C352-4A7B-AD76-921DA96BB3A7}"/>
              </a:ext>
            </a:extLst>
          </p:cNvPr>
          <p:cNvSpPr>
            <a:spLocks noGrp="1"/>
          </p:cNvSpPr>
          <p:nvPr/>
        </p:nvSpPr>
        <p:spPr>
          <a:xfrm>
            <a:off x="12211050" y="581025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빈 구간을 계산으로 채움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8FB8B5C-84E5-45C2-940D-1B2B04C04BD1}"/>
              </a:ext>
            </a:extLst>
          </p:cNvPr>
          <p:cNvSpPr>
            <a:spLocks noGrp="1"/>
          </p:cNvSpPr>
          <p:nvPr/>
        </p:nvSpPr>
        <p:spPr>
          <a:xfrm>
            <a:off x="12211050" y="6057900"/>
            <a:ext cx="5086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JM-B와 A-loop처럼 없는 부분을 MODELLER로 보완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7B0D9AA-FD16-4671-A30E-73E096D7BFB4}"/>
              </a:ext>
            </a:extLst>
          </p:cNvPr>
          <p:cNvSpPr>
            <a:spLocks noGrp="1"/>
          </p:cNvSpPr>
          <p:nvPr/>
        </p:nvSpPr>
        <p:spPr>
          <a:xfrm>
            <a:off x="11791950" y="6477000"/>
            <a:ext cx="5695950" cy="704850"/>
          </a:xfrm>
          <a:prstGeom prst="roundRect">
            <a:avLst>
              <a:gd name="adj" fmla="val 1081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6AB5525-F07B-4DD3-BCAD-78B58AFF87F8}"/>
              </a:ext>
            </a:extLst>
          </p:cNvPr>
          <p:cNvSpPr>
            <a:spLocks noGrp="1"/>
          </p:cNvSpPr>
          <p:nvPr/>
        </p:nvSpPr>
        <p:spPr>
          <a:xfrm>
            <a:off x="12001500" y="66294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23A66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6B3A624-3FC3-493D-85B5-5436AC56E845}"/>
              </a:ext>
            </a:extLst>
          </p:cNvPr>
          <p:cNvSpPr>
            <a:spLocks noGrp="1"/>
          </p:cNvSpPr>
          <p:nvPr/>
        </p:nvSpPr>
        <p:spPr>
          <a:xfrm>
            <a:off x="12211050" y="6629400"/>
            <a:ext cx="5086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방향 후보 5개를 만듦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B804381-8F8A-4E38-9700-8E4AC857ED97}"/>
              </a:ext>
            </a:extLst>
          </p:cNvPr>
          <p:cNvSpPr>
            <a:spLocks noGrp="1"/>
          </p:cNvSpPr>
          <p:nvPr/>
        </p:nvSpPr>
        <p:spPr>
          <a:xfrm>
            <a:off x="12211050" y="6877050"/>
            <a:ext cx="50863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+20°를 비교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C5964F9-782D-4299-AEDD-025AE00DA875}"/>
              </a:ext>
            </a:extLst>
          </p:cNvPr>
          <p:cNvSpPr>
            <a:spLocks noGrp="1"/>
          </p:cNvSpPr>
          <p:nvPr/>
        </p:nvSpPr>
        <p:spPr>
          <a:xfrm>
            <a:off x="11791950" y="7296150"/>
            <a:ext cx="56959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Slide 6의 구조 그림은 이 모델 PDB의 실제 CA 좌표를 이용해 만든 overview입니다.</a:t>
            </a:r>
          </a:p>
        </p:txBody>
      </p:sp>
      <p:sp>
        <p:nvSpPr>
          <p:cNvPr id="51" name="footer-label-03 / 09">
            <a:extLst>
              <a:ext uri="{FF2B5EF4-FFF2-40B4-BE49-F238E27FC236}">
                <a16:creationId xmlns:a16="http://schemas.microsoft.com/office/drawing/2014/main" id="{EF150898-2A43-435B-9D88-164479AE3431}"/>
              </a:ext>
            </a:extLst>
          </p:cNvPr>
          <p:cNvSpPr>
            <a:spLocks noGrp="1"/>
          </p:cNvSpPr>
          <p:nvPr/>
        </p:nvSpPr>
        <p:spPr>
          <a:xfrm>
            <a:off x="800100" y="95440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>
              <a:ext uri="{FF2B5EF4-FFF2-40B4-BE49-F238E27FC236}">
                <a16:creationId xmlns:a16="http://schemas.microsoft.com/office/drawing/2014/main" id="{100CB520-FBB4-4FF3-9AE6-C6AFA8006068}"/>
              </a:ext>
            </a:extLst>
          </p:cNvPr>
          <p:cNvSpPr>
            <a:spLocks noGrp="1"/>
          </p:cNvSpPr>
          <p:nvPr/>
        </p:nvSpPr>
        <p:spPr>
          <a:xfrm>
            <a:off x="14001750" y="9563100"/>
            <a:ext cx="34861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203509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">
            <a:extLst>
              <a:ext uri="{FF2B5EF4-FFF2-40B4-BE49-F238E27FC236}">
                <a16:creationId xmlns:a16="http://schemas.microsoft.com/office/drawing/2014/main" id="{AD508296-862F-4308-8AB0-C7666654F13C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방향 비교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8905E1A-B27F-4FBE-AB79-069335ED8915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4201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+10° 방향 모델이 가장 좋아 보였습니다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387AA30C-555A-4D0E-9498-82D58DBE9FF7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10896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EGFR 안쪽 큰 부분을 여러 각도로 돌려 비교했고, 현재 계산된 지표에서는 +10°가 가장 안정적으로 보였습니다.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4189DB-2C53-4102-B6F1-2E13680C8FED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647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선택 이유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C06C0B8-246B-4C8A-9BFD-4739D318B3CE}"/>
              </a:ext>
            </a:extLst>
          </p:cNvPr>
          <p:cNvSpPr>
            <a:spLocks noGrp="1"/>
          </p:cNvSpPr>
          <p:nvPr/>
        </p:nvSpPr>
        <p:spPr>
          <a:xfrm>
            <a:off x="800100" y="2842260"/>
            <a:ext cx="47625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688E5F-F5DD-40F2-8168-CCA57F8B31DB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4305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움직임 크기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3CE8F4-CEA6-4773-B07A-7F31EE547B77}"/>
              </a:ext>
            </a:extLst>
          </p:cNvPr>
          <p:cNvSpPr>
            <a:spLocks noGrp="1"/>
          </p:cNvSpPr>
          <p:nvPr/>
        </p:nvSpPr>
        <p:spPr>
          <a:xfrm>
            <a:off x="1028700" y="3257550"/>
            <a:ext cx="4305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66D3A9-E390-46C2-A231-4606F40220AF}"/>
              </a:ext>
            </a:extLst>
          </p:cNvPr>
          <p:cNvSpPr>
            <a:spLocks noGrp="1"/>
          </p:cNvSpPr>
          <p:nvPr/>
        </p:nvSpPr>
        <p:spPr>
          <a:xfrm>
            <a:off x="1028700" y="3790950"/>
            <a:ext cx="4305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RMSD가 낮을수록 덜 흔들린다는 뜻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CE5A2D9-19A6-474D-AC4E-955C7AE19251}"/>
              </a:ext>
            </a:extLst>
          </p:cNvPr>
          <p:cNvSpPr>
            <a:spLocks noGrp="1"/>
          </p:cNvSpPr>
          <p:nvPr/>
        </p:nvSpPr>
        <p:spPr>
          <a:xfrm>
            <a:off x="800100" y="4413885"/>
            <a:ext cx="47625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A32D5D-BEDF-4E66-87C4-47C2094552EF}"/>
              </a:ext>
            </a:extLst>
          </p:cNvPr>
          <p:cNvSpPr>
            <a:spLocks noGrp="1"/>
          </p:cNvSpPr>
          <p:nvPr/>
        </p:nvSpPr>
        <p:spPr>
          <a:xfrm>
            <a:off x="1028700" y="4610100"/>
            <a:ext cx="4305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전체 크기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F55B4B-984F-4830-8D70-AB32B0967963}"/>
              </a:ext>
            </a:extLst>
          </p:cNvPr>
          <p:cNvSpPr>
            <a:spLocks noGrp="1"/>
          </p:cNvSpPr>
          <p:nvPr/>
        </p:nvSpPr>
        <p:spPr>
          <a:xfrm>
            <a:off x="1028700" y="4838700"/>
            <a:ext cx="4305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321E28-F17D-497F-8A9C-C47A248BD4B3}"/>
              </a:ext>
            </a:extLst>
          </p:cNvPr>
          <p:cNvSpPr>
            <a:spLocks noGrp="1"/>
          </p:cNvSpPr>
          <p:nvPr/>
        </p:nvSpPr>
        <p:spPr>
          <a:xfrm>
            <a:off x="1028700" y="5372100"/>
            <a:ext cx="4305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Rg가 비슷하게 유지되어 비교적 안정적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73C5F3E-D77D-48F3-9437-6E7BD72D2492}"/>
              </a:ext>
            </a:extLst>
          </p:cNvPr>
          <p:cNvSpPr>
            <a:spLocks noGrp="1"/>
          </p:cNvSpPr>
          <p:nvPr/>
        </p:nvSpPr>
        <p:spPr>
          <a:xfrm>
            <a:off x="800100" y="5985510"/>
            <a:ext cx="47625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1D46ED-34DD-42C2-A458-7CF28DD294EF}"/>
              </a:ext>
            </a:extLst>
          </p:cNvPr>
          <p:cNvSpPr>
            <a:spLocks noGrp="1"/>
          </p:cNvSpPr>
          <p:nvPr/>
        </p:nvSpPr>
        <p:spPr>
          <a:xfrm>
            <a:off x="1028700" y="6172200"/>
            <a:ext cx="4305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두 가닥 연결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94A582-8CBD-432F-995F-1FFD839CFD6A}"/>
              </a:ext>
            </a:extLst>
          </p:cNvPr>
          <p:cNvSpPr>
            <a:spLocks noGrp="1"/>
          </p:cNvSpPr>
          <p:nvPr/>
        </p:nvSpPr>
        <p:spPr>
          <a:xfrm>
            <a:off x="1028700" y="6400800"/>
            <a:ext cx="4305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8E932D5-31FE-419D-96B0-6906C0FA0D66}"/>
              </a:ext>
            </a:extLst>
          </p:cNvPr>
          <p:cNvSpPr>
            <a:spLocks noGrp="1"/>
          </p:cNvSpPr>
          <p:nvPr/>
        </p:nvSpPr>
        <p:spPr>
          <a:xfrm>
            <a:off x="1028700" y="6934200"/>
            <a:ext cx="4305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H-bond가 더 많이 보인 조건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45E1D68-BA73-4525-8CF0-2E51488430BA}"/>
              </a:ext>
            </a:extLst>
          </p:cNvPr>
          <p:cNvSpPr>
            <a:spLocks noGrp="1"/>
          </p:cNvSpPr>
          <p:nvPr/>
        </p:nvSpPr>
        <p:spPr>
          <a:xfrm>
            <a:off x="800100" y="7562850"/>
            <a:ext cx="4762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주의: 모든 지표가 완벽하게 다 있는 것은 아닙니다. 그래도 현재 가지고 있는 자료에서는 +10°가 가장 좋은 후보입니다.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9FC0EA7-FB02-43A4-93C4-0D502C75C54C}"/>
              </a:ext>
            </a:extLst>
          </p:cNvPr>
          <p:cNvSpPr>
            <a:spLocks noGrp="1"/>
          </p:cNvSpPr>
          <p:nvPr/>
        </p:nvSpPr>
        <p:spPr>
          <a:xfrm>
            <a:off x="5943600" y="2381250"/>
            <a:ext cx="5686425" cy="3048000"/>
          </a:xfrm>
          <a:prstGeom prst="roundRect">
            <a:avLst>
              <a:gd name="adj" fmla="val 2500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19" name="slide4-rmsd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56521" y="2476500"/>
            <a:ext cx="4660583" cy="266319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00CE2A-F7F4-4D0F-9ACB-3045A3B9A189}"/>
              </a:ext>
            </a:extLst>
          </p:cNvPr>
          <p:cNvSpPr>
            <a:spLocks noGrp="1"/>
          </p:cNvSpPr>
          <p:nvPr/>
        </p:nvSpPr>
        <p:spPr>
          <a:xfrm>
            <a:off x="6057900" y="5200650"/>
            <a:ext cx="54673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 dirty="0">
                <a:solidFill>
                  <a:srgbClr val="65747C"/>
                </a:solidFill>
              </a:rPr>
              <a:t>RMSD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F595EB-E5F3-4343-A303-018D57BBADCA}"/>
              </a:ext>
            </a:extLst>
          </p:cNvPr>
          <p:cNvSpPr>
            <a:spLocks noGrp="1"/>
          </p:cNvSpPr>
          <p:nvPr/>
        </p:nvSpPr>
        <p:spPr>
          <a:xfrm>
            <a:off x="11801475" y="2381250"/>
            <a:ext cx="5686425" cy="3048000"/>
          </a:xfrm>
          <a:prstGeom prst="roundRect">
            <a:avLst>
              <a:gd name="adj" fmla="val 2500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22" name="slide4-r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314396" y="2476500"/>
            <a:ext cx="4660583" cy="2663190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AB6E2F-FBBE-4780-91D6-74491C84521A}"/>
              </a:ext>
            </a:extLst>
          </p:cNvPr>
          <p:cNvSpPr>
            <a:spLocks noGrp="1"/>
          </p:cNvSpPr>
          <p:nvPr/>
        </p:nvSpPr>
        <p:spPr>
          <a:xfrm>
            <a:off x="11925300" y="5200650"/>
            <a:ext cx="54673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 dirty="0">
                <a:solidFill>
                  <a:srgbClr val="65747C"/>
                </a:solidFill>
              </a:rPr>
              <a:t>각 </a:t>
            </a:r>
            <a:r>
              <a:rPr sz="900" dirty="0" err="1">
                <a:solidFill>
                  <a:srgbClr val="65747C"/>
                </a:solidFill>
              </a:rPr>
              <a:t>방향별</a:t>
            </a:r>
            <a:r>
              <a:rPr sz="900" dirty="0">
                <a:solidFill>
                  <a:srgbClr val="65747C"/>
                </a:solidFill>
              </a:rPr>
              <a:t> </a:t>
            </a:r>
            <a:r>
              <a:rPr sz="900" dirty="0" err="1">
                <a:solidFill>
                  <a:srgbClr val="65747C"/>
                </a:solidFill>
              </a:rPr>
              <a:t>전체</a:t>
            </a:r>
            <a:r>
              <a:rPr sz="900" dirty="0">
                <a:solidFill>
                  <a:srgbClr val="65747C"/>
                </a:solidFill>
              </a:rPr>
              <a:t> </a:t>
            </a:r>
            <a:r>
              <a:rPr sz="900" dirty="0" err="1">
                <a:solidFill>
                  <a:srgbClr val="65747C"/>
                </a:solidFill>
              </a:rPr>
              <a:t>크기</a:t>
            </a:r>
            <a:r>
              <a:rPr sz="900" dirty="0">
                <a:solidFill>
                  <a:srgbClr val="65747C"/>
                </a:solidFill>
              </a:rPr>
              <a:t> </a:t>
            </a:r>
            <a:r>
              <a:rPr sz="900" dirty="0" err="1">
                <a:solidFill>
                  <a:srgbClr val="65747C"/>
                </a:solidFill>
              </a:rPr>
              <a:t>변화</a:t>
            </a:r>
            <a:r>
              <a:rPr sz="900" dirty="0">
                <a:solidFill>
                  <a:srgbClr val="65747C"/>
                </a:solidFill>
              </a:rPr>
              <a:t>(</a:t>
            </a:r>
            <a:r>
              <a:rPr sz="900" dirty="0" err="1">
                <a:solidFill>
                  <a:srgbClr val="65747C"/>
                </a:solidFill>
              </a:rPr>
              <a:t>Rg</a:t>
            </a:r>
            <a:r>
              <a:rPr sz="900" dirty="0">
                <a:solidFill>
                  <a:srgbClr val="65747C"/>
                </a:solidFill>
              </a:rPr>
              <a:t>)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31D613C-B810-47B0-B9E3-D1B7817D93B3}"/>
              </a:ext>
            </a:extLst>
          </p:cNvPr>
          <p:cNvSpPr>
            <a:spLocks noGrp="1"/>
          </p:cNvSpPr>
          <p:nvPr/>
        </p:nvSpPr>
        <p:spPr>
          <a:xfrm>
            <a:off x="5943600" y="5600700"/>
            <a:ext cx="5686425" cy="3048000"/>
          </a:xfrm>
          <a:prstGeom prst="roundRect">
            <a:avLst>
              <a:gd name="adj" fmla="val 2500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25" name="slide4-hbond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56521" y="5695950"/>
            <a:ext cx="4660583" cy="266319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9AE5EC82-AF06-446F-A8F8-9BE3DDA4305E}"/>
              </a:ext>
            </a:extLst>
          </p:cNvPr>
          <p:cNvSpPr>
            <a:spLocks noGrp="1"/>
          </p:cNvSpPr>
          <p:nvPr/>
        </p:nvSpPr>
        <p:spPr>
          <a:xfrm>
            <a:off x="6057900" y="8420100"/>
            <a:ext cx="54673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 dirty="0">
                <a:solidFill>
                  <a:srgbClr val="65747C"/>
                </a:solidFill>
              </a:rPr>
              <a:t>H-bond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0E80E64-D1F9-40AE-8FA0-DB498AF79DDF}"/>
              </a:ext>
            </a:extLst>
          </p:cNvPr>
          <p:cNvSpPr>
            <a:spLocks noGrp="1"/>
          </p:cNvSpPr>
          <p:nvPr/>
        </p:nvSpPr>
        <p:spPr>
          <a:xfrm>
            <a:off x="11801475" y="5600700"/>
            <a:ext cx="5686425" cy="3048000"/>
          </a:xfrm>
          <a:prstGeom prst="roundRect">
            <a:avLst>
              <a:gd name="adj" fmla="val 2500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28" name="slide4-score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314396" y="5695950"/>
            <a:ext cx="4660583" cy="266319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D04A44-C789-4E40-AB20-F17EFC86B969}"/>
              </a:ext>
            </a:extLst>
          </p:cNvPr>
          <p:cNvSpPr>
            <a:spLocks noGrp="1"/>
          </p:cNvSpPr>
          <p:nvPr/>
        </p:nvSpPr>
        <p:spPr>
          <a:xfrm>
            <a:off x="11925300" y="8420100"/>
            <a:ext cx="54673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현재 지표를 합친 방향 점수</a:t>
            </a:r>
          </a:p>
        </p:txBody>
      </p:sp>
      <p:sp>
        <p:nvSpPr>
          <p:cNvPr id="30" name="footer-label-04 / 09">
            <a:extLst>
              <a:ext uri="{FF2B5EF4-FFF2-40B4-BE49-F238E27FC236}">
                <a16:creationId xmlns:a16="http://schemas.microsoft.com/office/drawing/2014/main" id="{EE143AC5-8100-42BD-B80B-ECD577E77B03}"/>
              </a:ext>
            </a:extLst>
          </p:cNvPr>
          <p:cNvSpPr>
            <a:spLocks noGrp="1"/>
          </p:cNvSpPr>
          <p:nvPr/>
        </p:nvSpPr>
        <p:spPr>
          <a:xfrm>
            <a:off x="800100" y="95821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>
              <a:ext uri="{FF2B5EF4-FFF2-40B4-BE49-F238E27FC236}">
                <a16:creationId xmlns:a16="http://schemas.microsoft.com/office/drawing/2014/main" id="{570132A6-1B1C-4EF0-8BEA-7CF83AAC5C2E}"/>
              </a:ext>
            </a:extLst>
          </p:cNvPr>
          <p:cNvSpPr>
            <a:spLocks noGrp="1"/>
          </p:cNvSpPr>
          <p:nvPr/>
        </p:nvSpPr>
        <p:spPr>
          <a:xfrm>
            <a:off x="14077950" y="9544050"/>
            <a:ext cx="3409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02_orientation_metrics/orientation_comparison_table.csv, figures/</a:t>
            </a:r>
          </a:p>
        </p:txBody>
      </p:sp>
    </p:spTree>
    <p:extLst>
      <p:ext uri="{BB962C8B-B14F-4D97-AF65-F5344CB8AC3E}">
        <p14:creationId xmlns:p14="http://schemas.microsoft.com/office/powerpoint/2010/main" val="131580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yebrow">
            <a:extLst>
              <a:ext uri="{FF2B5EF4-FFF2-40B4-BE49-F238E27FC236}">
                <a16:creationId xmlns:a16="http://schemas.microsoft.com/office/drawing/2014/main" id="{0B64150A-0A60-465D-86EC-AE429CC9A603}"/>
              </a:ext>
            </a:extLst>
          </p:cNvPr>
          <p:cNvSpPr>
            <a:spLocks noGrp="1"/>
          </p:cNvSpPr>
          <p:nvPr/>
        </p:nvSpPr>
        <p:spPr>
          <a:xfrm>
            <a:off x="800100" y="57150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200 ns 확인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D994097-08D8-4A9F-8C97-4B662324D345}"/>
              </a:ext>
            </a:extLst>
          </p:cNvPr>
          <p:cNvSpPr>
            <a:spLocks noGrp="1"/>
          </p:cNvSpPr>
          <p:nvPr/>
        </p:nvSpPr>
        <p:spPr>
          <a:xfrm>
            <a:off x="800100" y="895350"/>
            <a:ext cx="83820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최종 움직임 기록 파일을 확인했습니다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C1ED93B6-9C18-4970-B174-D439D72ECD62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12325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trajectory는 단백질이 시간에 따라 어떻게 움직였는지 저장한 기록입니다. 이번에는 +10° 모델의 200 ns 기록을 확인했습니다.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0D3EC41-DD0B-4853-92F0-3065D7FE8F7E}"/>
              </a:ext>
            </a:extLst>
          </p:cNvPr>
          <p:cNvSpPr>
            <a:spLocks noGrp="1"/>
          </p:cNvSpPr>
          <p:nvPr/>
        </p:nvSpPr>
        <p:spPr>
          <a:xfrm>
            <a:off x="800100" y="2663190"/>
            <a:ext cx="4043363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58765F-1F0F-4AF1-B041-1A82B33F67D2}"/>
              </a:ext>
            </a:extLst>
          </p:cNvPr>
          <p:cNvSpPr>
            <a:spLocks noGrp="1"/>
          </p:cNvSpPr>
          <p:nvPr/>
        </p:nvSpPr>
        <p:spPr>
          <a:xfrm>
            <a:off x="1028700" y="2857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원자 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BB0EF5-7175-4211-AC8F-4AA0CD1BED29}"/>
              </a:ext>
            </a:extLst>
          </p:cNvPr>
          <p:cNvSpPr>
            <a:spLocks noGrp="1"/>
          </p:cNvSpPr>
          <p:nvPr/>
        </p:nvSpPr>
        <p:spPr>
          <a:xfrm>
            <a:off x="1028700" y="3086100"/>
            <a:ext cx="35814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9C6C2A-D7A7-4F98-88B2-F01794CBA132}"/>
              </a:ext>
            </a:extLst>
          </p:cNvPr>
          <p:cNvSpPr>
            <a:spLocks noGrp="1"/>
          </p:cNvSpPr>
          <p:nvPr/>
        </p:nvSpPr>
        <p:spPr>
          <a:xfrm>
            <a:off x="1028700" y="3619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물 분자를 뺀 최종 시스템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F670192-9C29-468A-90A1-B4EAEEEFC917}"/>
              </a:ext>
            </a:extLst>
          </p:cNvPr>
          <p:cNvSpPr>
            <a:spLocks noGrp="1"/>
          </p:cNvSpPr>
          <p:nvPr/>
        </p:nvSpPr>
        <p:spPr>
          <a:xfrm>
            <a:off x="5014913" y="2663190"/>
            <a:ext cx="4043363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993B20-69B7-4B3B-AA40-B7505893E34F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lang="en-US" sz="1125" b="1" dirty="0">
                <a:solidFill>
                  <a:srgbClr val="65747C"/>
                </a:solidFill>
              </a:rPr>
              <a:t>FRAME</a:t>
            </a:r>
            <a:endParaRPr sz="1125" b="1" dirty="0">
              <a:solidFill>
                <a:srgbClr val="65747C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8777CC-CCF6-4F95-910E-CAAAB62E8359}"/>
              </a:ext>
            </a:extLst>
          </p:cNvPr>
          <p:cNvSpPr>
            <a:spLocks noGrp="1"/>
          </p:cNvSpPr>
          <p:nvPr/>
        </p:nvSpPr>
        <p:spPr>
          <a:xfrm>
            <a:off x="5238750" y="3086100"/>
            <a:ext cx="35814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26CCFF-1F5F-4AF0-9868-E2E0BCC2C690}"/>
              </a:ext>
            </a:extLst>
          </p:cNvPr>
          <p:cNvSpPr>
            <a:spLocks noGrp="1"/>
          </p:cNvSpPr>
          <p:nvPr/>
        </p:nvSpPr>
        <p:spPr>
          <a:xfrm>
            <a:off x="5238750" y="3619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시간별로 저장된 구조 장면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D2C5567-D8BD-4252-9926-D582A69690F8}"/>
              </a:ext>
            </a:extLst>
          </p:cNvPr>
          <p:cNvSpPr>
            <a:spLocks noGrp="1"/>
          </p:cNvSpPr>
          <p:nvPr/>
        </p:nvSpPr>
        <p:spPr>
          <a:xfrm>
            <a:off x="9229725" y="2663190"/>
            <a:ext cx="4043363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0C713F-F7DF-43C5-8DC7-D49BA19AF2D0}"/>
              </a:ext>
            </a:extLst>
          </p:cNvPr>
          <p:cNvSpPr>
            <a:spLocks noGrp="1"/>
          </p:cNvSpPr>
          <p:nvPr/>
        </p:nvSpPr>
        <p:spPr>
          <a:xfrm>
            <a:off x="9467850" y="2857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확인한 시간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4AFD2F-4FBD-40E5-BCE3-D381FAF29738}"/>
              </a:ext>
            </a:extLst>
          </p:cNvPr>
          <p:cNvSpPr>
            <a:spLocks noGrp="1"/>
          </p:cNvSpPr>
          <p:nvPr/>
        </p:nvSpPr>
        <p:spPr>
          <a:xfrm>
            <a:off x="9467850" y="3086100"/>
            <a:ext cx="35814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E82B51-CDC7-4CEE-A3C5-BAD6784AE538}"/>
              </a:ext>
            </a:extLst>
          </p:cNvPr>
          <p:cNvSpPr>
            <a:spLocks noGrp="1"/>
          </p:cNvSpPr>
          <p:nvPr/>
        </p:nvSpPr>
        <p:spPr>
          <a:xfrm>
            <a:off x="9467850" y="3619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ns는 아주 짧은 시간 단위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49AFB55-32FA-4439-BBC6-99B8A763DF8D}"/>
              </a:ext>
            </a:extLst>
          </p:cNvPr>
          <p:cNvSpPr>
            <a:spLocks noGrp="1"/>
          </p:cNvSpPr>
          <p:nvPr/>
        </p:nvSpPr>
        <p:spPr>
          <a:xfrm>
            <a:off x="13444538" y="2663190"/>
            <a:ext cx="4043363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79A561-8064-447C-AA35-43666E973340}"/>
              </a:ext>
            </a:extLst>
          </p:cNvPr>
          <p:cNvSpPr>
            <a:spLocks noGrp="1"/>
          </p:cNvSpPr>
          <p:nvPr/>
        </p:nvSpPr>
        <p:spPr>
          <a:xfrm>
            <a:off x="13677900" y="2857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검사 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737D00-1587-4E14-87C1-0170A2AFD0D9}"/>
              </a:ext>
            </a:extLst>
          </p:cNvPr>
          <p:cNvSpPr>
            <a:spLocks noGrp="1"/>
          </p:cNvSpPr>
          <p:nvPr/>
        </p:nvSpPr>
        <p:spPr>
          <a:xfrm>
            <a:off x="13677900" y="3086100"/>
            <a:ext cx="35814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48E92B-9F0C-4E0D-AD74-9DDF76979D31}"/>
              </a:ext>
            </a:extLst>
          </p:cNvPr>
          <p:cNvSpPr>
            <a:spLocks noGrp="1"/>
          </p:cNvSpPr>
          <p:nvPr/>
        </p:nvSpPr>
        <p:spPr>
          <a:xfrm>
            <a:off x="13677900" y="3619500"/>
            <a:ext cx="3581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분석에 사용할 수 있는 상태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639C146-2473-4E49-BAD2-8860B95B7918}"/>
              </a:ext>
            </a:extLst>
          </p:cNvPr>
          <p:cNvSpPr>
            <a:spLocks noGrp="1"/>
          </p:cNvSpPr>
          <p:nvPr/>
        </p:nvSpPr>
        <p:spPr>
          <a:xfrm>
            <a:off x="800100" y="4349115"/>
            <a:ext cx="5448300" cy="3937635"/>
          </a:xfrm>
          <a:prstGeom prst="roundRect">
            <a:avLst>
              <a:gd name="adj" fmla="val 1935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21" name="slide5-kd-distanc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4828858"/>
            <a:ext cx="5219700" cy="278384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C5BA54-E3A6-49C8-9AE6-FEC6A46E3C1A}"/>
              </a:ext>
            </a:extLst>
          </p:cNvPr>
          <p:cNvSpPr>
            <a:spLocks noGrp="1"/>
          </p:cNvSpPr>
          <p:nvPr/>
        </p:nvSpPr>
        <p:spPr>
          <a:xfrm>
            <a:off x="914400" y="8058150"/>
            <a:ext cx="521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 부분이 막에서 얼마나 떨어져 있는지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76A7C3D-9A87-407D-9148-BD8A0F7EC3FD}"/>
              </a:ext>
            </a:extLst>
          </p:cNvPr>
          <p:cNvSpPr>
            <a:spLocks noGrp="1"/>
          </p:cNvSpPr>
          <p:nvPr/>
        </p:nvSpPr>
        <p:spPr>
          <a:xfrm>
            <a:off x="6419850" y="4349115"/>
            <a:ext cx="5448300" cy="3937635"/>
          </a:xfrm>
          <a:prstGeom prst="roundRect">
            <a:avLst>
              <a:gd name="adj" fmla="val 1935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24" name="slide5-contacts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34150" y="4828858"/>
            <a:ext cx="5219700" cy="278384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0AB4A6-2FEF-4765-86FC-BF0A6027731A}"/>
              </a:ext>
            </a:extLst>
          </p:cNvPr>
          <p:cNvSpPr>
            <a:spLocks noGrp="1"/>
          </p:cNvSpPr>
          <p:nvPr/>
        </p:nvSpPr>
        <p:spPr>
          <a:xfrm>
            <a:off x="6534150" y="8058150"/>
            <a:ext cx="521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EGFR 두 가닥이 서로 얼마나 닿아 있는지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2FC3122-5ECE-48C1-8783-43E695598670}"/>
              </a:ext>
            </a:extLst>
          </p:cNvPr>
          <p:cNvSpPr>
            <a:spLocks noGrp="1"/>
          </p:cNvSpPr>
          <p:nvPr/>
        </p:nvSpPr>
        <p:spPr>
          <a:xfrm>
            <a:off x="12039600" y="4349115"/>
            <a:ext cx="5448300" cy="3937635"/>
          </a:xfrm>
          <a:prstGeom prst="roundRect">
            <a:avLst>
              <a:gd name="adj" fmla="val 1935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27" name="slide5-tm-kd-tilt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153900" y="4828858"/>
            <a:ext cx="5219700" cy="278384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3F0A65-7E46-4765-9414-BAE81385EF3F}"/>
              </a:ext>
            </a:extLst>
          </p:cNvPr>
          <p:cNvSpPr>
            <a:spLocks noGrp="1"/>
          </p:cNvSpPr>
          <p:nvPr/>
        </p:nvSpPr>
        <p:spPr>
          <a:xfrm>
            <a:off x="12153900" y="8058150"/>
            <a:ext cx="5219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막 부분과 KD 부분의 각도 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21767A-592A-4637-844A-25AC779360AC}"/>
              </a:ext>
            </a:extLst>
          </p:cNvPr>
          <p:cNvSpPr>
            <a:spLocks noGrp="1"/>
          </p:cNvSpPr>
          <p:nvPr/>
        </p:nvSpPr>
        <p:spPr>
          <a:xfrm>
            <a:off x="800100" y="8496300"/>
            <a:ext cx="16687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사용한 최종 파일: EGFR_plus10_step7_production_nw.gro + EGFR_plus10_step7_200ns_nw.xtc. 다른 full_200ns.xtc 파일은 최종 근거로 쓰지 않았습니다.</a:t>
            </a:r>
          </a:p>
        </p:txBody>
      </p:sp>
      <p:sp>
        <p:nvSpPr>
          <p:cNvPr id="30" name="footer-label-05 / 09">
            <a:extLst>
              <a:ext uri="{FF2B5EF4-FFF2-40B4-BE49-F238E27FC236}">
                <a16:creationId xmlns:a16="http://schemas.microsoft.com/office/drawing/2014/main" id="{26E4F863-B74E-4415-A5D1-6500B0CABB40}"/>
              </a:ext>
            </a:extLst>
          </p:cNvPr>
          <p:cNvSpPr>
            <a:spLocks noGrp="1"/>
          </p:cNvSpPr>
          <p:nvPr/>
        </p:nvSpPr>
        <p:spPr>
          <a:xfrm>
            <a:off x="800100" y="95821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>
              <a:ext uri="{FF2B5EF4-FFF2-40B4-BE49-F238E27FC236}">
                <a16:creationId xmlns:a16="http://schemas.microsoft.com/office/drawing/2014/main" id="{CDB3909B-4D26-436C-B91B-1B5667D8EDDE}"/>
              </a:ext>
            </a:extLst>
          </p:cNvPr>
          <p:cNvSpPr>
            <a:spLocks noGrp="1"/>
          </p:cNvSpPr>
          <p:nvPr/>
        </p:nvSpPr>
        <p:spPr>
          <a:xfrm>
            <a:off x="14077950" y="9544050"/>
            <a:ext cx="3409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gmx_check_EGFR_plus10_step7_200ns_nw.txt,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165066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3DD08A73-2B0F-4037-97BA-61E025397DD5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구조 그림으로 확인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F9297D2-6199-4036-AD75-43DD6BE5EFD3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85725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32026"/>
                </a:solidFill>
              </a:defRPr>
            </a:pPr>
            <a:r>
              <a:rPr sz="3450" b="1">
                <a:solidFill>
                  <a:srgbClr val="132026"/>
                </a:solidFill>
              </a:rPr>
              <a:t>EGFR 구조 그림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5308F6B5-FD6B-4939-9E53-A2ED6FC9AB1B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9734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아래 그림은 실제 PDB 좌표를 간단히 그린 overview입니다. 현재 진행 상황 설명용으로 사용합니다.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81A4595-9C3F-4166-BB0E-063C2FE9E65A}"/>
              </a:ext>
            </a:extLst>
          </p:cNvPr>
          <p:cNvSpPr>
            <a:spLocks noGrp="1"/>
          </p:cNvSpPr>
          <p:nvPr/>
        </p:nvSpPr>
        <p:spPr>
          <a:xfrm>
            <a:off x="800100" y="2019300"/>
            <a:ext cx="5057775" cy="6629400"/>
          </a:xfrm>
          <a:prstGeom prst="roundRect">
            <a:avLst>
              <a:gd name="adj" fmla="val 1507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5" name="slide6-side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3684610"/>
            <a:ext cx="4829175" cy="310447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EE82C09-D958-47E2-8A06-4D26715ED67F}"/>
              </a:ext>
            </a:extLst>
          </p:cNvPr>
          <p:cNvSpPr>
            <a:spLocks noGrp="1"/>
          </p:cNvSpPr>
          <p:nvPr/>
        </p:nvSpPr>
        <p:spPr>
          <a:xfrm>
            <a:off x="914400" y="8420100"/>
            <a:ext cx="4838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옆에서 본 EGFR 모델과 막 위치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32FAB9E-1C6F-49F1-BC00-70909F89B3E8}"/>
              </a:ext>
            </a:extLst>
          </p:cNvPr>
          <p:cNvSpPr>
            <a:spLocks noGrp="1"/>
          </p:cNvSpPr>
          <p:nvPr/>
        </p:nvSpPr>
        <p:spPr>
          <a:xfrm>
            <a:off x="6029325" y="2019300"/>
            <a:ext cx="5057775" cy="6629400"/>
          </a:xfrm>
          <a:prstGeom prst="roundRect">
            <a:avLst>
              <a:gd name="adj" fmla="val 1507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8" name="slide6-top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43625" y="3684610"/>
            <a:ext cx="4829175" cy="310447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CBE4684-BFF0-443A-880C-22B76AB896AF}"/>
              </a:ext>
            </a:extLst>
          </p:cNvPr>
          <p:cNvSpPr>
            <a:spLocks noGrp="1"/>
          </p:cNvSpPr>
          <p:nvPr/>
        </p:nvSpPr>
        <p:spPr>
          <a:xfrm>
            <a:off x="6153150" y="8420100"/>
            <a:ext cx="48387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위에서 본 EGFR 두 가닥의 배치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AE399D-9D21-4475-8DD1-A5B9B953CD07}"/>
              </a:ext>
            </a:extLst>
          </p:cNvPr>
          <p:cNvSpPr>
            <a:spLocks noGrp="1"/>
          </p:cNvSpPr>
          <p:nvPr/>
        </p:nvSpPr>
        <p:spPr>
          <a:xfrm>
            <a:off x="11410950" y="2019300"/>
            <a:ext cx="800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쉽게 말하면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48898BE-280B-4364-A1EC-E6A1F6C5D427}"/>
              </a:ext>
            </a:extLst>
          </p:cNvPr>
          <p:cNvSpPr>
            <a:spLocks noGrp="1"/>
          </p:cNvSpPr>
          <p:nvPr/>
        </p:nvSpPr>
        <p:spPr>
          <a:xfrm>
            <a:off x="11410950" y="25336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02BF26-810D-4011-94B9-F7A1CC823E30}"/>
              </a:ext>
            </a:extLst>
          </p:cNvPr>
          <p:cNvSpPr>
            <a:spLocks noGrp="1"/>
          </p:cNvSpPr>
          <p:nvPr/>
        </p:nvSpPr>
        <p:spPr>
          <a:xfrm>
            <a:off x="11639550" y="2533650"/>
            <a:ext cx="58674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모델은 막 근처에서 EGFR 두 가닥이 같이 있는 모양을 유지합니다.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2B0A4F1-97CE-4155-AB91-136E4AE239DE}"/>
              </a:ext>
            </a:extLst>
          </p:cNvPr>
          <p:cNvSpPr>
            <a:spLocks noGrp="1"/>
          </p:cNvSpPr>
          <p:nvPr/>
        </p:nvSpPr>
        <p:spPr>
          <a:xfrm>
            <a:off x="11410950" y="32194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6A8FDF-9D7F-47CD-91E7-9A69EC224813}"/>
              </a:ext>
            </a:extLst>
          </p:cNvPr>
          <p:cNvSpPr>
            <a:spLocks noGrp="1"/>
          </p:cNvSpPr>
          <p:nvPr/>
        </p:nvSpPr>
        <p:spPr>
          <a:xfrm>
            <a:off x="11639550" y="3219450"/>
            <a:ext cx="58674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200 ns 확인 결과, 다음 MYO1D 분석에 넣을 후보로 쓸 수 있어 보입니다.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4D5E55-FD5E-40F0-8E74-0133AAA82CFB}"/>
              </a:ext>
            </a:extLst>
          </p:cNvPr>
          <p:cNvSpPr>
            <a:spLocks noGrp="1"/>
          </p:cNvSpPr>
          <p:nvPr/>
        </p:nvSpPr>
        <p:spPr>
          <a:xfrm>
            <a:off x="11410950" y="3893820"/>
            <a:ext cx="607695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E84323-07DF-4F21-B493-289B4CBA018C}"/>
              </a:ext>
            </a:extLst>
          </p:cNvPr>
          <p:cNvSpPr>
            <a:spLocks noGrp="1"/>
          </p:cNvSpPr>
          <p:nvPr/>
        </p:nvSpPr>
        <p:spPr>
          <a:xfrm>
            <a:off x="11639550" y="4076700"/>
            <a:ext cx="561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막과의 거리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20305A-5FE8-4538-940E-C0B3C60467C9}"/>
              </a:ext>
            </a:extLst>
          </p:cNvPr>
          <p:cNvSpPr>
            <a:spLocks noGrp="1"/>
          </p:cNvSpPr>
          <p:nvPr/>
        </p:nvSpPr>
        <p:spPr>
          <a:xfrm>
            <a:off x="11639550" y="4305300"/>
            <a:ext cx="5619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25.66 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BB5AF2B-D9AE-4AAA-9585-7957F9F09A65}"/>
              </a:ext>
            </a:extLst>
          </p:cNvPr>
          <p:cNvSpPr>
            <a:spLocks noGrp="1"/>
          </p:cNvSpPr>
          <p:nvPr/>
        </p:nvSpPr>
        <p:spPr>
          <a:xfrm>
            <a:off x="11639550" y="4857750"/>
            <a:ext cx="561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150-200 ns 구간 평균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81A0B0-55A6-442E-A15D-7EC7EE4676FB}"/>
              </a:ext>
            </a:extLst>
          </p:cNvPr>
          <p:cNvSpPr>
            <a:spLocks noGrp="1"/>
          </p:cNvSpPr>
          <p:nvPr/>
        </p:nvSpPr>
        <p:spPr>
          <a:xfrm>
            <a:off x="11410950" y="5522595"/>
            <a:ext cx="607695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C7E00A-9AEF-432C-9429-2AB80EA314DD}"/>
              </a:ext>
            </a:extLst>
          </p:cNvPr>
          <p:cNvSpPr>
            <a:spLocks noGrp="1"/>
          </p:cNvSpPr>
          <p:nvPr/>
        </p:nvSpPr>
        <p:spPr>
          <a:xfrm>
            <a:off x="11639550" y="5715000"/>
            <a:ext cx="561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두 가닥 접촉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CA6205-D787-4317-9D8C-26311299C9AC}"/>
              </a:ext>
            </a:extLst>
          </p:cNvPr>
          <p:cNvSpPr>
            <a:spLocks noGrp="1"/>
          </p:cNvSpPr>
          <p:nvPr/>
        </p:nvSpPr>
        <p:spPr>
          <a:xfrm>
            <a:off x="11639550" y="5943600"/>
            <a:ext cx="56197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505.28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7011FA-6F86-42EA-8921-7836CD76C305}"/>
              </a:ext>
            </a:extLst>
          </p:cNvPr>
          <p:cNvSpPr>
            <a:spLocks noGrp="1"/>
          </p:cNvSpPr>
          <p:nvPr/>
        </p:nvSpPr>
        <p:spPr>
          <a:xfrm>
            <a:off x="11639550" y="6477000"/>
            <a:ext cx="5619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서로 가까운 원자 접촉 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809622A-C21F-46E7-A0F7-76801604DE89}"/>
              </a:ext>
            </a:extLst>
          </p:cNvPr>
          <p:cNvSpPr>
            <a:spLocks noGrp="1"/>
          </p:cNvSpPr>
          <p:nvPr/>
        </p:nvSpPr>
        <p:spPr>
          <a:xfrm>
            <a:off x="11410950" y="7143750"/>
            <a:ext cx="6076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주의: 이 그림은 실제 좌표를 단순하게 그린 overview입니다. 더 예쁜 최종 그림은 PyMOL/ChimeraX로 나중에 만들 수 있습니다.</a:t>
            </a:r>
          </a:p>
        </p:txBody>
      </p:sp>
      <p:sp>
        <p:nvSpPr>
          <p:cNvPr id="24" name="footer-label-06 / 09">
            <a:extLst>
              <a:ext uri="{FF2B5EF4-FFF2-40B4-BE49-F238E27FC236}">
                <a16:creationId xmlns:a16="http://schemas.microsoft.com/office/drawing/2014/main" id="{92101F2C-6E4A-421E-8382-A88D225A7C89}"/>
              </a:ext>
            </a:extLst>
          </p:cNvPr>
          <p:cNvSpPr>
            <a:spLocks noGrp="1"/>
          </p:cNvSpPr>
          <p:nvPr/>
        </p:nvSpPr>
        <p:spPr>
          <a:xfrm>
            <a:off x="800100" y="95440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06 / 09</a:t>
            </a:r>
          </a:p>
        </p:txBody>
      </p:sp>
      <p:sp>
        <p:nvSpPr>
          <p:cNvPr id="25" name="footer-source-06 / 09">
            <a:extLst>
              <a:ext uri="{FF2B5EF4-FFF2-40B4-BE49-F238E27FC236}">
                <a16:creationId xmlns:a16="http://schemas.microsoft.com/office/drawing/2014/main" id="{074C082C-88F1-4B57-A3E2-6CA708B66DAF}"/>
              </a:ext>
            </a:extLst>
          </p:cNvPr>
          <p:cNvSpPr>
            <a:spLocks noGrp="1"/>
          </p:cNvSpPr>
          <p:nvPr/>
        </p:nvSpPr>
        <p:spPr>
          <a:xfrm>
            <a:off x="13068300" y="9563100"/>
            <a:ext cx="44196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EGFR_plus10_final_model_EGFR_rot10_best.pdb, membrane_stability_*_mdanalysis.csv</a:t>
            </a:r>
          </a:p>
        </p:txBody>
      </p:sp>
    </p:spTree>
    <p:extLst>
      <p:ext uri="{BB962C8B-B14F-4D97-AF65-F5344CB8AC3E}">
        <p14:creationId xmlns:p14="http://schemas.microsoft.com/office/powerpoint/2010/main" val="62539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7BAFE3E4-B9C9-4661-9C00-4626011CB9A5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대표 구조 찾기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F73C052-0467-4D15-9F87-532796C5363F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118110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대표 구조는 일부 찾았고, 마지막 구간은 확인 중입니다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8B04393C-58EE-40E1-BEBE-D40E285698C0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139446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clustering은 비슷한 구조끼리 묶어서 가장 대표적인 모양을 고르는 과정입니다. 80-100 ns 결과는 있지만 160-185 / 170-200 ns는 아직 확정하지 않았습니다.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7702243-3D1B-4816-8623-12E24A3346E5}"/>
              </a:ext>
            </a:extLst>
          </p:cNvPr>
          <p:cNvSpPr>
            <a:spLocks noGrp="1"/>
          </p:cNvSpPr>
          <p:nvPr/>
        </p:nvSpPr>
        <p:spPr>
          <a:xfrm>
            <a:off x="800100" y="2956560"/>
            <a:ext cx="8096250" cy="2760345"/>
          </a:xfrm>
          <a:prstGeom prst="roundRect">
            <a:avLst>
              <a:gd name="adj" fmla="val 276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5" name="slide7-population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7232" y="3051810"/>
            <a:ext cx="5621987" cy="23755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29199C1-EDAE-44A2-AD0B-865235727561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7867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ns에서 C1이 150/201장, 즉 74.6%를 차지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C0EBE0-A155-4B51-B500-DF0B598AC125}"/>
              </a:ext>
            </a:extLst>
          </p:cNvPr>
          <p:cNvSpPr>
            <a:spLocks noGrp="1"/>
          </p:cNvSpPr>
          <p:nvPr/>
        </p:nvSpPr>
        <p:spPr>
          <a:xfrm>
            <a:off x="800100" y="5888355"/>
            <a:ext cx="8096250" cy="2760345"/>
          </a:xfrm>
          <a:prstGeom prst="roundRect">
            <a:avLst>
              <a:gd name="adj" fmla="val 2761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pic>
        <p:nvPicPr>
          <p:cNvPr id="8" name="slide7-timeline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69371" y="5983605"/>
            <a:ext cx="6757708" cy="237553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A7F7B3B-B414-4B22-B299-4D8D2EDF57E8}"/>
              </a:ext>
            </a:extLst>
          </p:cNvPr>
          <p:cNvSpPr>
            <a:spLocks noGrp="1"/>
          </p:cNvSpPr>
          <p:nvPr/>
        </p:nvSpPr>
        <p:spPr>
          <a:xfrm>
            <a:off x="914400" y="8420100"/>
            <a:ext cx="78676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시간에 따라 어떤 cluster에 속했는지 표시; C1 대표 시간은 84.0 ns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761C62-9D6E-475C-86D5-EF77AF0B2164}"/>
              </a:ext>
            </a:extLst>
          </p:cNvPr>
          <p:cNvSpPr>
            <a:spLocks noGrp="1"/>
          </p:cNvSpPr>
          <p:nvPr/>
        </p:nvSpPr>
        <p:spPr>
          <a:xfrm>
            <a:off x="9239250" y="2952750"/>
            <a:ext cx="990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현재 확인 상태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5F6BA42-2EE0-406E-A2F3-CE5EAD316361}"/>
              </a:ext>
            </a:extLst>
          </p:cNvPr>
          <p:cNvSpPr>
            <a:spLocks noGrp="1"/>
          </p:cNvSpPr>
          <p:nvPr/>
        </p:nvSpPr>
        <p:spPr>
          <a:xfrm>
            <a:off x="9239250" y="3234690"/>
            <a:ext cx="8248650" cy="742950"/>
          </a:xfrm>
          <a:prstGeom prst="roundRect">
            <a:avLst>
              <a:gd name="adj" fmla="val 7692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46D347-7752-4F17-ACD1-43D7831BB427}"/>
              </a:ext>
            </a:extLst>
          </p:cNvPr>
          <p:cNvSpPr>
            <a:spLocks noGrp="1"/>
          </p:cNvSpPr>
          <p:nvPr/>
        </p:nvSpPr>
        <p:spPr>
          <a:xfrm>
            <a:off x="9410700" y="3505200"/>
            <a:ext cx="24288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80-100 ns C1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C56855-C540-48B7-8178-2E3820E8E7B6}"/>
              </a:ext>
            </a:extLst>
          </p:cNvPr>
          <p:cNvSpPr>
            <a:spLocks noGrp="1"/>
          </p:cNvSpPr>
          <p:nvPr/>
        </p:nvSpPr>
        <p:spPr>
          <a:xfrm>
            <a:off x="11982450" y="35242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150/201장이 C1, 대표 시간 84.0 ns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2C3CD4-E3D2-4435-951D-7FF635C3D5F8}"/>
              </a:ext>
            </a:extLst>
          </p:cNvPr>
          <p:cNvSpPr>
            <a:spLocks noGrp="1"/>
          </p:cNvSpPr>
          <p:nvPr/>
        </p:nvSpPr>
        <p:spPr>
          <a:xfrm>
            <a:off x="15259050" y="35242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참고 가능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C2D9187-B03A-4065-A1A2-E118FADACF05}"/>
              </a:ext>
            </a:extLst>
          </p:cNvPr>
          <p:cNvSpPr>
            <a:spLocks noGrp="1"/>
          </p:cNvSpPr>
          <p:nvPr/>
        </p:nvSpPr>
        <p:spPr>
          <a:xfrm>
            <a:off x="9239250" y="4072890"/>
            <a:ext cx="8248650" cy="742950"/>
          </a:xfrm>
          <a:prstGeom prst="roundRect">
            <a:avLst>
              <a:gd name="adj" fmla="val 7692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A01EF1-3737-4ABA-B344-608147CE2D6F}"/>
              </a:ext>
            </a:extLst>
          </p:cNvPr>
          <p:cNvSpPr>
            <a:spLocks noGrp="1"/>
          </p:cNvSpPr>
          <p:nvPr/>
        </p:nvSpPr>
        <p:spPr>
          <a:xfrm>
            <a:off x="9410700" y="4343400"/>
            <a:ext cx="24288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160-185 ns C1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E12002-322E-4275-89E4-130F7942FDB7}"/>
              </a:ext>
            </a:extLst>
          </p:cNvPr>
          <p:cNvSpPr>
            <a:spLocks noGrp="1"/>
          </p:cNvSpPr>
          <p:nvPr/>
        </p:nvSpPr>
        <p:spPr>
          <a:xfrm>
            <a:off x="11982450" y="43624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확인 summary를 찾지 못함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11CE57-831E-4099-9330-37A15DAD1B5D}"/>
              </a:ext>
            </a:extLst>
          </p:cNvPr>
          <p:cNvSpPr>
            <a:spLocks noGrp="1"/>
          </p:cNvSpPr>
          <p:nvPr/>
        </p:nvSpPr>
        <p:spPr>
          <a:xfrm>
            <a:off x="15259050" y="43624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아직 미확정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389793A-8DD8-4E07-801F-3A9D61625E31}"/>
              </a:ext>
            </a:extLst>
          </p:cNvPr>
          <p:cNvSpPr>
            <a:spLocks noGrp="1"/>
          </p:cNvSpPr>
          <p:nvPr/>
        </p:nvSpPr>
        <p:spPr>
          <a:xfrm>
            <a:off x="9239250" y="4911090"/>
            <a:ext cx="8248650" cy="742950"/>
          </a:xfrm>
          <a:prstGeom prst="roundRect">
            <a:avLst>
              <a:gd name="adj" fmla="val 7692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B0AE5A-1EEB-456D-B19E-851A05438501}"/>
              </a:ext>
            </a:extLst>
          </p:cNvPr>
          <p:cNvSpPr>
            <a:spLocks noGrp="1"/>
          </p:cNvSpPr>
          <p:nvPr/>
        </p:nvSpPr>
        <p:spPr>
          <a:xfrm>
            <a:off x="9410700" y="5181600"/>
            <a:ext cx="24288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170-200 ns C1/C2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5FAD95-A8BD-43CD-98F3-5074268CC7B1}"/>
              </a:ext>
            </a:extLst>
          </p:cNvPr>
          <p:cNvSpPr>
            <a:spLocks noGrp="1"/>
          </p:cNvSpPr>
          <p:nvPr/>
        </p:nvSpPr>
        <p:spPr>
          <a:xfrm>
            <a:off x="11982450" y="52006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확인 summary를 찾지 못함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880452-BB59-40A6-8BF3-4F46B08E7297}"/>
              </a:ext>
            </a:extLst>
          </p:cNvPr>
          <p:cNvSpPr>
            <a:spLocks noGrp="1"/>
          </p:cNvSpPr>
          <p:nvPr/>
        </p:nvSpPr>
        <p:spPr>
          <a:xfrm>
            <a:off x="15259050" y="52006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아직 미확정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4DB449C-7412-4158-B2F6-C0F48AB3114A}"/>
              </a:ext>
            </a:extLst>
          </p:cNvPr>
          <p:cNvSpPr>
            <a:spLocks noGrp="1"/>
          </p:cNvSpPr>
          <p:nvPr/>
        </p:nvSpPr>
        <p:spPr>
          <a:xfrm>
            <a:off x="9239250" y="5749290"/>
            <a:ext cx="8248650" cy="742950"/>
          </a:xfrm>
          <a:prstGeom prst="roundRect">
            <a:avLst>
              <a:gd name="adj" fmla="val 7692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A053E95-01C5-4DC7-89D5-B56F848E0688}"/>
              </a:ext>
            </a:extLst>
          </p:cNvPr>
          <p:cNvSpPr>
            <a:spLocks noGrp="1"/>
          </p:cNvSpPr>
          <p:nvPr/>
        </p:nvSpPr>
        <p:spPr>
          <a:xfrm>
            <a:off x="9410700" y="6019800"/>
            <a:ext cx="24288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EGFR_160-185.pdb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F03D27E-7C9F-44F2-95EF-6497B7C7A371}"/>
              </a:ext>
            </a:extLst>
          </p:cNvPr>
          <p:cNvSpPr>
            <a:spLocks noGrp="1"/>
          </p:cNvSpPr>
          <p:nvPr/>
        </p:nvSpPr>
        <p:spPr>
          <a:xfrm>
            <a:off x="11982450" y="60388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파일은 있지만 60-85 ns 폴더에 있음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41D38E-F189-434A-AFDA-D73DF2B77A4D}"/>
              </a:ext>
            </a:extLst>
          </p:cNvPr>
          <p:cNvSpPr>
            <a:spLocks noGrp="1"/>
          </p:cNvSpPr>
          <p:nvPr/>
        </p:nvSpPr>
        <p:spPr>
          <a:xfrm>
            <a:off x="15259050" y="60388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주의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37790FE-82A0-4816-A90D-5E9044527066}"/>
              </a:ext>
            </a:extLst>
          </p:cNvPr>
          <p:cNvSpPr>
            <a:spLocks noGrp="1"/>
          </p:cNvSpPr>
          <p:nvPr/>
        </p:nvSpPr>
        <p:spPr>
          <a:xfrm>
            <a:off x="9239250" y="6587490"/>
            <a:ext cx="8248650" cy="742950"/>
          </a:xfrm>
          <a:prstGeom prst="roundRect">
            <a:avLst>
              <a:gd name="adj" fmla="val 7692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667BB89-7BE1-4903-9E7F-D3D1C8C9B1A2}"/>
              </a:ext>
            </a:extLst>
          </p:cNvPr>
          <p:cNvSpPr>
            <a:spLocks noGrp="1"/>
          </p:cNvSpPr>
          <p:nvPr/>
        </p:nvSpPr>
        <p:spPr>
          <a:xfrm>
            <a:off x="9410700" y="6858000"/>
            <a:ext cx="2428875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EGFR_170-200.pdb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BBA307C-390F-483A-97D0-7FBF76F5B522}"/>
              </a:ext>
            </a:extLst>
          </p:cNvPr>
          <p:cNvSpPr>
            <a:spLocks noGrp="1"/>
          </p:cNvSpPr>
          <p:nvPr/>
        </p:nvSpPr>
        <p:spPr>
          <a:xfrm>
            <a:off x="11982450" y="6877050"/>
            <a:ext cx="3143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파일은 있지만 70-100 ns 폴더에 있음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67A65A-9B8F-4FC6-9501-E6D2BE2B940A}"/>
              </a:ext>
            </a:extLst>
          </p:cNvPr>
          <p:cNvSpPr>
            <a:spLocks noGrp="1"/>
          </p:cNvSpPr>
          <p:nvPr/>
        </p:nvSpPr>
        <p:spPr>
          <a:xfrm>
            <a:off x="15259050" y="68770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주의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025B724-F593-4431-B842-CE6544684110}"/>
              </a:ext>
            </a:extLst>
          </p:cNvPr>
          <p:cNvSpPr>
            <a:spLocks noGrp="1"/>
          </p:cNvSpPr>
          <p:nvPr/>
        </p:nvSpPr>
        <p:spPr>
          <a:xfrm>
            <a:off x="9239250" y="7429500"/>
            <a:ext cx="8248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쉽게 말하면: 80-100 ns 대표 구조는 보여줄 수 있지만, 마지막 160-200 ns 대표 구조는 아직 '확정'이라고 말하지 않습니다.</a:t>
            </a:r>
          </a:p>
        </p:txBody>
      </p:sp>
      <p:sp>
        <p:nvSpPr>
          <p:cNvPr id="32" name="footer-label-07 / 09">
            <a:extLst>
              <a:ext uri="{FF2B5EF4-FFF2-40B4-BE49-F238E27FC236}">
                <a16:creationId xmlns:a16="http://schemas.microsoft.com/office/drawing/2014/main" id="{EB9F9727-6BCC-4F79-A69F-F0D61FC7A170}"/>
              </a:ext>
            </a:extLst>
          </p:cNvPr>
          <p:cNvSpPr>
            <a:spLocks noGrp="1"/>
          </p:cNvSpPr>
          <p:nvPr/>
        </p:nvSpPr>
        <p:spPr>
          <a:xfrm>
            <a:off x="800100" y="95821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07 / 09</a:t>
            </a:r>
          </a:p>
        </p:txBody>
      </p:sp>
      <p:sp>
        <p:nvSpPr>
          <p:cNvPr id="33" name="footer-source-07 / 09">
            <a:extLst>
              <a:ext uri="{FF2B5EF4-FFF2-40B4-BE49-F238E27FC236}">
                <a16:creationId xmlns:a16="http://schemas.microsoft.com/office/drawing/2014/main" id="{658A893A-9B85-4189-8FF5-BD419B300760}"/>
              </a:ext>
            </a:extLst>
          </p:cNvPr>
          <p:cNvSpPr>
            <a:spLocks noGrp="1"/>
          </p:cNvSpPr>
          <p:nvPr/>
        </p:nvSpPr>
        <p:spPr>
          <a:xfrm>
            <a:off x="13696950" y="9544050"/>
            <a:ext cx="3790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4.+10_clustering/cluster_results/80-100ns_cut0.15, clustering audit reports</a:t>
            </a:r>
          </a:p>
        </p:txBody>
      </p:sp>
    </p:spTree>
    <p:extLst>
      <p:ext uri="{BB962C8B-B14F-4D97-AF65-F5344CB8AC3E}">
        <p14:creationId xmlns:p14="http://schemas.microsoft.com/office/powerpoint/2010/main" val="209638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yebrow">
            <a:extLst>
              <a:ext uri="{FF2B5EF4-FFF2-40B4-BE49-F238E27FC236}">
                <a16:creationId xmlns:a16="http://schemas.microsoft.com/office/drawing/2014/main" id="{E8E4A843-D3B5-43EF-8B93-4C822594B3CF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현재 상태 정리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004CF64-D643-4E57-8B79-283FDA669529}"/>
              </a:ext>
            </a:extLst>
          </p:cNvPr>
          <p:cNvSpPr>
            <a:spLocks noGrp="1"/>
          </p:cNvSpPr>
          <p:nvPr/>
        </p:nvSpPr>
        <p:spPr>
          <a:xfrm>
            <a:off x="800100" y="914400"/>
            <a:ext cx="43053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완료한 일과 남은 일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1F90CFB-7B39-4B5B-BA55-7235553E3370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76009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발표에서는 완료된 일, 확인 중인 일, 다음에 할 일을 나누어 보여주면 됩니다.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4A6826F-7D43-469B-B92D-B33E03816457}"/>
              </a:ext>
            </a:extLst>
          </p:cNvPr>
          <p:cNvSpPr>
            <a:spLocks noGrp="1"/>
          </p:cNvSpPr>
          <p:nvPr/>
        </p:nvSpPr>
        <p:spPr>
          <a:xfrm>
            <a:off x="800100" y="3013710"/>
            <a:ext cx="5422900" cy="4663440"/>
          </a:xfrm>
          <a:prstGeom prst="roundRect">
            <a:avLst>
              <a:gd name="adj" fmla="val 1634"/>
            </a:avLst>
          </a:prstGeom>
          <a:solidFill>
            <a:srgbClr val="E8F7F2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8D4961-211C-44B6-83EE-0F6D4F44C9B8}"/>
              </a:ext>
            </a:extLst>
          </p:cNvPr>
          <p:cNvSpPr>
            <a:spLocks noGrp="1"/>
          </p:cNvSpPr>
          <p:nvPr/>
        </p:nvSpPr>
        <p:spPr>
          <a:xfrm>
            <a:off x="1028700" y="3219450"/>
            <a:ext cx="11620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지금 말할 수 있음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2DF7C12-B6B5-44F9-8871-CC689596F712}"/>
              </a:ext>
            </a:extLst>
          </p:cNvPr>
          <p:cNvSpPr>
            <a:spLocks noGrp="1"/>
          </p:cNvSpPr>
          <p:nvPr/>
        </p:nvSpPr>
        <p:spPr>
          <a:xfrm>
            <a:off x="1028700" y="37528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42CE49-84D9-4225-98CF-76936165F0DA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 기본 모델을 만들었습니다.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6D2C877-173F-4A97-9913-AD9D33F75376}"/>
              </a:ext>
            </a:extLst>
          </p:cNvPr>
          <p:cNvSpPr>
            <a:spLocks noGrp="1"/>
          </p:cNvSpPr>
          <p:nvPr/>
        </p:nvSpPr>
        <p:spPr>
          <a:xfrm>
            <a:off x="1028700" y="41910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A55C29-5FD3-4FBD-923B-63DABF689947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방향 모델을 현재 후보로 골랐습니다.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CC6B099-E2FD-45A9-8895-B978BE968FB6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42B75F-232D-4914-8DB5-3BD943FDD645}"/>
              </a:ext>
            </a:extLst>
          </p:cNvPr>
          <p:cNvSpPr>
            <a:spLocks noGrp="1"/>
          </p:cNvSpPr>
          <p:nvPr/>
        </p:nvSpPr>
        <p:spPr>
          <a:xfrm>
            <a:off x="1257300" y="462915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200 ns 움직임 기록 파일을 확인했습니다.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ACDA87F-5842-4110-B0AF-FF6DCC9CC745}"/>
              </a:ext>
            </a:extLst>
          </p:cNvPr>
          <p:cNvSpPr>
            <a:spLocks noGrp="1"/>
          </p:cNvSpPr>
          <p:nvPr/>
        </p:nvSpPr>
        <p:spPr>
          <a:xfrm>
            <a:off x="1028700" y="50673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42935D-493D-4149-845E-9C60FF527954}"/>
              </a:ext>
            </a:extLst>
          </p:cNvPr>
          <p:cNvSpPr>
            <a:spLocks noGrp="1"/>
          </p:cNvSpPr>
          <p:nvPr/>
        </p:nvSpPr>
        <p:spPr>
          <a:xfrm>
            <a:off x="1257300" y="5067300"/>
            <a:ext cx="47434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막과 거리, 두 가닥 접촉 같은 지표를 계산했습니다.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205CC1A-75BA-4BFA-A4A8-930133A6E7E6}"/>
              </a:ext>
            </a:extLst>
          </p:cNvPr>
          <p:cNvSpPr>
            <a:spLocks noGrp="1"/>
          </p:cNvSpPr>
          <p:nvPr/>
        </p:nvSpPr>
        <p:spPr>
          <a:xfrm>
            <a:off x="6432550" y="3013710"/>
            <a:ext cx="5422900" cy="4663440"/>
          </a:xfrm>
          <a:prstGeom prst="roundRect">
            <a:avLst>
              <a:gd name="adj" fmla="val 1634"/>
            </a:avLst>
          </a:prstGeom>
          <a:solidFill>
            <a:srgbClr val="FFF8EE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9D41E5-7477-4A08-86CB-A0EA232EB276}"/>
              </a:ext>
            </a:extLst>
          </p:cNvPr>
          <p:cNvSpPr>
            <a:spLocks noGrp="1"/>
          </p:cNvSpPr>
          <p:nvPr/>
        </p:nvSpPr>
        <p:spPr>
          <a:xfrm>
            <a:off x="6667500" y="3219450"/>
            <a:ext cx="990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아직 확인 필요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1883EC-588A-451C-82C0-F3D36DB80C2D}"/>
              </a:ext>
            </a:extLst>
          </p:cNvPr>
          <p:cNvSpPr>
            <a:spLocks noGrp="1"/>
          </p:cNvSpPr>
          <p:nvPr/>
        </p:nvSpPr>
        <p:spPr>
          <a:xfrm>
            <a:off x="6667500" y="35814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9814F9-926E-4EF9-8EF5-025A11C5DA8C}"/>
              </a:ext>
            </a:extLst>
          </p:cNvPr>
          <p:cNvSpPr>
            <a:spLocks noGrp="1"/>
          </p:cNvSpPr>
          <p:nvPr/>
        </p:nvSpPr>
        <p:spPr>
          <a:xfrm>
            <a:off x="6877050" y="3581400"/>
            <a:ext cx="47434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160-185 / 170-200 ns 대표 구조는 아직 확정하지 않았습니다.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013D92-C698-4ACE-856E-87B8A9A44A0D}"/>
              </a:ext>
            </a:extLst>
          </p:cNvPr>
          <p:cNvSpPr>
            <a:spLocks noGrp="1"/>
          </p:cNvSpPr>
          <p:nvPr/>
        </p:nvSpPr>
        <p:spPr>
          <a:xfrm>
            <a:off x="6667500" y="42672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418C5D-142A-4587-9506-D2A38039FC60}"/>
              </a:ext>
            </a:extLst>
          </p:cNvPr>
          <p:cNvSpPr>
            <a:spLocks noGrp="1"/>
          </p:cNvSpPr>
          <p:nvPr/>
        </p:nvSpPr>
        <p:spPr>
          <a:xfrm>
            <a:off x="6877050" y="4267200"/>
            <a:ext cx="47434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파일 이름만 보고 마지막 구간 대표 구조라고 말하면 안 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88F0761-E3D8-4909-BAE5-4A78A2009C78}"/>
              </a:ext>
            </a:extLst>
          </p:cNvPr>
          <p:cNvSpPr>
            <a:spLocks noGrp="1"/>
          </p:cNvSpPr>
          <p:nvPr/>
        </p:nvSpPr>
        <p:spPr>
          <a:xfrm>
            <a:off x="6667500" y="49720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E90594-E55E-4D24-9A13-C28BF19D7DC2}"/>
              </a:ext>
            </a:extLst>
          </p:cNvPr>
          <p:cNvSpPr>
            <a:spLocks noGrp="1"/>
          </p:cNvSpPr>
          <p:nvPr/>
        </p:nvSpPr>
        <p:spPr>
          <a:xfrm>
            <a:off x="6877050" y="4972050"/>
            <a:ext cx="47434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더 예쁜 구조 그림은 나중에 PyMOL/ChimeraX로 만들 수 있습니다.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4126EF7-A105-4281-B19F-A77EB9658F31}"/>
              </a:ext>
            </a:extLst>
          </p:cNvPr>
          <p:cNvSpPr>
            <a:spLocks noGrp="1"/>
          </p:cNvSpPr>
          <p:nvPr/>
        </p:nvSpPr>
        <p:spPr>
          <a:xfrm>
            <a:off x="6667500" y="56769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D4566C-3B5B-4405-A3DD-B6739B1D3334}"/>
              </a:ext>
            </a:extLst>
          </p:cNvPr>
          <p:cNvSpPr>
            <a:spLocks noGrp="1"/>
          </p:cNvSpPr>
          <p:nvPr/>
        </p:nvSpPr>
        <p:spPr>
          <a:xfrm>
            <a:off x="6877050" y="567690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일부 연결부 제작 과정은 추가 확인이 필요합니다.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546E503-63D9-42E1-ADDC-DB2C3BD5F7EE}"/>
              </a:ext>
            </a:extLst>
          </p:cNvPr>
          <p:cNvSpPr>
            <a:spLocks noGrp="1"/>
          </p:cNvSpPr>
          <p:nvPr/>
        </p:nvSpPr>
        <p:spPr>
          <a:xfrm>
            <a:off x="12065000" y="3013710"/>
            <a:ext cx="5422900" cy="4663440"/>
          </a:xfrm>
          <a:prstGeom prst="roundRect">
            <a:avLst>
              <a:gd name="adj" fmla="val 1634"/>
            </a:avLst>
          </a:prstGeom>
          <a:solidFill>
            <a:srgbClr val="E8F5F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70D3CA-82EB-4EA0-AF30-F2E33A343AD3}"/>
              </a:ext>
            </a:extLst>
          </p:cNvPr>
          <p:cNvSpPr>
            <a:spLocks noGrp="1"/>
          </p:cNvSpPr>
          <p:nvPr/>
        </p:nvSpPr>
        <p:spPr>
          <a:xfrm>
            <a:off x="12287250" y="3219450"/>
            <a:ext cx="647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다음 단계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8E03F0C-CAB2-4425-8735-5AC429C3D07C}"/>
              </a:ext>
            </a:extLst>
          </p:cNvPr>
          <p:cNvSpPr>
            <a:spLocks noGrp="1"/>
          </p:cNvSpPr>
          <p:nvPr/>
        </p:nvSpPr>
        <p:spPr>
          <a:xfrm>
            <a:off x="12287250" y="37528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B3AE2D1-62A6-437A-AA2E-F0181E8135C0}"/>
              </a:ext>
            </a:extLst>
          </p:cNvPr>
          <p:cNvSpPr>
            <a:spLocks noGrp="1"/>
          </p:cNvSpPr>
          <p:nvPr/>
        </p:nvSpPr>
        <p:spPr>
          <a:xfrm>
            <a:off x="12515850" y="375285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MYO1D를 EGFR에 붙여보는 docking.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CE2F2A4-F5C9-4BB5-88B1-77C84C849D2B}"/>
              </a:ext>
            </a:extLst>
          </p:cNvPr>
          <p:cNvSpPr>
            <a:spLocks noGrp="1"/>
          </p:cNvSpPr>
          <p:nvPr/>
        </p:nvSpPr>
        <p:spPr>
          <a:xfrm>
            <a:off x="12287250" y="41910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0F4D281-E9D0-4D9A-8984-ECA9EE98A556}"/>
              </a:ext>
            </a:extLst>
          </p:cNvPr>
          <p:cNvSpPr>
            <a:spLocks noGrp="1"/>
          </p:cNvSpPr>
          <p:nvPr/>
        </p:nvSpPr>
        <p:spPr>
          <a:xfrm>
            <a:off x="12515850" y="419100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MYO1D가 닿는 EGFR 위치 찾기.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4EAB7FC-0DEF-4E19-A47E-0F6F6896A43E}"/>
              </a:ext>
            </a:extLst>
          </p:cNvPr>
          <p:cNvSpPr>
            <a:spLocks noGrp="1"/>
          </p:cNvSpPr>
          <p:nvPr/>
        </p:nvSpPr>
        <p:spPr>
          <a:xfrm>
            <a:off x="12287250" y="46291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B7DBDE5-D0A6-4494-A8C7-32FC036639F5}"/>
              </a:ext>
            </a:extLst>
          </p:cNvPr>
          <p:cNvSpPr>
            <a:spLocks noGrp="1"/>
          </p:cNvSpPr>
          <p:nvPr/>
        </p:nvSpPr>
        <p:spPr>
          <a:xfrm>
            <a:off x="12515850" y="462915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약물이 들어갈 만한 작은 홈 찾기.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8FB72E9-D6BB-49E4-B734-1EAD7839E1D9}"/>
              </a:ext>
            </a:extLst>
          </p:cNvPr>
          <p:cNvSpPr>
            <a:spLocks noGrp="1"/>
          </p:cNvSpPr>
          <p:nvPr/>
        </p:nvSpPr>
        <p:spPr>
          <a:xfrm>
            <a:off x="12287250" y="50673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2D32438-139B-4355-9992-2C511E920F7B}"/>
              </a:ext>
            </a:extLst>
          </p:cNvPr>
          <p:cNvSpPr>
            <a:spLocks noGrp="1"/>
          </p:cNvSpPr>
          <p:nvPr/>
        </p:nvSpPr>
        <p:spPr>
          <a:xfrm>
            <a:off x="12515850" y="5067300"/>
            <a:ext cx="4743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대표 구조가 정해진 뒤 화합물 docking.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9A2CBA-E449-45C6-B250-5169CB22B9E2}"/>
              </a:ext>
            </a:extLst>
          </p:cNvPr>
          <p:cNvSpPr>
            <a:spLocks noGrp="1"/>
          </p:cNvSpPr>
          <p:nvPr/>
        </p:nvSpPr>
        <p:spPr>
          <a:xfrm>
            <a:off x="800100" y="7943850"/>
            <a:ext cx="16687800" cy="704850"/>
          </a:xfrm>
          <a:prstGeom prst="roundRect">
            <a:avLst>
              <a:gd name="adj" fmla="val 10811"/>
            </a:avLst>
          </a:prstGeom>
          <a:solidFill>
            <a:srgbClr val="0B263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935EEA8-92D5-49EA-BA8F-30C49DFB207F}"/>
              </a:ext>
            </a:extLst>
          </p:cNvPr>
          <p:cNvSpPr>
            <a:spLocks noGrp="1"/>
          </p:cNvSpPr>
          <p:nvPr/>
        </p:nvSpPr>
        <p:spPr>
          <a:xfrm>
            <a:off x="1028700" y="8096250"/>
            <a:ext cx="1623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발표 핵심: EGFR 모델 준비와 200 ns 확인은 진행 완료. MYO1D, pocket, compound는 다음 단계입니다.</a:t>
            </a:r>
          </a:p>
        </p:txBody>
      </p:sp>
      <p:sp>
        <p:nvSpPr>
          <p:cNvPr id="36" name="footer-label-08 / 09">
            <a:extLst>
              <a:ext uri="{FF2B5EF4-FFF2-40B4-BE49-F238E27FC236}">
                <a16:creationId xmlns:a16="http://schemas.microsoft.com/office/drawing/2014/main" id="{BFF0C136-87EE-4026-BB32-2D1C760085EF}"/>
              </a:ext>
            </a:extLst>
          </p:cNvPr>
          <p:cNvSpPr>
            <a:spLocks noGrp="1"/>
          </p:cNvSpPr>
          <p:nvPr/>
        </p:nvSpPr>
        <p:spPr>
          <a:xfrm>
            <a:off x="800100" y="95821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08 / 09</a:t>
            </a:r>
          </a:p>
        </p:txBody>
      </p:sp>
      <p:sp>
        <p:nvSpPr>
          <p:cNvPr id="37" name="footer-source-08 / 09">
            <a:extLst>
              <a:ext uri="{FF2B5EF4-FFF2-40B4-BE49-F238E27FC236}">
                <a16:creationId xmlns:a16="http://schemas.microsoft.com/office/drawing/2014/main" id="{83879D7A-9DF6-40A6-974E-569B5896A8ED}"/>
              </a:ext>
            </a:extLst>
          </p:cNvPr>
          <p:cNvSpPr>
            <a:spLocks noGrp="1"/>
          </p:cNvSpPr>
          <p:nvPr/>
        </p:nvSpPr>
        <p:spPr>
          <a:xfrm>
            <a:off x="13392150" y="9544050"/>
            <a:ext cx="4095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reports/EGFR_modeling_clustering_PPT_data_package.md, reports/다음할일.md</a:t>
            </a:r>
          </a:p>
        </p:txBody>
      </p:sp>
    </p:spTree>
    <p:extLst>
      <p:ext uri="{BB962C8B-B14F-4D97-AF65-F5344CB8AC3E}">
        <p14:creationId xmlns:p14="http://schemas.microsoft.com/office/powerpoint/2010/main" val="133734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yebrow">
            <a:extLst>
              <a:ext uri="{FF2B5EF4-FFF2-40B4-BE49-F238E27FC236}">
                <a16:creationId xmlns:a16="http://schemas.microsoft.com/office/drawing/2014/main" id="{69A1C41D-BCBC-440F-B209-EEAFF2039625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5334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다음 결정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9DE7463-AB57-4F2E-B2F3-A5E557549551}"/>
              </a:ext>
            </a:extLst>
          </p:cNvPr>
          <p:cNvSpPr>
            <a:spLocks noGrp="1"/>
          </p:cNvSpPr>
          <p:nvPr/>
        </p:nvSpPr>
        <p:spPr>
          <a:xfrm>
            <a:off x="800099" y="914400"/>
            <a:ext cx="9534525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900" b="1">
                <a:solidFill>
                  <a:srgbClr val="132026"/>
                </a:solidFill>
              </a:defRPr>
            </a:pPr>
            <a:r>
              <a:rPr sz="3900" b="1" dirty="0" err="1">
                <a:solidFill>
                  <a:srgbClr val="132026"/>
                </a:solidFill>
              </a:rPr>
              <a:t>대표</a:t>
            </a:r>
            <a:r>
              <a:rPr sz="3900" b="1" dirty="0">
                <a:solidFill>
                  <a:srgbClr val="132026"/>
                </a:solidFill>
              </a:rPr>
              <a:t> EGFR </a:t>
            </a:r>
            <a:r>
              <a:rPr sz="3900" b="1" dirty="0" err="1">
                <a:solidFill>
                  <a:srgbClr val="132026"/>
                </a:solidFill>
              </a:rPr>
              <a:t>구조를</a:t>
            </a:r>
            <a:r>
              <a:rPr sz="3900" b="1" dirty="0">
                <a:solidFill>
                  <a:srgbClr val="132026"/>
                </a:solidFill>
              </a:rPr>
              <a:t> </a:t>
            </a:r>
            <a:r>
              <a:rPr sz="3900" b="1" dirty="0" err="1">
                <a:solidFill>
                  <a:srgbClr val="132026"/>
                </a:solidFill>
              </a:rPr>
              <a:t>정하고</a:t>
            </a:r>
            <a:r>
              <a:rPr sz="3900" b="1" dirty="0">
                <a:solidFill>
                  <a:srgbClr val="132026"/>
                </a:solidFill>
              </a:rPr>
              <a:t> MYO1D로 </a:t>
            </a:r>
            <a:r>
              <a:rPr sz="3900" b="1" dirty="0" err="1">
                <a:solidFill>
                  <a:srgbClr val="132026"/>
                </a:solidFill>
              </a:rPr>
              <a:t>갑니다</a:t>
            </a:r>
            <a:endParaRPr sz="3900" b="1" dirty="0">
              <a:solidFill>
                <a:srgbClr val="132026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970F0E75-0892-4DDF-89EF-ADAFF0F5B6C4}"/>
              </a:ext>
            </a:extLst>
          </p:cNvPr>
          <p:cNvSpPr>
            <a:spLocks noGrp="1"/>
          </p:cNvSpPr>
          <p:nvPr/>
        </p:nvSpPr>
        <p:spPr>
          <a:xfrm>
            <a:off x="800100" y="2190750"/>
            <a:ext cx="10477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교수님께 어떤 EGFR 구조를 다음 분석에 쓸지 확인받으면, 그 다음부터 MYO1D docking을 진행하면 됩니다.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2998B56-C99A-4F86-9CC6-DDCBC482C076}"/>
              </a:ext>
            </a:extLst>
          </p:cNvPr>
          <p:cNvSpPr>
            <a:spLocks noGrp="1"/>
          </p:cNvSpPr>
          <p:nvPr/>
        </p:nvSpPr>
        <p:spPr>
          <a:xfrm>
            <a:off x="800100" y="2739390"/>
            <a:ext cx="7334250" cy="5909310"/>
          </a:xfrm>
          <a:prstGeom prst="roundRect">
            <a:avLst>
              <a:gd name="adj" fmla="val 1289"/>
            </a:avLst>
          </a:prstGeom>
          <a:solidFill>
            <a:srgbClr val="F8FB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850EAE-43A1-4117-826E-A55520F7F1E9}"/>
              </a:ext>
            </a:extLst>
          </p:cNvPr>
          <p:cNvSpPr>
            <a:spLocks noGrp="1"/>
          </p:cNvSpPr>
          <p:nvPr/>
        </p:nvSpPr>
        <p:spPr>
          <a:xfrm>
            <a:off x="1123950" y="3028950"/>
            <a:ext cx="14478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교수님께 확인할 질문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3C4907-DE4D-4E4A-8E03-ACB6B4B6DB82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668655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132026"/>
                </a:solidFill>
              </a:defRPr>
            </a:pPr>
            <a:r>
              <a:rPr sz="2850" b="1">
                <a:solidFill>
                  <a:srgbClr val="132026"/>
                </a:solidFill>
              </a:rPr>
              <a:t>다음 분석에 어떤 EGFR 구조를 쓸까요?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6488BD-0DC4-4B28-A9E5-0BEF4F0C2C90}"/>
              </a:ext>
            </a:extLst>
          </p:cNvPr>
          <p:cNvSpPr>
            <a:spLocks noGrp="1"/>
          </p:cNvSpPr>
          <p:nvPr/>
        </p:nvSpPr>
        <p:spPr>
          <a:xfrm>
            <a:off x="1123950" y="4057650"/>
            <a:ext cx="1905000" cy="47625"/>
          </a:xfrm>
          <a:prstGeom prst="rect">
            <a:avLst/>
          </a:prstGeom>
          <a:solidFill>
            <a:srgbClr val="E6903A"/>
          </a:solidFill>
          <a:ln w="0">
            <a:solidFill>
              <a:srgbClr val="E690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1351B8-8C35-4641-83C1-7882FEC04F18}"/>
              </a:ext>
            </a:extLst>
          </p:cNvPr>
          <p:cNvSpPr>
            <a:spLocks noGrp="1"/>
          </p:cNvSpPr>
          <p:nvPr/>
        </p:nvSpPr>
        <p:spPr>
          <a:xfrm>
            <a:off x="1123950" y="43243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1C8510-8E24-4295-A3D7-5547A899AAAD}"/>
              </a:ext>
            </a:extLst>
          </p:cNvPr>
          <p:cNvSpPr>
            <a:spLocks noGrp="1"/>
          </p:cNvSpPr>
          <p:nvPr/>
        </p:nvSpPr>
        <p:spPr>
          <a:xfrm>
            <a:off x="1352550" y="4324350"/>
            <a:ext cx="6477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처음 만든 +10° PDB를 쓸지, 200 ns 후 구조를 쓸지, cluster 대표 구조를 쓸지 결정합니다.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14D3CF-A840-498A-9974-02BE1D83DA88}"/>
              </a:ext>
            </a:extLst>
          </p:cNvPr>
          <p:cNvSpPr>
            <a:spLocks noGrp="1"/>
          </p:cNvSpPr>
          <p:nvPr/>
        </p:nvSpPr>
        <p:spPr>
          <a:xfrm>
            <a:off x="1123950" y="504825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E3EF22-5DDB-4C30-BAE8-2A5FDF658C13}"/>
              </a:ext>
            </a:extLst>
          </p:cNvPr>
          <p:cNvSpPr>
            <a:spLocks noGrp="1"/>
          </p:cNvSpPr>
          <p:nvPr/>
        </p:nvSpPr>
        <p:spPr>
          <a:xfrm>
            <a:off x="1352550" y="5048250"/>
            <a:ext cx="6477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150-200 ns 또는 160-200 ns 중 어느 구간에서 대표 구조를 고를지 정합니다.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479AC5E-594E-4C7E-925A-85762A1827A9}"/>
              </a:ext>
            </a:extLst>
          </p:cNvPr>
          <p:cNvSpPr>
            <a:spLocks noGrp="1"/>
          </p:cNvSpPr>
          <p:nvPr/>
        </p:nvSpPr>
        <p:spPr>
          <a:xfrm>
            <a:off x="1123950" y="5791200"/>
            <a:ext cx="85725" cy="85725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38EC07-C641-40BE-97FC-E744497A42C3}"/>
              </a:ext>
            </a:extLst>
          </p:cNvPr>
          <p:cNvSpPr>
            <a:spLocks noGrp="1"/>
          </p:cNvSpPr>
          <p:nvPr/>
        </p:nvSpPr>
        <p:spPr>
          <a:xfrm>
            <a:off x="1352550" y="5791200"/>
            <a:ext cx="6477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689/692/713/715 같은 residue 이름을 최종 topology 기준으로 다시 확인합니다.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902608-5750-4F3C-BE2C-15ABA14DB796}"/>
              </a:ext>
            </a:extLst>
          </p:cNvPr>
          <p:cNvSpPr>
            <a:spLocks noGrp="1"/>
          </p:cNvSpPr>
          <p:nvPr/>
        </p:nvSpPr>
        <p:spPr>
          <a:xfrm>
            <a:off x="1123950" y="6534150"/>
            <a:ext cx="6686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결정 후 추가할 자료: 마지막 구간 clustering summary/PDB, 교수님 피드백 기록.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78D56F-4A57-44E2-A5C0-2796FE2264C8}"/>
              </a:ext>
            </a:extLst>
          </p:cNvPr>
          <p:cNvSpPr>
            <a:spLocks noGrp="1"/>
          </p:cNvSpPr>
          <p:nvPr/>
        </p:nvSpPr>
        <p:spPr>
          <a:xfrm>
            <a:off x="8553450" y="2743200"/>
            <a:ext cx="990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다음 작업 순서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4577113-09FE-4841-8AB7-7391FE16D801}"/>
              </a:ext>
            </a:extLst>
          </p:cNvPr>
          <p:cNvSpPr>
            <a:spLocks noGrp="1"/>
          </p:cNvSpPr>
          <p:nvPr/>
        </p:nvSpPr>
        <p:spPr>
          <a:xfrm>
            <a:off x="8553450" y="31813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23A66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393528-21DE-497C-B91F-8AB4DE9564D3}"/>
              </a:ext>
            </a:extLst>
          </p:cNvPr>
          <p:cNvSpPr>
            <a:spLocks noGrp="1"/>
          </p:cNvSpPr>
          <p:nvPr/>
        </p:nvSpPr>
        <p:spPr>
          <a:xfrm>
            <a:off x="8686800" y="3314700"/>
            <a:ext cx="2857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F0808B-8639-4691-BDCD-9E7C8667531E}"/>
              </a:ext>
            </a:extLst>
          </p:cNvPr>
          <p:cNvSpPr>
            <a:spLocks noGrp="1"/>
          </p:cNvSpPr>
          <p:nvPr/>
        </p:nvSpPr>
        <p:spPr>
          <a:xfrm>
            <a:off x="9258300" y="3238500"/>
            <a:ext cx="8229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대표 EGFR 구조 정하기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B94CD2-C1E3-4F54-A8AF-6155B1D26676}"/>
              </a:ext>
            </a:extLst>
          </p:cNvPr>
          <p:cNvSpPr>
            <a:spLocks noGrp="1"/>
          </p:cNvSpPr>
          <p:nvPr/>
        </p:nvSpPr>
        <p:spPr>
          <a:xfrm>
            <a:off x="9258300" y="3524250"/>
            <a:ext cx="8229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교수님 피드백 + clustering 구간 결정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5E09F78-1AAF-4016-89F9-7A97D0618B21}"/>
              </a:ext>
            </a:extLst>
          </p:cNvPr>
          <p:cNvSpPr>
            <a:spLocks noGrp="1"/>
          </p:cNvSpPr>
          <p:nvPr/>
        </p:nvSpPr>
        <p:spPr>
          <a:xfrm>
            <a:off x="8553450" y="407670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D30921-58E6-421F-B0D6-86A3C5B596D6}"/>
              </a:ext>
            </a:extLst>
          </p:cNvPr>
          <p:cNvSpPr>
            <a:spLocks noGrp="1"/>
          </p:cNvSpPr>
          <p:nvPr/>
        </p:nvSpPr>
        <p:spPr>
          <a:xfrm>
            <a:off x="8686800" y="4210050"/>
            <a:ext cx="2857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A2FAA4B-3694-472A-B39B-F74DF3670AA2}"/>
              </a:ext>
            </a:extLst>
          </p:cNvPr>
          <p:cNvSpPr>
            <a:spLocks noGrp="1"/>
          </p:cNvSpPr>
          <p:nvPr/>
        </p:nvSpPr>
        <p:spPr>
          <a:xfrm>
            <a:off x="9258300" y="4133850"/>
            <a:ext cx="8229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MYO1D 붙여보기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608B18-44C5-49D7-8FC5-B4106CD8D1B5}"/>
              </a:ext>
            </a:extLst>
          </p:cNvPr>
          <p:cNvSpPr>
            <a:spLocks noGrp="1"/>
          </p:cNvSpPr>
          <p:nvPr/>
        </p:nvSpPr>
        <p:spPr>
          <a:xfrm>
            <a:off x="9258300" y="4419600"/>
            <a:ext cx="8229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정한 EGFR 구조에 MYO1D를 docking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93C1BAC-C99E-479C-970B-C93F5EE2CB25}"/>
              </a:ext>
            </a:extLst>
          </p:cNvPr>
          <p:cNvSpPr>
            <a:spLocks noGrp="1"/>
          </p:cNvSpPr>
          <p:nvPr/>
        </p:nvSpPr>
        <p:spPr>
          <a:xfrm>
            <a:off x="8553450" y="49720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00A8C8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CD230F-C0DC-47BB-B4FF-A89843E35B87}"/>
              </a:ext>
            </a:extLst>
          </p:cNvPr>
          <p:cNvSpPr>
            <a:spLocks noGrp="1"/>
          </p:cNvSpPr>
          <p:nvPr/>
        </p:nvSpPr>
        <p:spPr>
          <a:xfrm>
            <a:off x="8686800" y="5105400"/>
            <a:ext cx="2857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739024-7C96-435B-9CDE-3A74E9690004}"/>
              </a:ext>
            </a:extLst>
          </p:cNvPr>
          <p:cNvSpPr>
            <a:spLocks noGrp="1"/>
          </p:cNvSpPr>
          <p:nvPr/>
        </p:nvSpPr>
        <p:spPr>
          <a:xfrm>
            <a:off x="9258300" y="5029200"/>
            <a:ext cx="8229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닿는 자리 정리하기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C495D1-8E0D-4700-B59B-0FD48A4F61AF}"/>
              </a:ext>
            </a:extLst>
          </p:cNvPr>
          <p:cNvSpPr>
            <a:spLocks noGrp="1"/>
          </p:cNvSpPr>
          <p:nvPr/>
        </p:nvSpPr>
        <p:spPr>
          <a:xfrm>
            <a:off x="9258300" y="5314950"/>
            <a:ext cx="8229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EGFR에서 MYO1D가 닿는 부분 표시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642D41D-32AC-4264-835A-900C10761DA2}"/>
              </a:ext>
            </a:extLst>
          </p:cNvPr>
          <p:cNvSpPr>
            <a:spLocks noGrp="1"/>
          </p:cNvSpPr>
          <p:nvPr/>
        </p:nvSpPr>
        <p:spPr>
          <a:xfrm>
            <a:off x="8553450" y="586740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E6903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016D99C-4FDD-4742-A576-F6B9352D9015}"/>
              </a:ext>
            </a:extLst>
          </p:cNvPr>
          <p:cNvSpPr>
            <a:spLocks noGrp="1"/>
          </p:cNvSpPr>
          <p:nvPr/>
        </p:nvSpPr>
        <p:spPr>
          <a:xfrm>
            <a:off x="8686800" y="6000750"/>
            <a:ext cx="2857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914A7F-9C7B-45D7-AF8C-5546AF950EA4}"/>
              </a:ext>
            </a:extLst>
          </p:cNvPr>
          <p:cNvSpPr>
            <a:spLocks noGrp="1"/>
          </p:cNvSpPr>
          <p:nvPr/>
        </p:nvSpPr>
        <p:spPr>
          <a:xfrm>
            <a:off x="9258300" y="5924550"/>
            <a:ext cx="8229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작은 홈 찾기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C6A4568-E9DC-4FE3-91BC-D919CBFBE06B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8229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약물이 들어갈 만한 공간 후보 찾기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5E16511-9A39-426A-8E37-0E8B54050E9A}"/>
              </a:ext>
            </a:extLst>
          </p:cNvPr>
          <p:cNvSpPr>
            <a:spLocks noGrp="1"/>
          </p:cNvSpPr>
          <p:nvPr/>
        </p:nvSpPr>
        <p:spPr>
          <a:xfrm>
            <a:off x="8553450" y="6762750"/>
            <a:ext cx="552450" cy="552450"/>
          </a:xfrm>
          <a:prstGeom prst="roundRect">
            <a:avLst>
              <a:gd name="adj" fmla="val 50000"/>
            </a:avLst>
          </a:prstGeom>
          <a:solidFill>
            <a:srgbClr val="E6903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9DDBE-0822-4276-80FC-96BD34DBEFBD}"/>
              </a:ext>
            </a:extLst>
          </p:cNvPr>
          <p:cNvSpPr>
            <a:spLocks noGrp="1"/>
          </p:cNvSpPr>
          <p:nvPr/>
        </p:nvSpPr>
        <p:spPr>
          <a:xfrm>
            <a:off x="8686800" y="6896100"/>
            <a:ext cx="2857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778567D-1AD1-4A74-AC4B-DE472A737650}"/>
              </a:ext>
            </a:extLst>
          </p:cNvPr>
          <p:cNvSpPr>
            <a:spLocks noGrp="1"/>
          </p:cNvSpPr>
          <p:nvPr/>
        </p:nvSpPr>
        <p:spPr>
          <a:xfrm>
            <a:off x="9258300" y="6819900"/>
            <a:ext cx="8229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화합물 넣어보기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DAD80AF-EAD5-49B5-BA17-9200DBEF9CE2}"/>
              </a:ext>
            </a:extLst>
          </p:cNvPr>
          <p:cNvSpPr>
            <a:spLocks noGrp="1"/>
          </p:cNvSpPr>
          <p:nvPr/>
        </p:nvSpPr>
        <p:spPr>
          <a:xfrm>
            <a:off x="9258300" y="7105650"/>
            <a:ext cx="8229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대표 구조와 pocket이 정해진 뒤 진행</a:t>
            </a:r>
          </a:p>
        </p:txBody>
      </p:sp>
      <p:sp>
        <p:nvSpPr>
          <p:cNvPr id="36" name="footer-label-09 / 09">
            <a:extLst>
              <a:ext uri="{FF2B5EF4-FFF2-40B4-BE49-F238E27FC236}">
                <a16:creationId xmlns:a16="http://schemas.microsoft.com/office/drawing/2014/main" id="{8E4666EE-79E1-4D38-BDF3-445154324C0D}"/>
              </a:ext>
            </a:extLst>
          </p:cNvPr>
          <p:cNvSpPr>
            <a:spLocks noGrp="1"/>
          </p:cNvSpPr>
          <p:nvPr/>
        </p:nvSpPr>
        <p:spPr>
          <a:xfrm>
            <a:off x="800100" y="9582150"/>
            <a:ext cx="857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09 / 09</a:t>
            </a:r>
          </a:p>
        </p:txBody>
      </p:sp>
      <p:sp>
        <p:nvSpPr>
          <p:cNvPr id="37" name="footer-source-09 / 09">
            <a:extLst>
              <a:ext uri="{FF2B5EF4-FFF2-40B4-BE49-F238E27FC236}">
                <a16:creationId xmlns:a16="http://schemas.microsoft.com/office/drawing/2014/main" id="{2E5E5782-930B-4B71-A953-936E3FA949BC}"/>
              </a:ext>
            </a:extLst>
          </p:cNvPr>
          <p:cNvSpPr>
            <a:spLocks noGrp="1"/>
          </p:cNvSpPr>
          <p:nvPr/>
        </p:nvSpPr>
        <p:spPr>
          <a:xfrm>
            <a:off x="14744700" y="9544050"/>
            <a:ext cx="2743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다음 작업은 reports/다음할일.md에 따로 정리했습니다.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9181936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1353</Words>
  <Application>Microsoft Office PowerPoint</Application>
  <DocSecurity>0</DocSecurity>
  <PresentationFormat>사용자 지정</PresentationFormat>
  <Paragraphs>210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황은준</cp:lastModifiedBy>
  <cp:revision>1</cp:revision>
  <dcterms:created xsi:type="dcterms:W3CDTF">2026-04-29T16:35:34Z</dcterms:created>
  <dcterms:modified xsi:type="dcterms:W3CDTF">2026-04-29T16:56:27Z</dcterms:modified>
</cp:coreProperties>
</file>