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fb369805ca43d5" /><Relationship Type="http://schemas.openxmlformats.org/officeDocument/2006/relationships/extended-properties" Target="/docProps/app.xml" Id="Rf4d480d713cf433b" /><Relationship Type="http://schemas.openxmlformats.org/officeDocument/2006/relationships/officeDocument" Target="/ppt/presentation.xml" Id="Rbfd87f34192443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5d1ff2377f4888"/>
  </p:sldMasterIdLst>
  <p:notesMasterIdLst>
    <p:notesMasterId xmlns:r="http://schemas.openxmlformats.org/officeDocument/2006/relationships" r:id="R8543947482e1493c"/>
  </p:notesMasterIdLst>
  <p:sldIdLst>
    <p:sldId xmlns:r="http://schemas.openxmlformats.org/officeDocument/2006/relationships" id="256" r:id="Ra216ca04dcd1449d"/>
    <p:sldId xmlns:r="http://schemas.openxmlformats.org/officeDocument/2006/relationships" id="257" r:id="R6b2b102e84164d37"/>
    <p:sldId xmlns:r="http://schemas.openxmlformats.org/officeDocument/2006/relationships" id="258" r:id="R72a17b07ca304707"/>
    <p:sldId xmlns:r="http://schemas.openxmlformats.org/officeDocument/2006/relationships" id="259" r:id="R377d921ee97944cf"/>
    <p:sldId xmlns:r="http://schemas.openxmlformats.org/officeDocument/2006/relationships" id="260" r:id="R29b4ddab0cf84a7f"/>
    <p:sldId xmlns:r="http://schemas.openxmlformats.org/officeDocument/2006/relationships" id="261" r:id="Rca7abe31075b4507"/>
    <p:sldId xmlns:r="http://schemas.openxmlformats.org/officeDocument/2006/relationships" id="262" r:id="R43666b4d49744409"/>
    <p:sldId xmlns:r="http://schemas.openxmlformats.org/officeDocument/2006/relationships" id="263" r:id="R52a51bc61d2c4ec4"/>
    <p:sldId xmlns:r="http://schemas.openxmlformats.org/officeDocument/2006/relationships" id="264" r:id="R84339be0862d400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d1ff2377f4888" /><Relationship Type="http://schemas.openxmlformats.org/officeDocument/2006/relationships/theme" Target="/ppt/theme/theme1.xml" Id="Rb93469a5f8eb434c" /><Relationship Type="http://schemas.openxmlformats.org/officeDocument/2006/relationships/notesMaster" Target="/ppt/notesMasters/notesMaster1.xml" Id="R8543947482e1493c" /><Relationship Type="http://schemas.openxmlformats.org/officeDocument/2006/relationships/presProps" Target="/ppt/presProps.xml" Id="Rafbc289093484e6a" /><Relationship Type="http://schemas.openxmlformats.org/officeDocument/2006/relationships/viewProps" Target="/ppt/viewProps.xml" Id="R6cf83bc7b70d43e5" /><Relationship Type="http://schemas.openxmlformats.org/officeDocument/2006/relationships/tableStyles" Target="/ppt/tableStyles.xml" Id="Rf976aef702ad48af" /><Relationship Type="http://schemas.openxmlformats.org/officeDocument/2006/relationships/slide" Target="/ppt/slides/slide1.xml" Id="Ra216ca04dcd1449d" /><Relationship Type="http://schemas.openxmlformats.org/officeDocument/2006/relationships/slide" Target="/ppt/slides/slide2.xml" Id="R6b2b102e84164d37" /><Relationship Type="http://schemas.openxmlformats.org/officeDocument/2006/relationships/slide" Target="/ppt/slides/slide3.xml" Id="R72a17b07ca304707" /><Relationship Type="http://schemas.openxmlformats.org/officeDocument/2006/relationships/slide" Target="/ppt/slides/slide4.xml" Id="R377d921ee97944cf" /><Relationship Type="http://schemas.openxmlformats.org/officeDocument/2006/relationships/slide" Target="/ppt/slides/slide5.xml" Id="R29b4ddab0cf84a7f" /><Relationship Type="http://schemas.openxmlformats.org/officeDocument/2006/relationships/slide" Target="/ppt/slides/slide6.xml" Id="Rca7abe31075b4507" /><Relationship Type="http://schemas.openxmlformats.org/officeDocument/2006/relationships/slide" Target="/ppt/slides/slide7.xml" Id="R43666b4d49744409" /><Relationship Type="http://schemas.openxmlformats.org/officeDocument/2006/relationships/slide" Target="/ppt/slides/slide8.xml" Id="R52a51bc61d2c4ec4" /><Relationship Type="http://schemas.openxmlformats.org/officeDocument/2006/relationships/slide" Target="/ppt/slides/slide9.xml" Id="R84339be0862d40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369205022434e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9ff9c8d7646bb" /><Relationship Type="http://schemas.openxmlformats.org/officeDocument/2006/relationships/notesMaster" Target="/ppt/notesMasters/notesMaster1.xml" Id="R9f451fee572842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091587a0564005" /><Relationship Type="http://schemas.openxmlformats.org/officeDocument/2006/relationships/notesMaster" Target="/ppt/notesMasters/notesMaster1.xml" Id="Rb5f7c0872b9544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01050c3a5240dc" /><Relationship Type="http://schemas.openxmlformats.org/officeDocument/2006/relationships/notesMaster" Target="/ppt/notesMasters/notesMaster1.xml" Id="R78cfc753bb8c40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78c05cf4f94003" /><Relationship Type="http://schemas.openxmlformats.org/officeDocument/2006/relationships/notesMaster" Target="/ppt/notesMasters/notesMaster1.xml" Id="R2a50fb5774d742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c8cd9423bb475f" /><Relationship Type="http://schemas.openxmlformats.org/officeDocument/2006/relationships/notesMaster" Target="/ppt/notesMasters/notesMaster1.xml" Id="R69bd18505a6845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7690913e6a41ca" /><Relationship Type="http://schemas.openxmlformats.org/officeDocument/2006/relationships/notesMaster" Target="/ppt/notesMasters/notesMaster1.xml" Id="R94efc310616740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4aaba20fa141c0" /><Relationship Type="http://schemas.openxmlformats.org/officeDocument/2006/relationships/notesMaster" Target="/ppt/notesMasters/notesMaster1.xml" Id="Ra18d504542974e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5b85530be146ec" /><Relationship Type="http://schemas.openxmlformats.org/officeDocument/2006/relationships/notesMaster" Target="/ppt/notesMasters/notesMaster1.xml" Id="R8e27b0441ded40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68093f62ea4d21" /><Relationship Type="http://schemas.openxmlformats.org/officeDocument/2006/relationships/notesMaster" Target="/ppt/notesMasters/notesMaster1.xml" Id="Rb6a8929ca50543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9b37420f44bb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e0c74016b214226" /><Relationship Type="http://schemas.openxmlformats.org/officeDocument/2006/relationships/slideLayout" Target="/ppt/slideLayouts/slideLayout2.xml" Id="Rb5527752b9f949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527752b9f949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a63d5137c24f05" /><Relationship Type="http://schemas.openxmlformats.org/officeDocument/2006/relationships/image" Target="/ppt/media/image.png" Id="R0e93f67209504bb3" /><Relationship Type="http://schemas.openxmlformats.org/officeDocument/2006/relationships/notesSlide" Target="/ppt/notesSlides/notesSlide1.xml" Id="Ree37d888b92140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4ed8cba72b4904" /><Relationship Type="http://schemas.openxmlformats.org/officeDocument/2006/relationships/notesSlide" Target="/ppt/notesSlides/notesSlide2.xml" Id="R28e668dda9be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620f506cfb4d6a" /><Relationship Type="http://schemas.openxmlformats.org/officeDocument/2006/relationships/notesSlide" Target="/ppt/notesSlides/notesSlide3.xml" Id="Rcf53f46612bf4e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62ee83ecec4c8b" /><Relationship Type="http://schemas.openxmlformats.org/officeDocument/2006/relationships/image" Target="/ppt/media/image2.png" Id="R47e3dbf3cfd84d72" /><Relationship Type="http://schemas.openxmlformats.org/officeDocument/2006/relationships/image" Target="/ppt/media/image3.png" Id="R5b5c579daf914ebf" /><Relationship Type="http://schemas.openxmlformats.org/officeDocument/2006/relationships/image" Target="/ppt/media/image4.png" Id="R109d7d222c794982" /><Relationship Type="http://schemas.openxmlformats.org/officeDocument/2006/relationships/image" Target="/ppt/media/image5.png" Id="R523a9b470bf74895" /><Relationship Type="http://schemas.openxmlformats.org/officeDocument/2006/relationships/notesSlide" Target="/ppt/notesSlides/notesSlide4.xml" Id="R21010512894842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06a370a25746d7" /><Relationship Type="http://schemas.openxmlformats.org/officeDocument/2006/relationships/image" Target="/ppt/media/image6.png" Id="R0f0385bfa659446f" /><Relationship Type="http://schemas.openxmlformats.org/officeDocument/2006/relationships/image" Target="/ppt/media/image7.png" Id="Rf216119e200b4bde" /><Relationship Type="http://schemas.openxmlformats.org/officeDocument/2006/relationships/image" Target="/ppt/media/image8.png" Id="Rc50742079e8947df" /><Relationship Type="http://schemas.openxmlformats.org/officeDocument/2006/relationships/notesSlide" Target="/ppt/notesSlides/notesSlide5.xml" Id="Re06ac96b6c7642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67904875854dcc" /><Relationship Type="http://schemas.openxmlformats.org/officeDocument/2006/relationships/image" Target="/ppt/media/image9.png" Id="R73971f6aec134243" /><Relationship Type="http://schemas.openxmlformats.org/officeDocument/2006/relationships/image" Target="/ppt/media/image10.png" Id="R68d53ad07cc044b6" /><Relationship Type="http://schemas.openxmlformats.org/officeDocument/2006/relationships/notesSlide" Target="/ppt/notesSlides/notesSlide6.xml" Id="R06b246f922d542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e6296a37964327" /><Relationship Type="http://schemas.openxmlformats.org/officeDocument/2006/relationships/image" Target="/ppt/media/image11.png" Id="R41b5a7f5d32643a3" /><Relationship Type="http://schemas.openxmlformats.org/officeDocument/2006/relationships/image" Target="/ppt/media/image12.png" Id="R835a2eaee63d420f" /><Relationship Type="http://schemas.openxmlformats.org/officeDocument/2006/relationships/notesSlide" Target="/ppt/notesSlides/notesSlide7.xml" Id="R324baef36ac64d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7cf58f628841eb" /><Relationship Type="http://schemas.openxmlformats.org/officeDocument/2006/relationships/notesSlide" Target="/ppt/notesSlides/notesSlide8.xml" Id="R54a8e9be52274b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542b9d04fc4e80" /><Relationship Type="http://schemas.openxmlformats.org/officeDocument/2006/relationships/notesSlide" Target="/ppt/notesSlides/notesSlide9.xml" Id="R6959916815fb47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3f67209504bb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08A1F8D-4D87-41A4-B3D3-FB85FBD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receptor modeling update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AF29D369-04ED-4C18-9E21-832ABF58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Membrane-compatible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D3C18D7B-0E1D-4598-A68D-9394F8D4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dimer receptor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14FC1A36-155E-412A-9E65-E1BC74A3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model 구축 및 clustering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24E45-348B-42A3-BE23-5A2341BB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7481BC-E724-417F-924A-558E2BC6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715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후속 MYO1D PPI 분석 전, EGFR receptor input을 +10° model과 final 200 ns MD validation 기준으로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7B949-3ED3-4410-A7BA-DE1BB1D5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667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C12D6-136C-44B6-A72D-F61FA6A1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324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receptor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159D1-652D-40CB-A8DF-6918340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A56D3-A025-44C2-A85D-E4218F64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1847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D91A8-3F07-4427-8572-E99C5EE7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3C6DB-3554-4BD3-885E-D8B23995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33950"/>
            <a:ext cx="1752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clustering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8D02485F-4A51-4F25-9DF9-8F5221A8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Scope: PPI docking, pocket discovery, compound docking은 이번 발표에서 결과로 다루지 않음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0539FFDD-D79B-4643-BB90-8212F12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044B575C-55E6-45BE-8902-144368F7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563100"/>
            <a:ext cx="3276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Generated cover is conceptual; scientific claims use local files and logs.</a:t>
            </a:r>
          </a:p>
        </p:txBody>
      </p:sp>
    </p:spTree>
    <p:extLst>
      <p:ext uri="{BB962C8B-B14F-4D97-AF65-F5344CB8AC3E}">
        <p14:creationId xmlns:p14="http://schemas.microsoft.com/office/powerpoint/2010/main" val="7629898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CF58148-35BB-4C89-947B-850F1F95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Modeling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217712-363E-4108-AB32-9FD5FB72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5372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Why receptor model first?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590971-6A26-4ADA-9AEC-CD3A5779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MYO1D PPI docking 전에 EGFR receptor frame을 먼저 고정해야 downstream 해석이 흔들리지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6F18F-7B1D-478E-B2CB-03744EAC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D3739-12E6-44CD-9570-5E0C1244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EFEA4-FE45-4B2A-8824-056482CD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52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receptor input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4169F-2552-4470-A22C-E057A63F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+10° model + final 200 ns MD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02391-B78F-43D1-BEB4-6CE0BD9F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CEE40-6D7B-42A3-8F1E-3E3F359A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5D41F-17F3-48F8-A6DD-9A6846DF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7BEF5-0546-46D7-AE3A-22F68ACC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docking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63DF4-2177-4A12-A813-8D9A0797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next work after receptor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3B17F-2080-48B4-AF58-20BF094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49236-0A53-4E11-972A-74DE4855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A9C14-FBCB-4DB3-B4CF-CA89E415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CA66A-A981-4D73-A1EA-17297823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EGFR-side PPI 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D9FB0-98F1-4BCE-BCFD-CCCC650E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interface residues and contact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CB2EF-D6C2-4CDE-BCDA-E2BAD308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6E853-9757-4C04-A72C-4602BEE8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9FCCE-6A57-42AC-8565-3B6434DC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E0276-1381-4624-8FC5-36DB3E8E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Pocket 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44D17D-6FC3-4896-83DE-26798935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PPI-aware pocket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520D7-B019-42CA-9A91-96E17B20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FD116-416D-45B3-A4F4-E0CB14ED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C76EC9-4A0E-4009-98C4-03979ED9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AD527-E731-4E0D-A185-BD34DEA8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Compound docking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04037-1BC5-48A8-BBE5-175FDF10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future output, not current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B75857-1C88-496C-9DFC-C767B588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deck에서 다루는 확정 범위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342AD8-D932-4010-A68A-340C851A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C979D4-9D2C-44FE-8E45-047C24D4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template assembly provenance: TM/JM/KD composite model construction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0EE9D-7D69-4C29-AF21-D6A1D31F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8BCDA-4523-49DC-ADD1-2E6791EC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orientation scan: +10° selected among available parsed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F6BAA4-0A79-4CA0-AB61-8CCCC152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CF63FB-6E21-44B7-8C84-6EEEA906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receptor pair: +10 no-water 200 ns trajectory identity 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0D95E-34AF-4B1C-B228-7F50DC5E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이번 deck에서 결과로 주장하지 않는 범위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0FE9A5-B50D-410F-BE09-CE80B76F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2719F6-B344-4DD0-A47E-6B3E61BF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result는 아직 미수행/미정리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9B1CA4-C356-4403-9A55-0DAFA9BD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6C592A-7480-4395-B8A3-0C9D6BAF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patch, pocket discovery는 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211B73-3D68-4DB2-B997-0062CE22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8D4B57-116A-49FE-B93F-4894A967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docking은 receptor representative 확정 후 시작</a:t>
            </a:r>
          </a:p>
        </p:txBody>
      </p:sp>
      <p:sp>
        <p:nvSpPr>
          <p:cNvPr id="42" name="footer-label-02 / 09">
            <a:extLst xmlns:a="http://schemas.openxmlformats.org/drawingml/2006/main">
              <a:ext uri="{FF2B5EF4-FFF2-40B4-BE49-F238E27FC236}">
                <a16:creationId xmlns:a16="http://schemas.microsoft.com/office/drawing/2014/main" id="{722858BC-7A0D-42CD-BFE8-11677835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 xmlns:a="http://schemas.openxmlformats.org/drawingml/2006/main">
              <a:ext uri="{FF2B5EF4-FFF2-40B4-BE49-F238E27FC236}">
                <a16:creationId xmlns:a16="http://schemas.microsoft.com/office/drawing/2014/main" id="{2B731AFC-57BB-4C21-9479-0F7B7DDA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63100"/>
            <a:ext cx="3105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12844834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F079A01-E542-4694-958C-312F7061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Composite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F0EF98-064C-4A8D-949D-8EFDE938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86487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TM-JM-KD inactive dimer model assembly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C50446-BD18-44EF-8D2F-68FC620C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2M0B TM dimer, 2M20 JM-A reference, 3GT8 inactive KD dimer, MODELLER gap filling을 조합해 EGFR receptor frame을 구성했다.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B718A-5671-49D0-A9AF-EB518EB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4660"/>
            <a:ext cx="10572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9F545-4B83-44C2-AB08-7E339EA2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E494E-B7E2-4E8A-9A31-59F2F1FE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1F7B6-8AF0-4350-A498-3D4D1777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Role in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BCA34-24B3-4C7E-A396-7C4CB132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Caveat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AD757-A92C-42E2-8120-3A3ABADD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758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7A3CC-C535-4893-A057-E29DC14D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TM dimer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81003-1821-4A47-B45A-19CE1308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2M0B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9B6E6-CC8B-4035-BD25-8060869A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3813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transmembrane dimer anchor; local script retained 634-670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FDE59-1ACA-4EEA-A54F-7462E7C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mmCIF maps 634-677; local selection is shorter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A72D8-3E5C-4D56-9249-26CE0B90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531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5CC7D-87A0-415F-8836-37B93C4E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JM-A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8EFCB-C23D-4CEE-9019-A680D5F1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2CF20-EE28-4688-AAA1-3F528ED5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86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membrane-proximal JM-A orientation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98689-EA34-44CA-A17E-1A920198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exact coordinate-generation execution path remains caveated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4B9E7-7CDC-4C5B-A364-96B79D39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303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9A178-D808-4159-97FB-D52A486D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inactive KD dimer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8003D-D7FA-451E-9665-B524FC53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3GT8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9C346-626A-478C-AF1B-976533EC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symmetric inactive kinase-domain dimer placement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7E14D-B0DF-4A2C-BDE8-58572D4D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43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PDB numbering and working model numbering differ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0CEA1-54BC-4216-86F4-B86326ED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076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809BE1-F464-4A6A-84BC-7449D17E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81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modeled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6209E5-74E2-4113-9FDE-E5D45E97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817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MODELLER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411EF-F9E1-49AD-8E96-6A73AA21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3817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JM-B 684-704 and A-loop 862-876 were filled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20DEB-E440-4DBA-8618-9956B90D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008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modeled coordinates, not template-derived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4E931-141F-441A-97AF-D5A24FC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90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Construction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BC6A1-19B0-44D6-891C-FF6FF8DB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747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F4DE1C-B62C-480B-9624-4F855037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6195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D49158-8C33-4538-921B-F8D1932B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195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2M0B TM dimer alignment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4669A-6317-443D-A259-C2E09982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671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anchor membrane-spanning dimer geometry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3C56A6-793C-49DC-80F5-BC0DCC21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938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E75541-FAD9-457E-B226-660B108D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577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F01D00-702A-435D-A704-E256BFA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4386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2M20 JM-A 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AA1944-48AD-4CB0-B875-447DD751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6863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orient membrane-proximal JM-A segment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711138-390A-4823-8C84-FFC2AD9B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130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F8679E-C79A-4FD1-9E19-76567C7D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578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55CC4F-1319-4DD3-9A25-B6B227E9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578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3GT8 inactive KD dimer placement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5D55F0-6EFE-4E57-9035-C99C505C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054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retain inactive symmetric KD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0AC735-3D41-4182-8ABF-A98354BA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9321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04B490-6495-4B65-92A1-C56B1C0D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96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40C499-51ED-451E-AB23-23CB653A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0769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MODELLER gap filling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516EC8-444A-4CC9-8DF3-4A5AA8D8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3246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JM-B and A-loop modeled gaps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E996EC-2501-4AFF-BDF1-5B786398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13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7467E6-ED58-414E-B050-56437CBF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96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7DFF4F-2002-4453-953B-E451E3A7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8961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five rotational variants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E9527F-7727-4632-AF99-DD4F8D7E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1437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-20°, -10°, 0°, +10°, +20° for scan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7D9711-B45F-4238-856D-9CDE1D6C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562850"/>
            <a:ext cx="569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Structure render to add later: reports/assets/slide6_plus10_side_view.png or use 03_receptor_pack/figures/EGFR_plus10_domain_coloring.pml</a:t>
            </a:r>
          </a:p>
        </p:txBody>
      </p:sp>
      <p:sp>
        <p:nvSpPr>
          <p:cNvPr id="51" name="footer-label-03 / 09">
            <a:extLst xmlns:a="http://schemas.openxmlformats.org/drawingml/2006/main">
              <a:ext uri="{FF2B5EF4-FFF2-40B4-BE49-F238E27FC236}">
                <a16:creationId xmlns:a16="http://schemas.microsoft.com/office/drawing/2014/main" id="{C729B15E-238C-4F13-8AAC-C08E7C6B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03 / 09</a:t>
            </a:r>
          </a:p>
        </p:txBody>
      </p:sp>
      <p:sp>
        <p:nvSpPr>
          <p:cNvPr id="52" name="footer-source-03 / 09">
            <a:extLst xmlns:a="http://schemas.openxmlformats.org/drawingml/2006/main">
              <a:ext uri="{FF2B5EF4-FFF2-40B4-BE49-F238E27FC236}">
                <a16:creationId xmlns:a16="http://schemas.microsoft.com/office/drawing/2014/main" id="{EF409475-A5C4-4FE7-8D1E-E5F6152A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9563100"/>
            <a:ext cx="361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1.align/*, 01_numbering_provenance/template_model_mapping.csv</a:t>
            </a:r>
          </a:p>
        </p:txBody>
      </p:sp>
    </p:spTree>
    <p:extLst>
      <p:ext uri="{BB962C8B-B14F-4D97-AF65-F5344CB8AC3E}">
        <p14:creationId xmlns:p14="http://schemas.microsoft.com/office/powerpoint/2010/main" val="21260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92BA7C2-B97E-43DA-91AA-674C14A3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Orientation 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1067F1-D065-41EB-BC0C-070B5A7D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82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Five TM-KD rotations screened; +10° ranked best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4CD6C2-B31D-4AE9-A28F-91E8FAE3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9677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Available parsed metrics support +10° as the working EGFR receptor orientation, with scan-level caveats.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1E35B-F974-4734-8500-C49D17E2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885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+10° selected metric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48446-2E24-4685-A7E4-0369DE71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662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157F7-F29E-49A5-88DB-F292F75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RMSD 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8DC30-9215-40FF-87DB-FF472373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2.68 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C6132-0B8A-40F7-80BA-C47148C5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±0.39; lowest among parsed scan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F7598-4085-4E5B-A545-DA5FA7EB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8245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D500B-D98F-46FA-947E-0EFC6C2B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Rg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C46FA-5972-4B6E-8A20-D167F5F3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28.31 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7B96D-E9D8-4C28-9EA0-5244DFBE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±0.12; compact/stable relative 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E6FCC-11F8-4429-AB7C-ABC07BCF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987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8410A-6637-4C0E-B33D-18A411B5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Inter-chain H-bond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7267B-5D80-4E4A-A2EA-E906D60C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913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11.49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0FA24-9438-4E3D-AE30-E2951151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438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±3.11 where 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341FC-579B-446A-8589-0F1A9A89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534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Caveat: orientation-wide membrane/contact metrics are incomplete, so this is an available-metric ranking rather than a complete biological stability score.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164FF-11AA-483B-93E7-0CF7BD4F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19" name="slide4-rms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3dbf3cfd84d72"/>
          <a:stretch xmlns:a="http://schemas.openxmlformats.org/drawingml/2006/main"/>
        </p:blipFill>
        <p:spPr>
          <a:xfrm xmlns:a="http://schemas.openxmlformats.org/drawingml/2006/main">
            <a:off x="6716554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374FF-3D84-4B7D-9E58-0DD27A91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RMSD by orientation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C680C-38A2-4DDD-80BE-A085A530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2" name="slide4-r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c579daf914ebf"/>
          <a:stretch xmlns:a="http://schemas.openxmlformats.org/drawingml/2006/main"/>
        </p:blipFill>
        <p:spPr>
          <a:xfrm xmlns:a="http://schemas.openxmlformats.org/drawingml/2006/main">
            <a:off x="12574429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F7442-4D04-4958-AC72-05923D3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Radius of gyration by orientation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2A43A-A0F5-44BD-874D-2ABD4225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5" name="slide4-hb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d7d222c794982"/>
          <a:stretch xmlns:a="http://schemas.openxmlformats.org/drawingml/2006/main"/>
        </p:blipFill>
        <p:spPr>
          <a:xfrm xmlns:a="http://schemas.openxmlformats.org/drawingml/2006/main">
            <a:off x="6716554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C124E-3ADC-4829-AC59-F3F2F057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Inter-chain H-bond count where available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B6DBD-3977-4F51-A4C6-40DCC909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8" name="slide4-sco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a9b470bf74895"/>
          <a:stretch xmlns:a="http://schemas.openxmlformats.org/drawingml/2006/main"/>
        </p:blipFill>
        <p:spPr>
          <a:xfrm xmlns:a="http://schemas.openxmlformats.org/drawingml/2006/main">
            <a:off x="12574429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2882DF-2C40-4862-BB4D-E7EE81EE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Available-metric orientation score</a:t>
            </a:r>
          </a:p>
        </p:txBody>
      </p:sp>
      <p:sp>
        <p:nvSpPr>
          <p:cNvPr id="30" name="footer-label-04 / 09">
            <a:extLst xmlns:a="http://schemas.openxmlformats.org/drawingml/2006/main">
              <a:ext uri="{FF2B5EF4-FFF2-40B4-BE49-F238E27FC236}">
                <a16:creationId xmlns:a16="http://schemas.microsoft.com/office/drawing/2014/main" id="{AA3AD794-262F-4971-87B2-31C4AF47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04 / 09</a:t>
            </a:r>
          </a:p>
        </p:txBody>
      </p:sp>
      <p:sp>
        <p:nvSpPr>
          <p:cNvPr id="31" name="footer-source-04 / 09">
            <a:extLst xmlns:a="http://schemas.openxmlformats.org/drawingml/2006/main">
              <a:ext uri="{FF2B5EF4-FFF2-40B4-BE49-F238E27FC236}">
                <a16:creationId xmlns:a16="http://schemas.microsoft.com/office/drawing/2014/main" id="{F3769424-71A1-4E8D-8A8E-B4285C69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95440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02_orientation_metrics/orientation_comparison_table.csv and figures/</a:t>
            </a:r>
          </a:p>
        </p:txBody>
      </p:sp>
    </p:spTree>
    <p:extLst>
      <p:ext uri="{BB962C8B-B14F-4D97-AF65-F5344CB8AC3E}">
        <p14:creationId xmlns:p14="http://schemas.microsoft.com/office/powerpoint/2010/main" val="18960538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E7B9AF8-8A5B-4124-88FB-23B6E872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2E0CD0-3318-4184-8A91-ABCF1B87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9925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Final +10 no-water 200 ns trajectory is identified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B0946E-4A37-4BB6-9544-89FAF6EB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Final pair: EGFR_plus10_step7_production_nw.gro + EGFR_plus10_step7_200ns_nw.xtc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DF11E-FD98-417E-9C05-CF4747B8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A90E6-4FB3-442D-9BFD-0F613DAD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gmx_check atoms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D5CFA-EBCE-48CC-8D78-2AC61FD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49,854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10331-DFD4-4918-85EC-89BAF98A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 no-water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45EF0-F6D4-448F-BB77-29178896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71325-C323-4517-88F3-95425CDC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coordinate frames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85720-928E-4CF7-92EB-F7BBD743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2,001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DC8B7-298E-4249-ACD0-1DCFCDD5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100 ps output interval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3E85D-237F-4851-9A66-F4C9CDF1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EE2D6-4C1C-481A-A165-3351FBD3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time span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5CE28-D9D6-4618-B089-55D6DD9C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0-200 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C8642-0BBA-4212-92F4-54CCC6C3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0-200,000 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67589-3072-44EE-8352-80A64B24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9A056-57F3-46DD-99C3-A5DB06FB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analysis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4CAB3-3529-4774-9246-ED1FE4E1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49E18-DC1F-4C79-8733-B51C7800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final-pair metric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475B6-D3D4-4344-A880-17D8344B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1" name="slide5-kd-dist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385bfa659446f"/>
          <a:stretch xmlns:a="http://schemas.openxmlformats.org/drawingml/2006/main"/>
        </p:blipFill>
        <p:spPr>
          <a:xfrm xmlns:a="http://schemas.openxmlformats.org/drawingml/2006/main">
            <a:off x="9144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564DC-E8E9-4136-B8B2-0BC80A03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KD-to-membrane absolute distance across final 200 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488B3-39BE-49A3-AA5A-C20CAA32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4" name="slide5-contac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6119e200b4bde"/>
          <a:stretch xmlns:a="http://schemas.openxmlformats.org/drawingml/2006/main"/>
        </p:blipFill>
        <p:spPr>
          <a:xfrm xmlns:a="http://schemas.openxmlformats.org/drawingml/2006/main">
            <a:off x="653415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63EEA6-E8B6-4744-A9C3-5C921B8C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Inter-protomer heavy contacts within 4.5 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13D85E-D824-4CB0-84BA-99D508CF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7" name="slide5-tm-kd-til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742079e8947df"/>
          <a:stretch xmlns:a="http://schemas.openxmlformats.org/drawingml/2006/main"/>
        </p:blipFill>
        <p:spPr>
          <a:xfrm xmlns:a="http://schemas.openxmlformats.org/drawingml/2006/main">
            <a:off x="121539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9DE909-ADA1-4D45-86EE-FB24CA81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TM-KD vector angle relative to membrane normal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83E8A-B5F6-4C74-B630-8F69426F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Boundary note: 3.rotate_EGFR/10/full_200ns.xtc is not used as final evidence; final claim uses the packaged receptor/trajectory pair and uploaded gmx_check log.</a:t>
            </a:r>
          </a:p>
        </p:txBody>
      </p:sp>
      <p:sp>
        <p:nvSpPr>
          <p:cNvPr id="30" name="footer-label-05 / 09">
            <a:extLst xmlns:a="http://schemas.openxmlformats.org/drawingml/2006/main">
              <a:ext uri="{FF2B5EF4-FFF2-40B4-BE49-F238E27FC236}">
                <a16:creationId xmlns:a16="http://schemas.microsoft.com/office/drawing/2014/main" id="{01FDB8BF-768F-40A9-8AE8-484C0727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05 / 09</a:t>
            </a:r>
          </a:p>
        </p:txBody>
      </p:sp>
      <p:sp>
        <p:nvSpPr>
          <p:cNvPr id="31" name="footer-source-05 / 09">
            <a:extLst xmlns:a="http://schemas.openxmlformats.org/drawingml/2006/main">
              <a:ext uri="{FF2B5EF4-FFF2-40B4-BE49-F238E27FC236}">
                <a16:creationId xmlns:a16="http://schemas.microsoft.com/office/drawing/2014/main" id="{95493A8D-77D0-488D-9644-D6CE739B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9563100"/>
            <a:ext cx="508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03_receptor_pack/metadata/gmx_check_EGFR_plus10_step7_200ns_nw.txt and trajectory_metrics/</a:t>
            </a:r>
          </a:p>
        </p:txBody>
      </p:sp>
    </p:spTree>
    <p:extLst>
      <p:ext uri="{BB962C8B-B14F-4D97-AF65-F5344CB8AC3E}">
        <p14:creationId xmlns:p14="http://schemas.microsoft.com/office/powerpoint/2010/main" val="7363317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C808B36-2E56-4D7D-854B-D9DFF928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Structural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460172-1599-4BC7-B429-EC7CCE00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1391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+10° receptor frame is the downstream input candidate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41BB61-D892-455F-8AEB-0721F17E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현재 단계에서는 membrane-compatible inactive dimer frame으로 해석하되, 구조 render는 실제 PDB/GRO에서 생성해야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B22E5-BEE7-4BEA-A0A7-6A7AB041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6560"/>
            <a:ext cx="5057775" cy="569214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5" name="slide6-sid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71f6aec134243"/>
          <a:stretch xmlns:a="http://schemas.openxmlformats.org/drawingml/2006/main"/>
        </p:blipFill>
        <p:spPr>
          <a:xfrm xmlns:a="http://schemas.openxmlformats.org/drawingml/2006/main">
            <a:off x="914400" y="4153240"/>
            <a:ext cx="4829175" cy="310447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C2753-95C7-4C62-9671-34634C03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0100"/>
            <a:ext cx="483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Side view: membrane plane + EGFR dimer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8ADD0-706F-4384-9089-A28A13A1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56560"/>
            <a:ext cx="5057775" cy="569214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8" name="slide6-t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53ad07cc044b6"/>
          <a:stretch xmlns:a="http://schemas.openxmlformats.org/drawingml/2006/main"/>
        </p:blipFill>
        <p:spPr>
          <a:xfrm xmlns:a="http://schemas.openxmlformats.org/drawingml/2006/main">
            <a:off x="6143625" y="4153240"/>
            <a:ext cx="4829175" cy="310447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00696-67B1-4CFD-801C-D23426E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420100"/>
            <a:ext cx="483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Top view: dimer interface 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51373-C4DB-4379-8412-4BF707F5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9527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F6CDF-3104-48DF-81E4-12DA5756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295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9A2B8-53C4-479B-A1C2-43234C9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29565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model preserves a membrane-proximal inactive TM-JM-KD dimer frame.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B7B6C-FA5B-4B69-84D1-7437FA22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962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76D5E-6A56-4C3D-A599-932ED43C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6240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200 ns metrics support using this receptor frame as the next input candidate.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0B8EE-32DB-4FD2-9BE3-3F25F899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648200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6E258-469C-444B-AFB5-BA063F8A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8387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150-200 ns KD distance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AE935-EDDC-4503-87AB-B98F17E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0673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25.66 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6C35E-9CCD-4EC2-BE76-FC0D7E2C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6007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±0.86 from final-pair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1DB51-EC2C-4014-A4F6-55F206B5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276975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E6519-2A7C-4DF7-B013-7D7B99B2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77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150-200 ns contacts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6636C-1ED8-4932-B86B-04DAE406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7056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505.28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D1829-1B5A-4C90-936D-D2C3A601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7239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±38.10 heavy contacts within 4.5 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5DEAF-53BE-4406-A9D5-770F287A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905750"/>
            <a:ext cx="6076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Caveats: GRO lacks chain IDs, so protomers are split by residue order; residue labels 689/692/713/715 are not all lysines in the final topology.</a:t>
            </a:r>
          </a:p>
        </p:txBody>
      </p:sp>
      <p:sp>
        <p:nvSpPr>
          <p:cNvPr id="24" name="footer-label-06 / 09">
            <a:extLst xmlns:a="http://schemas.openxmlformats.org/drawingml/2006/main">
              <a:ext uri="{FF2B5EF4-FFF2-40B4-BE49-F238E27FC236}">
                <a16:creationId xmlns:a16="http://schemas.microsoft.com/office/drawing/2014/main" id="{5B63E627-BD6B-48A0-8F8B-392BC9A3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06 / 09</a:t>
            </a:r>
          </a:p>
        </p:txBody>
      </p:sp>
      <p:sp>
        <p:nvSpPr>
          <p:cNvPr id="25" name="footer-source-06 / 09">
            <a:extLst xmlns:a="http://schemas.openxmlformats.org/drawingml/2006/main">
              <a:ext uri="{FF2B5EF4-FFF2-40B4-BE49-F238E27FC236}">
                <a16:creationId xmlns:a16="http://schemas.microsoft.com/office/drawing/2014/main" id="{E18EFA83-0FCB-4011-ADBB-89AA8C8E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954405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final +10 PDB/GRO, membrane_stability_*_mdanalysis.csv, domain coloring scripts</a:t>
            </a:r>
          </a:p>
        </p:txBody>
      </p:sp>
    </p:spTree>
    <p:extLst>
      <p:ext uri="{BB962C8B-B14F-4D97-AF65-F5344CB8AC3E}">
        <p14:creationId xmlns:p14="http://schemas.microsoft.com/office/powerpoint/2010/main" val="20963561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63D5796-AFDA-49CE-A0FA-35128CBC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600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Trajectory clustering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108AB2-A556-4AB6-B5C2-1CCA79B9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3373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Older representative exists; final-window reps need confirmation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33F13D-7E52-49BE-9F88-A68B066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301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80-100 ns clustering can support context, but requested 160-185 / 170-200 ns representatives are not confirmed by surrounding summaries.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96052-B27B-4049-927C-234BBB18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0840"/>
            <a:ext cx="8096250" cy="2783205"/>
          </a:xfrm>
          <a:prstGeom xmlns:a="http://schemas.openxmlformats.org/drawingml/2006/main" prst="roundRect">
            <a:avLst>
              <a:gd name="adj" fmla="val 2738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5" name="slide7-popul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5a7f5d32643a3"/>
          <a:stretch xmlns:a="http://schemas.openxmlformats.org/drawingml/2006/main"/>
        </p:blipFill>
        <p:spPr>
          <a:xfrm xmlns:a="http://schemas.openxmlformats.org/drawingml/2006/main">
            <a:off x="2010181" y="3006090"/>
            <a:ext cx="5676087" cy="23983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5847F-81E1-415F-8E72-4E06331A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7867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80-100 ns cluster population; C1 = 150/201 frames (74.6%)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E0B11-B4FA-4F9B-B665-D548F94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5495"/>
            <a:ext cx="8096250" cy="2783205"/>
          </a:xfrm>
          <a:prstGeom xmlns:a="http://schemas.openxmlformats.org/drawingml/2006/main" prst="roundRect">
            <a:avLst>
              <a:gd name="adj" fmla="val 2738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8" name="slide7-timeli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a2eaee63d420f"/>
          <a:stretch xmlns:a="http://schemas.openxmlformats.org/drawingml/2006/main"/>
        </p:blipFill>
        <p:spPr>
          <a:xfrm xmlns:a="http://schemas.openxmlformats.org/drawingml/2006/main">
            <a:off x="1436856" y="5960745"/>
            <a:ext cx="6822738" cy="239839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65727-9E13-4C2B-B88E-091249C5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0100"/>
            <a:ext cx="7867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80-100 ns cluster timeline; representative C1 frame time = 84.0 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F1E56-37D5-4AB0-9BE9-750BA47D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371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Representative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58F05-5CBE-4B0E-8082-FD972050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89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EB333-86E2-45F9-B2E8-B25D04DB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671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80-100 ns C1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25977-75BC-499B-9EDD-AF5E59DB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486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found: C1 150/201 frames, representative 84.0 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6D22A-961D-4ED2-9225-9CD22003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4861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supporting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212BE-912E-4266-BBA1-54B64527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271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FBAC2-A794-48C0-B74D-E2E7DA83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053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160-185 ns C1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C83AE-08CE-4321-A152-260F1CAD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3243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confirmed clustering summary not found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84D5E-87CC-4F64-9CBA-A6ADB435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43243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missing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7AFF1-7A70-4AA2-8C3B-533745DB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653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46028-D3BB-40B8-9641-8F74B125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435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170-200 ns C1/C2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53202-4983-41A0-924B-B3B05C42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162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confirmed clustering summaries not found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99A9F-91CB-4AB8-82CC-FDEA9787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51625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missing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E5692-3526-446E-B80D-1DD54593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035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5C5FD-43D4-46AE-87AE-AF642E22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817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EGFR_160-185.pdb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9CB95-E5C4-4502-82F3-6723D5BB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0007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file exists under 60-85 ns result folder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0FE989-6E58-473C-B038-02320EEF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60007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ambiguous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8AA0A-513D-45D6-9F43-3B53CBC3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17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B9A3F-67D0-4114-AA9C-62F2E66E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8199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EGFR_170-200.pdb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1ED98E-5DCD-49B8-AF08-E6FF972F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8389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file exists under 70-100 ns result folder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705F24-325D-40C1-A3C4-965D45D1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68389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ambiguous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03F5C8-6AB1-4974-935C-85EF4CFB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372350"/>
            <a:ext cx="824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PPT wording rule: do not present the ambiguous PDB filenames as final 160-200 ns representatives until a matching summary/log confirms the interval.</a:t>
            </a:r>
          </a:p>
        </p:txBody>
      </p:sp>
      <p:sp>
        <p:nvSpPr>
          <p:cNvPr id="32" name="footer-label-07 / 09">
            <a:extLst xmlns:a="http://schemas.openxmlformats.org/drawingml/2006/main">
              <a:ext uri="{FF2B5EF4-FFF2-40B4-BE49-F238E27FC236}">
                <a16:creationId xmlns:a16="http://schemas.microsoft.com/office/drawing/2014/main" id="{F5E5A59D-76E8-4EBF-BD21-8C1E7256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07 / 09</a:t>
            </a:r>
          </a:p>
        </p:txBody>
      </p:sp>
      <p:sp>
        <p:nvSpPr>
          <p:cNvPr id="33" name="footer-source-07 / 09">
            <a:extLst xmlns:a="http://schemas.openxmlformats.org/drawingml/2006/main">
              <a:ext uri="{FF2B5EF4-FFF2-40B4-BE49-F238E27FC236}">
                <a16:creationId xmlns:a16="http://schemas.microsoft.com/office/drawing/2014/main" id="{AB3ED13B-8C0C-40B1-8665-8195E7C9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5440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4.+10_clustering/cluster_results/80-100ns_cut0.15 and clustering audit reports</a:t>
            </a:r>
          </a:p>
        </p:txBody>
      </p:sp>
    </p:spTree>
    <p:extLst>
      <p:ext uri="{BB962C8B-B14F-4D97-AF65-F5344CB8AC3E}">
        <p14:creationId xmlns:p14="http://schemas.microsoft.com/office/powerpoint/2010/main" val="10218096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86371DC-BE3C-495D-8FCE-FFE89ACD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Current status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81707E-7484-4436-B7A0-A88966A1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24968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Separate confirmed receptor evidence from unresolved work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7236CF-CF70-4E96-944C-0586EBE0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146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현 단계에서 claim 가능한 receptor-modeling/MD validation 범위와, 확인 후 진행해야 할 downstream work를 분리한다.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F3F1B-6BE6-4D7F-AA0A-F4B1402A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9390"/>
            <a:ext cx="5422900" cy="4937760"/>
          </a:xfrm>
          <a:prstGeom xmlns:a="http://schemas.openxmlformats.org/drawingml/2006/main" prst="roundRect">
            <a:avLst>
              <a:gd name="adj" fmla="val 1543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A7660-D3BB-4961-9F2E-2A81AC16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971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Confirmed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F5674-83A4-44DD-9253-E267B9FA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CCEBD-75E6-48BD-9495-D39529B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 TM-JM-KD inactive dimer composite model was constructed.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C4183-5210-48D2-99C0-5C0E9332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9EA47-316A-4CCD-BE26-CE78A23F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is the current receptor input candidate among available parsed orientation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D3788-2374-4DC5-BAC8-B83AD17A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9F1BF-D253-4FDD-AA3D-495311C4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no-water trajectory identity is confirmed: 49,854 atoms, 2,001 frames, 0-200 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48856-305E-41D9-B3D1-E0278B53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81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64A22-9751-421C-B9D9-15F1745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8165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Final-pair membrane-stability metrics are available with OK rows.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113F3-2AF0-48DB-962D-43AB310E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2739390"/>
            <a:ext cx="5422900" cy="4937760"/>
          </a:xfrm>
          <a:prstGeom xmlns:a="http://schemas.openxmlformats.org/drawingml/2006/main" prst="roundRect">
            <a:avLst>
              <a:gd name="adj" fmla="val 1543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E6326-A1AD-48D9-999A-83EB1625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123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Needs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204D9-40D4-4F7A-B924-91BD5616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DAC18-1C6B-4054-B724-0BC16424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Requested 160-185 / 170-200 ns representatives need matching clustering summaries.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759E1-B50C-4013-B0B0-250B1FDE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BCE64-F823-4E03-AFAA-E7C0EE8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743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Ambiguous EGFR_160-185.pdb and EGFR_170-200.pdb must not be used as confirmed final-window reps.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EA17E-6708-4F7E-8FD5-5775D6F5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BD243-871F-4F8A-BD61-1CB3F422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435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Publication-quality side/top structure renders still need to be generated from actual PDB/GRO.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E2302-3D20-4108-B88C-73BC256F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48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17421-CBCF-4D71-A951-362A861B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4835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JM-A coordinate-generation provenance remains a caveat.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E3B7E-6FED-49AD-8457-3C47EA92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739390"/>
            <a:ext cx="5422900" cy="4937760"/>
          </a:xfrm>
          <a:prstGeom xmlns:a="http://schemas.openxmlformats.org/drawingml/2006/main" prst="roundRect">
            <a:avLst>
              <a:gd name="adj" fmla="val 1543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1AB37-B939-498A-BF07-4144EB7E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952750"/>
            <a:ext cx="1085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Future work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E8F85-37EF-4480-B8B5-78DE9405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295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2711C-F9E9-4EF9-8F6D-34C25E66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2956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and consensus interface analysis.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4BC458-A8BF-44F8-9317-749D6495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733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CB3BF-F507-437D-AD4C-35BF4C0A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73380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 extraction.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0BF3E-2A48-4B38-9C5D-6EB771A8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71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802D97-C451-4E59-A0BA-AF9BEB44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1719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PPI-adjacent pocket discovery.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CC1694-A479-41F8-A009-00D8DA92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10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92AE03-3BBA-4C93-A2D8-FA0DEF14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6101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 after receptor representative is finalized.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D90069-C40F-475C-A824-E1E7635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43850"/>
            <a:ext cx="1668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270C5A-7D2C-40D5-A3F2-1D535BC7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96250"/>
            <a:ext cx="1623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Presentation rule: receptor model and MD validation are current results; MYO1D/PPI/pocket/compound outputs remain future work until new evidence is added.</a:t>
            </a:r>
          </a:p>
        </p:txBody>
      </p:sp>
      <p:sp>
        <p:nvSpPr>
          <p:cNvPr id="36" name="footer-label-08 / 09">
            <a:extLst xmlns:a="http://schemas.openxmlformats.org/drawingml/2006/main">
              <a:ext uri="{FF2B5EF4-FFF2-40B4-BE49-F238E27FC236}">
                <a16:creationId xmlns:a16="http://schemas.microsoft.com/office/drawing/2014/main" id="{7AD59756-FFF1-4BDE-88EB-B613EC5F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08 / 09</a:t>
            </a:r>
          </a:p>
        </p:txBody>
      </p:sp>
      <p:sp>
        <p:nvSpPr>
          <p:cNvPr id="37" name="footer-source-08 / 09">
            <a:extLst xmlns:a="http://schemas.openxmlformats.org/drawingml/2006/main">
              <a:ext uri="{FF2B5EF4-FFF2-40B4-BE49-F238E27FC236}">
                <a16:creationId xmlns:a16="http://schemas.microsoft.com/office/drawing/2014/main" id="{85C00F01-8233-467A-966B-0996656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9544050"/>
            <a:ext cx="440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reports/EGFR_modeling_clustering_PPT_data_package.md and reports/다음할일.md</a:t>
            </a:r>
          </a:p>
        </p:txBody>
      </p:sp>
    </p:spTree>
    <p:extLst>
      <p:ext uri="{BB962C8B-B14F-4D97-AF65-F5344CB8AC3E}">
        <p14:creationId xmlns:p14="http://schemas.microsoft.com/office/powerpoint/2010/main" val="1265800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AF8DD92-BF1E-4382-B0A7-E994C407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066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Next decision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3D470C-DBA7-44C1-A3C8-517043E1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247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Confirm receptor representative, then start MYO1D PPI work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AB0678-AFEE-4C50-AB11-7F4FA1AC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114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교수님께 final receptor state와 clustering window 사용 여부를 확인받고, downstream 분석을 순차적으로 진행한다.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B8EC1-A5E8-428C-9DF5-04370CA6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3630"/>
            <a:ext cx="7334250" cy="6275070"/>
          </a:xfrm>
          <a:prstGeom xmlns:a="http://schemas.openxmlformats.org/drawingml/2006/main" prst="roundRect">
            <a:avLst>
              <a:gd name="adj" fmla="val 1214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F9C48-FBD9-4102-8034-F344B584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110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Feedback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59471-39F1-45B7-9032-ED037AF2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66865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32026"/>
                </a:solidFill>
              </a:defRPr>
            </a:pPr>
            <a:r>
              <a:rPr sz="2850" b="1">
                <a:solidFill>
                  <a:srgbClr val="132026"/>
                </a:solidFill>
              </a:rPr>
              <a:t>Which receptor state should become the MYO1D docking input?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1A1BE-3CF4-4F03-BAAF-C55EDA1D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03A"/>
          </a:solidFill>
          <a:ln xmlns:a="http://schemas.openxmlformats.org/drawingml/2006/main" w="0">
            <a:solidFill>
              <a:srgbClr val="E69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DF921-A26F-4FB3-8456-BA36E58A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68925-E148-4016-87F2-91C26FD0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647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Pre-MD final +10 PDB vs final 200 ns coordinate vs confirmed cluster representative.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7FFAA-1F1E-409F-8B66-99C13E16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5FBA5-64FF-45DA-9A17-01F88F5A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Use 150-200 ns, 160-200 ns, or another final-window clustering interval?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51344-1B54-4C1E-85EA-A0E7440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72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12D4A-A22E-4126-ACEF-C97E9EB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72150"/>
            <a:ext cx="647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Redefine positive-patch residue labels using final topology residue identity.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A9328-BFE2-4EE5-BD16-0E3DF7DC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515100"/>
            <a:ext cx="6686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Data to add later if selected: confirmed final-window clustering summary/PDB, side/top structural render PNGs, updated decision log.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AEB3C-E442-4AF1-B1E4-72B05D27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8125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Sequential next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9C806-B86D-488A-A86F-650ACE43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194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AC8E7-3485-456D-8DBD-073DA74A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A3108-4964-4758-A411-004CCFCB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Confirm representative receptor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E9512-5812-4378-94ED-C72226BC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6230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professor decision + clustering window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BED98-394E-405D-981B-6C5FD08B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BE4E7-0CD9-42D5-9D0C-9F40F067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4810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ADE21-1A00-4DDF-ADA9-9DF264FB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Run / finalize MYO1D docking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DBFCE-7498-4C43-BA6B-AEA462AE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5765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TH1 beta-meander focused receptor-PPI input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82E70-9EB1-4585-B89F-13A5ED8F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101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FC665-0B64-4C69-98B6-D53273B9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4345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1E9D2-CAE7-4F4F-A9C7-CFCAD0CA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6725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Extract EGFR-side PPI patch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D7FD4-3EA4-4EB2-87E0-A591460E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5300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consensus interface residues and contact logic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2D5AA5-D118-4996-89D5-CF96AC90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054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012BE-D7C3-4F2D-AC21-C1D760A1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3880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FE6BDB-1A54-40B6-98A1-53B8AE27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6260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Identify PPI-adjacent pocket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8E9AB-C4F9-4736-8420-32E66A00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4835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non-ATP pocket hypothesis after interface mapping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1714E4-884F-4931-915D-0519A2A4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4008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6F6882-9494-4349-B366-0D6FB82C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53415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EBD27D-6646-4FBC-9783-2EC1DE95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45795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Compound docking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E50E7A-DDB3-4101-B65F-913D39EC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74370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only after receptor/PPI pocket evidence is fixed</a:t>
            </a:r>
          </a:p>
        </p:txBody>
      </p:sp>
      <p:sp>
        <p:nvSpPr>
          <p:cNvPr id="36" name="footer-label-09 / 09">
            <a:extLst xmlns:a="http://schemas.openxmlformats.org/drawingml/2006/main">
              <a:ext uri="{FF2B5EF4-FFF2-40B4-BE49-F238E27FC236}">
                <a16:creationId xmlns:a16="http://schemas.microsoft.com/office/drawing/2014/main" id="{67575533-001F-48EE-8441-E64F66C9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09 / 09</a:t>
            </a:r>
          </a:p>
        </p:txBody>
      </p:sp>
      <p:sp>
        <p:nvSpPr>
          <p:cNvPr id="37" name="footer-source-09 / 09">
            <a:extLst xmlns:a="http://schemas.openxmlformats.org/drawingml/2006/main">
              <a:ext uri="{FF2B5EF4-FFF2-40B4-BE49-F238E27FC236}">
                <a16:creationId xmlns:a16="http://schemas.microsoft.com/office/drawing/2014/main" id="{656845C2-2471-45F2-AB8B-A60EF76D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95440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Next-work details are documented in reports/다음할일.md</a:t>
            </a:r>
          </a:p>
        </p:txBody>
      </p:sp>
    </p:spTree>
    <p:extLst>
      <p:ext uri="{BB962C8B-B14F-4D97-AF65-F5344CB8AC3E}">
        <p14:creationId xmlns:p14="http://schemas.microsoft.com/office/powerpoint/2010/main" val="261992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2026-04-29T13:02:45.9400000Z</dcterms:created>
  <dcterms:modified xsi:type="dcterms:W3CDTF">2026-04-29T13:02:45.9400000Z</dcterms:modified>
</coreProperties>
</file>