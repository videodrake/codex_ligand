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74432938f74b6b" /><Relationship Type="http://schemas.openxmlformats.org/officeDocument/2006/relationships/extended-properties" Target="/docProps/app.xml" Id="R2ffd6c48da9f4002" /><Relationship Type="http://schemas.openxmlformats.org/officeDocument/2006/relationships/officeDocument" Target="/ppt/presentation.xml" Id="R9c42dc200a6247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82630f7d0d41a5"/>
  </p:sldMasterIdLst>
  <p:notesMasterIdLst>
    <p:notesMasterId xmlns:r="http://schemas.openxmlformats.org/officeDocument/2006/relationships" r:id="Rcf564ad48cfa4d93"/>
  </p:notesMasterIdLst>
  <p:sldIdLst>
    <p:sldId xmlns:r="http://schemas.openxmlformats.org/officeDocument/2006/relationships" id="256" r:id="R8cd5e65efab04b7b"/>
    <p:sldId xmlns:r="http://schemas.openxmlformats.org/officeDocument/2006/relationships" id="257" r:id="Rdebbb163055e4149"/>
    <p:sldId xmlns:r="http://schemas.openxmlformats.org/officeDocument/2006/relationships" id="258" r:id="R864314d30612489d"/>
    <p:sldId xmlns:r="http://schemas.openxmlformats.org/officeDocument/2006/relationships" id="259" r:id="R99eea0ac383f44b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2630f7d0d41a5" /><Relationship Type="http://schemas.openxmlformats.org/officeDocument/2006/relationships/theme" Target="/ppt/theme/theme1.xml" Id="Re8f249e096a54572" /><Relationship Type="http://schemas.openxmlformats.org/officeDocument/2006/relationships/notesMaster" Target="/ppt/notesMasters/notesMaster1.xml" Id="Rcf564ad48cfa4d93" /><Relationship Type="http://schemas.openxmlformats.org/officeDocument/2006/relationships/presProps" Target="/ppt/presProps.xml" Id="R8f585a14c9c447d4" /><Relationship Type="http://schemas.openxmlformats.org/officeDocument/2006/relationships/viewProps" Target="/ppt/viewProps.xml" Id="R875573d47fb045ee" /><Relationship Type="http://schemas.openxmlformats.org/officeDocument/2006/relationships/tableStyles" Target="/ppt/tableStyles.xml" Id="R942ebc0fcf914409" /><Relationship Type="http://schemas.openxmlformats.org/officeDocument/2006/relationships/slide" Target="/ppt/slides/slide1.xml" Id="R8cd5e65efab04b7b" /><Relationship Type="http://schemas.openxmlformats.org/officeDocument/2006/relationships/slide" Target="/ppt/slides/slide2.xml" Id="Rdebbb163055e4149" /><Relationship Type="http://schemas.openxmlformats.org/officeDocument/2006/relationships/slide" Target="/ppt/slides/slide3.xml" Id="R864314d30612489d" /><Relationship Type="http://schemas.openxmlformats.org/officeDocument/2006/relationships/slide" Target="/ppt/slides/slide4.xml" Id="R99eea0ac383f44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3fbbfc39dfa46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0f4556774f4143" /><Relationship Type="http://schemas.openxmlformats.org/officeDocument/2006/relationships/notesMaster" Target="/ppt/notesMasters/notesMaster1.xml" Id="R1f896d050c9d45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3ae2f8e1f04e0f" /><Relationship Type="http://schemas.openxmlformats.org/officeDocument/2006/relationships/notesMaster" Target="/ppt/notesMasters/notesMaster1.xml" Id="Ref12a292dc7a4a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74ff95b55b4db4" /><Relationship Type="http://schemas.openxmlformats.org/officeDocument/2006/relationships/notesMaster" Target="/ppt/notesMasters/notesMaster1.xml" Id="R6bfaf12c72ec4f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ab403bcdea4ae1" /><Relationship Type="http://schemas.openxmlformats.org/officeDocument/2006/relationships/notesMaster" Target="/ppt/notesMasters/notesMaster1.xml" Id="Rf0d1656120384a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65862d97a463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4898ab2765345f2" /><Relationship Type="http://schemas.openxmlformats.org/officeDocument/2006/relationships/slideLayout" Target="/ppt/slideLayouts/slideLayout2.xml" Id="R9ffc63a1ed7c48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fc63a1ed7c48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2b569172a243b1" /><Relationship Type="http://schemas.openxmlformats.org/officeDocument/2006/relationships/image" Target="/ppt/media/image.png" Id="R0a1655a985f443ed" /><Relationship Type="http://schemas.openxmlformats.org/officeDocument/2006/relationships/notesSlide" Target="/ppt/notesSlides/notesSlide1.xml" Id="Rcfc6321e19ad49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0629c80e08493b" /><Relationship Type="http://schemas.openxmlformats.org/officeDocument/2006/relationships/notesSlide" Target="/ppt/notesSlides/notesSlide2.xml" Id="Rdececa99ec6a4b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bf322c3ac848e9" /><Relationship Type="http://schemas.openxmlformats.org/officeDocument/2006/relationships/notesSlide" Target="/ppt/notesSlides/notesSlide3.xml" Id="R7a441364ee3343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d3c98c37ae45b2" /><Relationship Type="http://schemas.openxmlformats.org/officeDocument/2006/relationships/image" Target="/ppt/media/image2.png" Id="R73c78b3ae43f4bbc" /><Relationship Type="http://schemas.openxmlformats.org/officeDocument/2006/relationships/image" Target="/ppt/media/image3.png" Id="R448493bc93404308" /><Relationship Type="http://schemas.openxmlformats.org/officeDocument/2006/relationships/image" Target="/ppt/media/image4.png" Id="R0261e5b7d8eb447c" /><Relationship Type="http://schemas.openxmlformats.org/officeDocument/2006/relationships/image" Target="/ppt/media/image5.png" Id="R59a36524c625428b" /><Relationship Type="http://schemas.openxmlformats.org/officeDocument/2006/relationships/notesSlide" Target="/ppt/notesSlides/notesSlide4.xml" Id="Rc36f2533a2de45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655a985f443e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96EA2C3-3957-4862-AA57-BBF52ADB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316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EGFR-MYO1D receptor modeling update</a:t>
            </a:r>
          </a:p>
        </p:txBody>
      </p:sp>
      <p:sp>
        <p:nvSpPr>
          <p:cNvPr id="3" name="slide-title-line-1">
            <a:extLst xmlns:a="http://schemas.openxmlformats.org/drawingml/2006/main">
              <a:ext uri="{FF2B5EF4-FFF2-40B4-BE49-F238E27FC236}">
                <a16:creationId xmlns:a16="http://schemas.microsoft.com/office/drawing/2014/main" id="{218A0E4B-0EB8-4EDB-9068-AECD93D3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Membrane-compatible</a:t>
            </a:r>
          </a:p>
        </p:txBody>
      </p:sp>
      <p:sp>
        <p:nvSpPr>
          <p:cNvPr id="4" name="slide-title-line-2">
            <a:extLst xmlns:a="http://schemas.openxmlformats.org/drawingml/2006/main">
              <a:ext uri="{FF2B5EF4-FFF2-40B4-BE49-F238E27FC236}">
                <a16:creationId xmlns:a16="http://schemas.microsoft.com/office/drawing/2014/main" id="{AC3CD771-551D-4573-B601-63382BD9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EGFR dimer receptor</a:t>
            </a:r>
          </a:p>
        </p:txBody>
      </p:sp>
      <p:sp>
        <p:nvSpPr>
          <p:cNvPr id="5" name="slide-title-line-3">
            <a:extLst xmlns:a="http://schemas.openxmlformats.org/drawingml/2006/main">
              <a:ext uri="{FF2B5EF4-FFF2-40B4-BE49-F238E27FC236}">
                <a16:creationId xmlns:a16="http://schemas.microsoft.com/office/drawing/2014/main" id="{23908F07-3285-4204-AD87-220594B2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32026"/>
                </a:solidFill>
              </a:defRPr>
            </a:pPr>
            <a:r>
              <a:rPr sz="4350" b="1">
                <a:solidFill>
                  <a:srgbClr val="132026"/>
                </a:solidFill>
              </a:rPr>
              <a:t>model 구축 및 clustering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473CC-F60C-4392-95F2-1239349B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6D"/>
          </a:solidFill>
          <a:ln xmlns:a="http://schemas.openxmlformats.org/drawingml/2006/main" w="0">
            <a:solidFill>
              <a:srgbClr val="23A66D"/>
            </a:solidFill>
            <a:prstDash val="solid"/>
          </a:ln>
        </p:spPr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CE6DC19-A9AB-4E69-AD06-781FCE79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7715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05A"/>
                </a:solidFill>
              </a:defRPr>
            </a:pPr>
            <a:r>
              <a:rPr sz="1875">
                <a:solidFill>
                  <a:srgbClr val="40505A"/>
                </a:solidFill>
              </a:rPr>
              <a:t>후속 MYO1D PPI 분석 전, EGFR receptor input을 +10° model과 final 200 ns MD validation 기준으로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3BA94-5D80-470C-BF60-2D756511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667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62589-9859-4886-97D4-D72DE5C4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16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receptor 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FAC37-157C-46B5-AB19-ED08A9D0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3870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A4332-1DE6-471A-917D-A349D2C3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89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C545C-E9BB-4924-8FF9-3F01B56C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38700"/>
            <a:ext cx="2095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238C8-B088-464E-9713-6EF56617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339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clustering</a:t>
            </a:r>
          </a:p>
        </p:txBody>
      </p:sp>
      <p:sp>
        <p:nvSpPr>
          <p:cNvPr id="14" name="scope-note">
            <a:extLst xmlns:a="http://schemas.openxmlformats.org/drawingml/2006/main">
              <a:ext uri="{FF2B5EF4-FFF2-40B4-BE49-F238E27FC236}">
                <a16:creationId xmlns:a16="http://schemas.microsoft.com/office/drawing/2014/main" id="{36E72931-33C5-4783-B54E-291CE794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634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47C"/>
                </a:solidFill>
              </a:defRPr>
            </a:pPr>
            <a:r>
              <a:rPr sz="1275">
                <a:solidFill>
                  <a:srgbClr val="65747C"/>
                </a:solidFill>
              </a:rPr>
              <a:t>Scope: PPI docking, pocket discovery, compound docking은 이번 발표에서 결과로 다루지 않음</a:t>
            </a:r>
          </a:p>
        </p:txBody>
      </p:sp>
      <p:sp>
        <p:nvSpPr>
          <p:cNvPr id="15" name="footer-label-01 / 09">
            <a:extLst xmlns:a="http://schemas.openxmlformats.org/drawingml/2006/main">
              <a:ext uri="{FF2B5EF4-FFF2-40B4-BE49-F238E27FC236}">
                <a16:creationId xmlns:a16="http://schemas.microsoft.com/office/drawing/2014/main" id="{5AB2F993-5C4A-4644-B257-1559624F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01 / 09</a:t>
            </a:r>
          </a:p>
        </p:txBody>
      </p:sp>
      <p:sp>
        <p:nvSpPr>
          <p:cNvPr id="16" name="footer-source-01 / 09">
            <a:extLst xmlns:a="http://schemas.openxmlformats.org/drawingml/2006/main">
              <a:ext uri="{FF2B5EF4-FFF2-40B4-BE49-F238E27FC236}">
                <a16:creationId xmlns:a16="http://schemas.microsoft.com/office/drawing/2014/main" id="{439EEA47-048C-4632-ACA7-72527B40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9563100"/>
            <a:ext cx="3276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Generated cover is conceptual; scientific claims use local files and logs.</a:t>
            </a:r>
          </a:p>
        </p:txBody>
      </p:sp>
    </p:spTree>
    <p:extLst>
      <p:ext uri="{BB962C8B-B14F-4D97-AF65-F5344CB8AC3E}">
        <p14:creationId xmlns:p14="http://schemas.microsoft.com/office/powerpoint/2010/main" val="12773275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EB10686-79D8-42F2-9F5B-31B64CE7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Modeling logic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5BDDDE-031C-4626-B716-1B3B0B76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5372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Why receptor model first?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2EAE9B-5573-41EA-A26C-19FF6BD2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5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0505A"/>
                </a:solidFill>
              </a:defRPr>
            </a:pPr>
            <a:r>
              <a:rPr sz="1950">
                <a:solidFill>
                  <a:srgbClr val="40505A"/>
                </a:solidFill>
              </a:rPr>
              <a:t>MYO1D PPI docking 전에 EGFR receptor frame을 먼저 고정해야 downstream 해석이 흔들리지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3640C-3C90-4398-BC5E-9A86C926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62928-BD7B-456E-AD58-14D4740C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A66D"/>
                </a:solidFill>
              </a:defRPr>
            </a:pPr>
            <a:r>
              <a:rPr sz="1350" b="1">
                <a:solidFill>
                  <a:srgbClr val="23A66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794A3-BF0D-4A7C-AC99-6D91291D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152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 receptor input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8DEC1-85AB-470E-A07A-F0621160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+10° model + final 200 ns MD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82CE7-B6F1-4968-A3A2-907C8D65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D6E18-2EF8-46DB-AEE7-E01089C1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7386F-95A6-49B2-BA8C-B9201E3A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AC1F0-9F87-4D76-AA50-06F09D21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MYO1D docking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EF6CD-9A30-4C98-873D-4761CF20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next work after receptor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868E7-8412-4626-8B66-5AB57AF4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75124-A794-4F2D-95EF-1C93D55B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A0D10-92B5-43B9-A1FC-4E2217E7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1B71E-60A9-40ED-AE6D-1FB8A6EC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EGFR-side PPI patch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09B93-47FF-48AE-A000-1963599F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9095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interface residues and contact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70E80-9B73-47AC-8826-DA6A9905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51917-E7B7-4243-9164-16C97262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43D50-6B3F-4C1D-AA56-61B81EDC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85FD85-4C0B-499A-B40A-31290F94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Pocket discovery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5B391-A8C0-4FCE-BFCA-74E735C5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PPI-aware pocket hypothesis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D6EEC-55F7-40EF-96FB-6B01760A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D030D9-A878-4340-B0D0-9A4DA515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2ADEDE-B54B-40E7-90A8-84DEF3FD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39149E-C8D0-4276-9BB3-9C9DD773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Compound docking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B944C-9870-4001-AB16-4036DA53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future output, not current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60C2FC-5A2D-4126-978A-52F684F0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11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이번 deck에서 다루는 확정 범위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D780EE-74E2-48F2-A1AB-1A36444F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513ACC-E38F-4EA8-86CD-C5333CEC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template assembly provenance: TM/JM/KD composite model construction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651754-EBA1-448F-AAA4-F378D410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230E5C-219E-4E8D-BD28-0FA60B44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orientation scan: +10° selected among available parsed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8B3447-4EF7-47B4-BD22-8737DA65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235C8F-5AA1-4E87-9005-6F9520C3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receptor pair: +10 no-water 200 ns trajectory identity confirmed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5E9789-8FEB-4C50-8204-040DDF81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276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이번 deck에서 결과로 주장하지 않는 범위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2A3E15-7FC1-4593-893D-B949E121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341EE4-32F1-4F60-832E-431F6986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 docking result는 아직 미수행/미정리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E23AFB-EF76-455C-99EB-03E4FC62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BEAB1F-2BBD-4FD2-9804-29EB0D3C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EGFR-side PPI patch, pocket discovery는 future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36E130-DEBE-4E41-AFC3-31D85F44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A3EEE5-E735-4E47-BE59-57CA2ADF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compound docking은 receptor representative 확정 후 시작</a:t>
            </a:r>
          </a:p>
        </p:txBody>
      </p:sp>
      <p:sp>
        <p:nvSpPr>
          <p:cNvPr id="42" name="footer-label-02 / 09">
            <a:extLst xmlns:a="http://schemas.openxmlformats.org/drawingml/2006/main">
              <a:ext uri="{FF2B5EF4-FFF2-40B4-BE49-F238E27FC236}">
                <a16:creationId xmlns:a16="http://schemas.microsoft.com/office/drawing/2014/main" id="{662E2F34-56FF-4C50-A077-76C209FE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02 / 09</a:t>
            </a:r>
          </a:p>
        </p:txBody>
      </p:sp>
      <p:sp>
        <p:nvSpPr>
          <p:cNvPr id="43" name="footer-source-02 / 09">
            <a:extLst xmlns:a="http://schemas.openxmlformats.org/drawingml/2006/main">
              <a:ext uri="{FF2B5EF4-FFF2-40B4-BE49-F238E27FC236}">
                <a16:creationId xmlns:a16="http://schemas.microsoft.com/office/drawing/2014/main" id="{27DB2FE2-6963-437F-831E-26BAD030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563100"/>
            <a:ext cx="3105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Source: reports/EGFR_modeling_clustering_PPT_data_package.md</a:t>
            </a:r>
          </a:p>
        </p:txBody>
      </p:sp>
    </p:spTree>
    <p:extLst>
      <p:ext uri="{BB962C8B-B14F-4D97-AF65-F5344CB8AC3E}">
        <p14:creationId xmlns:p14="http://schemas.microsoft.com/office/powerpoint/2010/main" val="15367230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C9AF41F-DF74-4171-B994-8FCF2063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Composite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43E778-8AC2-46B8-B11B-25C61570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86487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TM-JM-KD inactive dimer model assembly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6F0F63B-BD6A-49F4-8332-B4E1252D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2134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2M0B TM dimer, 2M20 JM-A reference, 3GT8 inactive KD dimer, MODELLER gap filling을 조합해 EGFR receptor frame을 구성했다.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43B76-CB00-4DA0-B403-3354AF81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4660"/>
            <a:ext cx="10572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263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0B4ED-97ED-48D7-BF18-70A0CE2D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C26E7-EC76-4566-A839-D4837B74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F17A3-C6D4-4317-B90D-E6F36891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Role in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0B0A0-6ABC-469B-9A16-2D1C2AD4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Caveat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CBEF4-9DF3-4DA1-AB89-CC9DC2BD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758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85E0B-C360-4AF5-96DC-10F15AA1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TM dimer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0E1EA-2CF7-4B0F-BE99-2D46ACFE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2M0B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D3F86-A861-4A0E-9F53-68E0C881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33813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transmembrane dimer anchor; local script retained 634-670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BBA25-E1F5-46F8-B6A3-171B165B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mmCIF maps 634-677; local selection is shorter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242FC-A495-4E8C-9B54-41E69203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531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36AFC-75F2-4AA8-9C1D-AEEC66CD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JM-A 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6B1E6-1842-4024-89B3-4D43213E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CDE3D-2D71-43CC-A1E5-068B9321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86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membrane-proximal JM-A orientation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BE34F-7135-4BEB-9FEC-ABBE2887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2915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exact coordinate-generation execution path remains caveated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4EAE8-39FB-49DA-ABA9-7C1533A3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303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BFEF8-55BD-44DE-A33F-2BEEF938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inactive KD dimer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315452-CA5A-4EBC-977F-DB284CFA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3GT8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A0B2A-E737-494D-84AD-08657E53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245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symmetric inactive kinase-domain dimer placement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A182C-5DA5-4363-BA23-AC01948A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435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PDB numbering and working model numbering differ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1A810-0CE4-45FB-96E4-9E75443F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8076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8EE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7F1E6-05BF-453F-BC05-7F8D24C6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81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modeled gaps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6B1226-D986-423A-910B-FC6655AE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3817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MODELLER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03975-1A21-4A14-9391-CCC54F8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3817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JM-B 684-704 and A-loop 862-876 were filled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41A369-5523-4573-9947-C4043292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008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modeled coordinates, not template-derived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6B1215-4AB0-400D-9693-ED2CB997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990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Construction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351C35-F4F1-4931-B09E-BA48B816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4747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E1EF30-C937-445B-97E1-7772D1EA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6195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3DB8FD-D2E6-4482-B131-72818D0E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6195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2M0B TM dimer alignment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C86904-A556-497D-9441-F1852B8B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8671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anchor membrane-spanning dimer geometry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E8803D-9F9E-4F61-A475-5B280326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2938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3379A9-5BAB-48A4-B5F5-4DBA186D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4577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504598-CFC8-40C7-B9F8-EA44EAE3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4386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2M20 JM-A reference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4E2A8E-E28A-4673-A458-97C9D4FD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6863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orient membrane-proximal JM-A segment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1464FD-4E3D-4720-B99C-1AADE212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1130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FC51A6-D321-4AD2-BE73-F4BEFB2A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2578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21001F-A8FD-438F-9190-6A037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2578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3GT8 inactive KD dimer placement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0D52AE-B458-4846-9E9E-BDEA823D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5054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retain inactive symmetric KD context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675F63-5C81-4603-8F28-91D482FF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9321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A7E2D4-7359-4EE6-8BA1-D7BD6431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0960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03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FFCAB1-4CD8-4F27-A932-E7AC6F2E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0769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MODELLER gap filling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930724-4FB5-4B1A-90B2-5F71B2F6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3246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JM-B and A-loop modeled gaps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65D8C7-6071-49C2-AEFD-E3BDCB3C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13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932E2A-E82B-4ACA-AE2E-12333E1C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961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E21031-884A-4060-B462-0DD9966F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8961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five rotational variants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350411-D3D3-4BAD-9DAC-4F5DBB5C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71437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-20°, -10°, 0°, +10°, +20° for scan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FF9629-1CF7-4C4C-B913-BF7F701F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562850"/>
            <a:ext cx="569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Structure render to add later: reports/assets/slide6_plus10_side_view.png or use 03_receptor_pack/figures/EGFR_plus10_domain_coloring.pml</a:t>
            </a:r>
          </a:p>
        </p:txBody>
      </p:sp>
      <p:sp>
        <p:nvSpPr>
          <p:cNvPr id="51" name="footer-label-03 / 09">
            <a:extLst xmlns:a="http://schemas.openxmlformats.org/drawingml/2006/main">
              <a:ext uri="{FF2B5EF4-FFF2-40B4-BE49-F238E27FC236}">
                <a16:creationId xmlns:a16="http://schemas.microsoft.com/office/drawing/2014/main" id="{E0577F6D-7719-4C79-804D-94D31239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03 / 09</a:t>
            </a:r>
          </a:p>
        </p:txBody>
      </p:sp>
      <p:sp>
        <p:nvSpPr>
          <p:cNvPr id="52" name="footer-source-03 / 09">
            <a:extLst xmlns:a="http://schemas.openxmlformats.org/drawingml/2006/main">
              <a:ext uri="{FF2B5EF4-FFF2-40B4-BE49-F238E27FC236}">
                <a16:creationId xmlns:a16="http://schemas.microsoft.com/office/drawing/2014/main" id="{E32A081D-33BF-431A-917F-16BE4F15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9563100"/>
            <a:ext cx="3619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1.align/*, 01_numbering_provenance/template_model_mapping.csv</a:t>
            </a:r>
          </a:p>
        </p:txBody>
      </p:sp>
    </p:spTree>
    <p:extLst>
      <p:ext uri="{BB962C8B-B14F-4D97-AF65-F5344CB8AC3E}">
        <p14:creationId xmlns:p14="http://schemas.microsoft.com/office/powerpoint/2010/main" val="9020321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00FA37B-3269-464B-9D2C-F8630512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Orientation scan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79AD12-90B6-47DE-88AB-A93ACD68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822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Five TM-KD rotations screened; +10° ranked best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55D922D-AD0C-44E2-8132-C201551B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9677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Available parsed metrics support +10° as the working EGFR receptor orientation, with scan-level caveats.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C9639-D2F2-4685-8685-472D8AA4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885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+10° selected metric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93E29-0A2D-4218-91EC-D7B3F287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472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B4648-E9C7-4947-9149-E1001D64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RMSD 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FA3CD-6981-4626-8237-FA6F7A73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2.68 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DFC78-1C36-48E6-BF60-5BBBA82D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±0.39; lowest among parsed scan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DA9E4-F57B-45B5-B5D7-50D82585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4445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9F19A-74B0-4340-9EE0-398A86EF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Rg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8A4D7-92DC-4FF2-9726-BBD979FA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28.31 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3EA32-F723-4C3B-A817-C26D8194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388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±0.12; compact/stable relative 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364D9-2436-4815-AE3F-9F62222A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9417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4EB5D-BD12-4572-97D8-A8047D51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770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Inter-chain H-bond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F59A3-43C7-4BF4-AFE8-3B5B9422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056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11.49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25D24-46F4-4456-894B-F85BFFFD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581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±3.11 where 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2C913-3632-43B7-81BA-9404BF68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0580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Caveat: orientation-wide membrane/contact metrics are incomplete, so this is an available-metric ranking rather than a complete biological stability score.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127CE-CC5A-4A4D-8284-7D13496E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561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19" name="slide4-rms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78b3ae43f4bbc"/>
          <a:stretch xmlns:a="http://schemas.openxmlformats.org/drawingml/2006/main"/>
        </p:blipFill>
        <p:spPr>
          <a:xfrm xmlns:a="http://schemas.openxmlformats.org/drawingml/2006/main">
            <a:off x="6716554" y="307086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C8D05-9B9A-4C2B-A92F-23221489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864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RMSD by orientation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9E234-3A3F-4A12-A431-08CDC0D4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297561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2" name="slide4-r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493bc93404308"/>
          <a:stretch xmlns:a="http://schemas.openxmlformats.org/drawingml/2006/main"/>
        </p:blipFill>
        <p:spPr>
          <a:xfrm xmlns:a="http://schemas.openxmlformats.org/drawingml/2006/main">
            <a:off x="12574429" y="307086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A03AA-163D-453F-A035-38DDC635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4864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Radius of gyration by orientation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0658E-2EF9-4F71-9B18-A41C6605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9788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5" name="slide4-hbo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1e5b7d8eb447c"/>
          <a:stretch xmlns:a="http://schemas.openxmlformats.org/drawingml/2006/main"/>
        </p:blipFill>
        <p:spPr>
          <a:xfrm xmlns:a="http://schemas.openxmlformats.org/drawingml/2006/main">
            <a:off x="6716554" y="599313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1CCE2-6D4D-4A37-9231-AA451F0B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Inter-chain H-bond count where available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FBEA7-5522-4433-A7DA-4D0CBE57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589788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8" name="slide4-sco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36524c625428b"/>
          <a:stretch xmlns:a="http://schemas.openxmlformats.org/drawingml/2006/main"/>
        </p:blipFill>
        <p:spPr>
          <a:xfrm xmlns:a="http://schemas.openxmlformats.org/drawingml/2006/main">
            <a:off x="12574429" y="599313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B3AE1E-B1F9-4FC4-8067-D006037F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Available-metric orientation score</a:t>
            </a:r>
          </a:p>
        </p:txBody>
      </p:sp>
      <p:sp>
        <p:nvSpPr>
          <p:cNvPr id="30" name="footer-label-04 / 09">
            <a:extLst xmlns:a="http://schemas.openxmlformats.org/drawingml/2006/main">
              <a:ext uri="{FF2B5EF4-FFF2-40B4-BE49-F238E27FC236}">
                <a16:creationId xmlns:a16="http://schemas.microsoft.com/office/drawing/2014/main" id="{FAAAC8EC-AE96-4EC4-9421-23ECF1A9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04 / 09</a:t>
            </a:r>
          </a:p>
        </p:txBody>
      </p:sp>
      <p:sp>
        <p:nvSpPr>
          <p:cNvPr id="31" name="footer-source-04 / 09">
            <a:extLst xmlns:a="http://schemas.openxmlformats.org/drawingml/2006/main">
              <a:ext uri="{FF2B5EF4-FFF2-40B4-BE49-F238E27FC236}">
                <a16:creationId xmlns:a16="http://schemas.microsoft.com/office/drawing/2014/main" id="{39F9FFE9-1689-4B09-9491-0AD53ABB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95440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02_orientation_metrics/orientation_comparison_table.csv and figures/</a:t>
            </a:r>
          </a:p>
        </p:txBody>
      </p:sp>
    </p:spTree>
    <p:extLst>
      <p:ext uri="{BB962C8B-B14F-4D97-AF65-F5344CB8AC3E}">
        <p14:creationId xmlns:p14="http://schemas.microsoft.com/office/powerpoint/2010/main" val="555884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2026-04-29T12:29:31.3950000Z</dcterms:created>
  <dcterms:modified xsi:type="dcterms:W3CDTF">2026-04-29T12:29:31.3950000Z</dcterms:modified>
</coreProperties>
</file>