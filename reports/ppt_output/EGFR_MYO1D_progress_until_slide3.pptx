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16bbdc04ea4978" /><Relationship Type="http://schemas.openxmlformats.org/officeDocument/2006/relationships/extended-properties" Target="/docProps/app.xml" Id="Rf1428919eab04cfb" /><Relationship Type="http://schemas.openxmlformats.org/officeDocument/2006/relationships/officeDocument" Target="/ppt/presentation.xml" Id="R5e9edb5e6c0c43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a83f4f09ee40df"/>
  </p:sldMasterIdLst>
  <p:notesMasterIdLst>
    <p:notesMasterId xmlns:r="http://schemas.openxmlformats.org/officeDocument/2006/relationships" r:id="R3eab023b350148e7"/>
  </p:notesMasterIdLst>
  <p:sldIdLst>
    <p:sldId xmlns:r="http://schemas.openxmlformats.org/officeDocument/2006/relationships" id="256" r:id="R2e9ce6bbd66348ad"/>
    <p:sldId xmlns:r="http://schemas.openxmlformats.org/officeDocument/2006/relationships" id="257" r:id="R3662328a827a4737"/>
    <p:sldId xmlns:r="http://schemas.openxmlformats.org/officeDocument/2006/relationships" id="258" r:id="R4ff66d69c6194f3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83f4f09ee40df" /><Relationship Type="http://schemas.openxmlformats.org/officeDocument/2006/relationships/theme" Target="/ppt/theme/theme1.xml" Id="R90f266514740420d" /><Relationship Type="http://schemas.openxmlformats.org/officeDocument/2006/relationships/notesMaster" Target="/ppt/notesMasters/notesMaster1.xml" Id="R3eab023b350148e7" /><Relationship Type="http://schemas.openxmlformats.org/officeDocument/2006/relationships/presProps" Target="/ppt/presProps.xml" Id="R9dcdd05f8b3741c8" /><Relationship Type="http://schemas.openxmlformats.org/officeDocument/2006/relationships/viewProps" Target="/ppt/viewProps.xml" Id="R7521303fd32740eb" /><Relationship Type="http://schemas.openxmlformats.org/officeDocument/2006/relationships/tableStyles" Target="/ppt/tableStyles.xml" Id="R01c3f57211954f0a" /><Relationship Type="http://schemas.openxmlformats.org/officeDocument/2006/relationships/slide" Target="/ppt/slides/slide1.xml" Id="R2e9ce6bbd66348ad" /><Relationship Type="http://schemas.openxmlformats.org/officeDocument/2006/relationships/slide" Target="/ppt/slides/slide2.xml" Id="R3662328a827a4737" /><Relationship Type="http://schemas.openxmlformats.org/officeDocument/2006/relationships/slide" Target="/ppt/slides/slide3.xml" Id="R4ff66d69c6194f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7cd38c3dc3644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c60b7575564613" /><Relationship Type="http://schemas.openxmlformats.org/officeDocument/2006/relationships/notesMaster" Target="/ppt/notesMasters/notesMaster1.xml" Id="Re49d1522c3c14d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a764cf1a8e4751" /><Relationship Type="http://schemas.openxmlformats.org/officeDocument/2006/relationships/notesMaster" Target="/ppt/notesMasters/notesMaster1.xml" Id="Rf24467f1b06a4e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19fabe6bbe49c6" /><Relationship Type="http://schemas.openxmlformats.org/officeDocument/2006/relationships/notesMaster" Target="/ppt/notesMasters/notesMaster1.xml" Id="R49293007eceb42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160afd447473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4f359ecfb384614" /><Relationship Type="http://schemas.openxmlformats.org/officeDocument/2006/relationships/slideLayout" Target="/ppt/slideLayouts/slideLayout2.xml" Id="R5f9203ea37804e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9203ea37804e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107fa5f807408b" /><Relationship Type="http://schemas.openxmlformats.org/officeDocument/2006/relationships/image" Target="/ppt/media/image.png" Id="R5b26f57f29f24734" /><Relationship Type="http://schemas.openxmlformats.org/officeDocument/2006/relationships/notesSlide" Target="/ppt/notesSlides/notesSlide1.xml" Id="Rd21fea6f79e94a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eb17a123e54912" /><Relationship Type="http://schemas.openxmlformats.org/officeDocument/2006/relationships/notesSlide" Target="/ppt/notesSlides/notesSlide2.xml" Id="R096102d858d441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45c96c9020449e" /><Relationship Type="http://schemas.openxmlformats.org/officeDocument/2006/relationships/notesSlide" Target="/ppt/notesSlides/notesSlide3.xml" Id="R9f8bfe46d12544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cover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6f57f29f2473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EF24BAC-AB56-4D33-8095-28AF4847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3162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EGFR-MYO1D receptor modeling update</a:t>
            </a:r>
          </a:p>
        </p:txBody>
      </p:sp>
      <p:sp>
        <p:nvSpPr>
          <p:cNvPr id="3" name="slide-title-line-1">
            <a:extLst xmlns:a="http://schemas.openxmlformats.org/drawingml/2006/main">
              <a:ext uri="{FF2B5EF4-FFF2-40B4-BE49-F238E27FC236}">
                <a16:creationId xmlns:a16="http://schemas.microsoft.com/office/drawing/2014/main" id="{16FA6215-BAD5-4730-94AF-4ACF00F3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Membrane-compatible</a:t>
            </a:r>
          </a:p>
        </p:txBody>
      </p:sp>
      <p:sp>
        <p:nvSpPr>
          <p:cNvPr id="4" name="slide-title-line-2">
            <a:extLst xmlns:a="http://schemas.openxmlformats.org/drawingml/2006/main">
              <a:ext uri="{FF2B5EF4-FFF2-40B4-BE49-F238E27FC236}">
                <a16:creationId xmlns:a16="http://schemas.microsoft.com/office/drawing/2014/main" id="{34F76F57-0743-48EB-BA1D-3FC70C01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EGFR dimer receptor</a:t>
            </a:r>
          </a:p>
        </p:txBody>
      </p:sp>
      <p:sp>
        <p:nvSpPr>
          <p:cNvPr id="5" name="slide-title-line-3">
            <a:extLst xmlns:a="http://schemas.openxmlformats.org/drawingml/2006/main">
              <a:ext uri="{FF2B5EF4-FFF2-40B4-BE49-F238E27FC236}">
                <a16:creationId xmlns:a16="http://schemas.microsoft.com/office/drawing/2014/main" id="{1B903C62-F21B-48B7-8F03-E058CACD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32026"/>
                </a:solidFill>
              </a:defRPr>
            </a:pPr>
            <a:r>
              <a:rPr sz="4350" b="1">
                <a:solidFill>
                  <a:srgbClr val="132026"/>
                </a:solidFill>
              </a:rPr>
              <a:t>model 구축 및 clustering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3EEF7-5A82-4754-A225-BA4E15CC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6D"/>
          </a:solidFill>
          <a:ln xmlns:a="http://schemas.openxmlformats.org/drawingml/2006/main" w="0">
            <a:solidFill>
              <a:srgbClr val="23A66D"/>
            </a:solidFill>
            <a:prstDash val="solid"/>
          </a:ln>
        </p:spPr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45F6BF-9E3E-444F-8193-E50ACA94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7715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0505A"/>
                </a:solidFill>
              </a:defRPr>
            </a:pPr>
            <a:r>
              <a:rPr sz="1875">
                <a:solidFill>
                  <a:srgbClr val="40505A"/>
                </a:solidFill>
              </a:rPr>
              <a:t>후속 MYO1D PPI 분석 전, EGFR receptor input을 +10° model과 final 200 ns MD validation 기준으로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1CEFC-2FC9-4423-9BE5-46356461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2667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17B59-ED2D-4EFF-BBD1-4626B793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1162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receptor modeling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2D713-E33F-411D-9AED-853D2A8E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3870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F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A5AC8-9748-4F4E-BBA4-0DD58A5E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895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MD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E7E3B-ED58-4A4D-B54A-8BD78527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38700"/>
            <a:ext cx="2095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E8B2B-AEAC-4004-B478-3176F3BA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33950"/>
            <a:ext cx="609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clustering</a:t>
            </a:r>
          </a:p>
        </p:txBody>
      </p:sp>
      <p:sp>
        <p:nvSpPr>
          <p:cNvPr id="14" name="scope-note">
            <a:extLst xmlns:a="http://schemas.openxmlformats.org/drawingml/2006/main">
              <a:ext uri="{FF2B5EF4-FFF2-40B4-BE49-F238E27FC236}">
                <a16:creationId xmlns:a16="http://schemas.microsoft.com/office/drawing/2014/main" id="{D04C2391-0283-4F0D-B118-23B7C3FE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634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47C"/>
                </a:solidFill>
              </a:defRPr>
            </a:pPr>
            <a:r>
              <a:rPr sz="1275">
                <a:solidFill>
                  <a:srgbClr val="65747C"/>
                </a:solidFill>
              </a:rPr>
              <a:t>Scope: PPI docking, pocket discovery, compound docking은 이번 발표에서 결과로 다루지 않음</a:t>
            </a:r>
          </a:p>
        </p:txBody>
      </p:sp>
      <p:sp>
        <p:nvSpPr>
          <p:cNvPr id="15" name="footer-label-01 / 09">
            <a:extLst xmlns:a="http://schemas.openxmlformats.org/drawingml/2006/main">
              <a:ext uri="{FF2B5EF4-FFF2-40B4-BE49-F238E27FC236}">
                <a16:creationId xmlns:a16="http://schemas.microsoft.com/office/drawing/2014/main" id="{137E7AC4-C999-4AB0-B157-EA42FBCF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01 / 09</a:t>
            </a:r>
          </a:p>
        </p:txBody>
      </p:sp>
      <p:sp>
        <p:nvSpPr>
          <p:cNvPr id="16" name="footer-source-01 / 09">
            <a:extLst xmlns:a="http://schemas.openxmlformats.org/drawingml/2006/main">
              <a:ext uri="{FF2B5EF4-FFF2-40B4-BE49-F238E27FC236}">
                <a16:creationId xmlns:a16="http://schemas.microsoft.com/office/drawing/2014/main" id="{23C1DCEE-CE63-4FF5-926F-9FBA44BF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9563100"/>
            <a:ext cx="3276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Generated cover is conceptual; scientific claims use local files and logs.</a:t>
            </a:r>
          </a:p>
        </p:txBody>
      </p:sp>
    </p:spTree>
    <p:extLst>
      <p:ext uri="{BB962C8B-B14F-4D97-AF65-F5344CB8AC3E}">
        <p14:creationId xmlns:p14="http://schemas.microsoft.com/office/powerpoint/2010/main" val="16077531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73EF003-15F7-4835-952B-CEC0565D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116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Modeling logic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7E5F91-5FCC-428F-A83B-806CBCA8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53721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Why receptor model first?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093144F-F518-4143-B2BE-4FBEAC56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53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0505A"/>
                </a:solidFill>
              </a:defRPr>
            </a:pPr>
            <a:r>
              <a:rPr sz="1950">
                <a:solidFill>
                  <a:srgbClr val="40505A"/>
                </a:solidFill>
              </a:rPr>
              <a:t>MYO1D PPI docking 전에 EGFR receptor frame을 먼저 고정해야 downstream 해석이 흔들리지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345A0-E561-4180-87F6-005C47B7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E64E7-C0DA-4713-84ED-824EEDF1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A66D"/>
                </a:solidFill>
              </a:defRPr>
            </a:pPr>
            <a:r>
              <a:rPr sz="1350" b="1">
                <a:solidFill>
                  <a:srgbClr val="23A66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38866-D1CD-4E05-AC6E-676375F9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152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 receptor input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07950-17E0-4D53-A920-C906221F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+10° model + final 200 ns MD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65C8E-D72D-468D-A8B7-A34B9A90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E32FC-BECC-4686-8D37-ED25EDB6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9491B-F400-4004-BBF5-6A0AF605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F6F48-3D31-4116-97B9-2A91EF2D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MYO1D docking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DF356-665B-4281-8518-14771675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next work after receptor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21252-2813-4A97-A745-52649137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30785-F18F-44B4-8910-27F9528A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592D0-828A-4E2B-9DC5-3CC3282A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8A5CE-7C7B-4B79-B8DB-E6308EF7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EGFR-side PPI patch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FC57E-D00E-4E51-9984-26A1A4EB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9095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interface residues and contact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CD6E24-A6F0-4B2A-A6EA-43730A14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4F8AE6-F470-46EB-8587-65385CD7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98C555-7CB0-4663-9CF7-9021FEA6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2816B-1C2E-4645-909C-46CF31BC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Pocket discovery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4FED2A-6E02-4E8D-B9E8-75F0733C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PPI-aware pocket hypothesis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9C48C7-4D01-49B7-A529-FDCAFE09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CFA689-3859-4B8A-BE02-0AD0F4C5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87916-600C-4ADC-91A8-F2DA23BE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5DBF53-3720-42F6-9AD1-FC10B61E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Compound docking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B8BC64-36DC-40A3-8707-73A65FA9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future output, not current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55CF3C-AA4A-4A66-9E16-48E8B289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114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이번 deck에서 다루는 확정 범위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F8878C-FFAA-42E8-896E-1285E6E4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8826CB-C813-4F22-9617-E76D12D4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template assembly provenance: TM/JM/KD composite model construction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1F9A47-086D-447A-B62F-F22FF8F0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F25C99-6B19-4816-98DC-78B6C1FA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orientation scan: +10° selected among available parsed metrics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BF9E5A-43A1-4E66-AB21-3E48C228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2D2C63-1B0C-49B8-ADDB-3967C85E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final receptor pair: +10 no-water 200 ns trajectory identity confirmed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E3553E-2A29-4450-BC1B-4A3CDDF1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53000"/>
            <a:ext cx="276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이번 deck에서 결과로 주장하지 않는 범위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F994A8-D2A3-4922-A07F-BE96C553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D3186C-3CE1-402C-95CA-B2425F1D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MYO1D docking result는 아직 미수행/미정리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1661D0-FACF-41B2-8A03-B0EC9EBC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E49CDE-CC2A-453C-9312-75A8BD48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EGFR-side PPI patch, pocket discovery는 future 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900235-71A1-4FEB-B9B8-0B58A336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AEF741-97B2-4224-816B-753C856D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compound docking은 receptor representative 확정 후 시작</a:t>
            </a:r>
          </a:p>
        </p:txBody>
      </p:sp>
      <p:sp>
        <p:nvSpPr>
          <p:cNvPr id="42" name="footer-label-02 / 09">
            <a:extLst xmlns:a="http://schemas.openxmlformats.org/drawingml/2006/main">
              <a:ext uri="{FF2B5EF4-FFF2-40B4-BE49-F238E27FC236}">
                <a16:creationId xmlns:a16="http://schemas.microsoft.com/office/drawing/2014/main" id="{BCB497A7-AF19-453C-B2B3-3BA2D288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02 / 09</a:t>
            </a:r>
          </a:p>
        </p:txBody>
      </p:sp>
      <p:sp>
        <p:nvSpPr>
          <p:cNvPr id="43" name="footer-source-02 / 09">
            <a:extLst xmlns:a="http://schemas.openxmlformats.org/drawingml/2006/main">
              <a:ext uri="{FF2B5EF4-FFF2-40B4-BE49-F238E27FC236}">
                <a16:creationId xmlns:a16="http://schemas.microsoft.com/office/drawing/2014/main" id="{5347CBE5-3A5D-4DDB-AB09-E000A2B6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9563100"/>
            <a:ext cx="3105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Source: reports/EGFR_modeling_clustering_PPT_data_package.md</a:t>
            </a:r>
          </a:p>
        </p:txBody>
      </p:sp>
    </p:spTree>
    <p:extLst>
      <p:ext uri="{BB962C8B-B14F-4D97-AF65-F5344CB8AC3E}">
        <p14:creationId xmlns:p14="http://schemas.microsoft.com/office/powerpoint/2010/main" val="19786851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7C8208A-2221-47A7-A5E6-6887EF2F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88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Composite construction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DFDC34-64B7-4855-85E9-FC70E178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"/>
            <a:ext cx="86487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TM-JM-KD inactive dimer model assembly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B93918F-06F6-45C3-8D3E-77AE63C0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2134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2M0B TM dimer, 2M20 JM-A reference, 3GT8 inactive KD dimer, MODELLER gap filling을 조합해 EGFR receptor frame을 구성했다.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2980B-3CDD-4C2E-9091-72CA4A8E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4660"/>
            <a:ext cx="10572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263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71FDB-CC27-4560-87FD-6832A8A7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75A9E-210C-4AFF-834B-4FA4F8EA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A329A-2ACB-4857-84F7-B27D1E49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Role in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8F41C-FBE8-4E6E-842E-7B735F1E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Caveat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646A9-A957-49B5-81EB-D89E10D7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7585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F5758-AD25-4BD8-87DE-D569628C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TM dimer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1C16C-C265-48EF-BF45-580B1051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290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2M0B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8CDD3-0ACC-40A4-A4BC-F8B61FF7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33813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transmembrane dimer anchor; local script retained 634-670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31646-1283-407B-B6BD-0BD4D5C4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481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mmCIF maps 634-677; local selection is shorter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4CB0D-22F3-4510-9A94-AEB17571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531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A40F2-6041-4647-BD5A-19985310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JM-A reference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E9C90-A178-46AE-AD3B-440093D5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2M20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34508-5E10-4377-B2D8-4C738BCA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863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membrane-proximal JM-A orientation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975CBF-3E9B-4B99-8D43-E13E29A1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29150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exact coordinate-generation execution path remains caveated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7B068-82F7-447F-8A9A-44172091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3035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3C9E2-8293-4E14-B88F-092117E2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inactive KD dimer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9CD086-4DB5-4407-BC0D-F8D324B5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3GT8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DE6ED7-FF35-488E-8FAE-8797AA22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245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symmetric inactive kinase-domain dimer placement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D7B94D-CEEF-4DC0-835B-345A54B0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435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PDB numbering and working model numbering differ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7972E0-3079-47F5-BAF4-4E9C7BEE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8076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8EE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728A9-358A-41F4-8359-54E90C04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817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modeled gaps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BBEDF9-736E-4BC4-80E5-0F357021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3817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MODELLER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76D38-8AD6-431B-9A34-8C381638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38175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JM-B 684-704 and A-loop 862-876 were filled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EC661C-CF2C-42C7-946E-9139A2A0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008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modeled coordinates, not template-derived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C8D509-9054-4D5F-AA37-7C4FAC80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990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Construction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D07002-8B2F-4491-BFA2-BA3E609E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4747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34826F-53C8-44BB-B6D5-C89D9C82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6195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6102FD-1337-4C53-BFC3-9A861065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6195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2M0B TM dimer alignment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94204F-0F38-432F-9CDC-B905AE57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8671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anchor membrane-spanning dimer geometry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4DBB3A-602C-4F3D-A11A-5B0A9A39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29387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DAE58D-5301-4C6F-A3C5-02618B7C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4577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946CC0-AFEB-4158-829A-4CCE2B3A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43865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2M20 JM-A reference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8FC8C0-F909-4D73-AD0A-F97F236C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6863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orient membrane-proximal JM-A segment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8534D4-425C-4FE2-A35E-54CF4E10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1130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89BB5F-562E-483F-8E54-B2429068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2578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867FAE-FC6B-431C-B56F-EB935271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2578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3GT8 inactive KD dimer placement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F09CC6-593E-41CA-ABD7-BD9C9076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5054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retain inactive symmetric KD context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124A1E-C711-4B3B-A1DE-EEF07DF5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93217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96D371-DE77-4FF6-AF1C-9FC5651F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0960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03A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20EC66-BE9C-4D79-B1F3-B3F672F6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07695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MODELLER gap filling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82C74C-B183-410F-BF40-D41F9FC2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3246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JM-B and A-loop modeled gaps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6F2ED9-530B-4919-B645-A73AC525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75132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564732-F498-4997-BDD5-45049F34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961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F25521-2162-4432-9924-C5D16A67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8961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five rotational variants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DDAEE2-6369-4F79-AED5-E4FCD2CC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71437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-20°, -10°, 0°, +10°, +20° for scan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50D4A3-EA0F-49A9-92C0-C1686254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7562850"/>
            <a:ext cx="569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Structure render to add later: reports/assets/slide6_plus10_side_view.png or use 03_receptor_pack/figures/EGFR_plus10_domain_coloring.pml</a:t>
            </a:r>
          </a:p>
        </p:txBody>
      </p:sp>
      <p:sp>
        <p:nvSpPr>
          <p:cNvPr id="51" name="footer-label-03 / 09">
            <a:extLst xmlns:a="http://schemas.openxmlformats.org/drawingml/2006/main">
              <a:ext uri="{FF2B5EF4-FFF2-40B4-BE49-F238E27FC236}">
                <a16:creationId xmlns:a16="http://schemas.microsoft.com/office/drawing/2014/main" id="{36975DD0-675C-4E31-97DD-E422AAF1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03 / 09</a:t>
            </a:r>
          </a:p>
        </p:txBody>
      </p:sp>
      <p:sp>
        <p:nvSpPr>
          <p:cNvPr id="52" name="footer-source-03 / 09">
            <a:extLst xmlns:a="http://schemas.openxmlformats.org/drawingml/2006/main">
              <a:ext uri="{FF2B5EF4-FFF2-40B4-BE49-F238E27FC236}">
                <a16:creationId xmlns:a16="http://schemas.microsoft.com/office/drawing/2014/main" id="{2DD8D634-961D-447E-9BBA-6393232B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9563100"/>
            <a:ext cx="3619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Sources: 1.align/*, 01_numbering_provenance/template_model_mapping.csv</a:t>
            </a:r>
          </a:p>
        </p:txBody>
      </p:sp>
    </p:spTree>
    <p:extLst>
      <p:ext uri="{BB962C8B-B14F-4D97-AF65-F5344CB8AC3E}">
        <p14:creationId xmlns:p14="http://schemas.microsoft.com/office/powerpoint/2010/main" val="525935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2026-04-29T12:27:08.7620000Z</dcterms:created>
  <dcterms:modified xsi:type="dcterms:W3CDTF">2026-04-29T12:27:08.7630000Z</dcterms:modified>
</coreProperties>
</file>