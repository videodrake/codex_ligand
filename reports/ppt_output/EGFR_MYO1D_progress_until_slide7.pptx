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6a69f326a34a5d" /><Relationship Type="http://schemas.openxmlformats.org/officeDocument/2006/relationships/extended-properties" Target="/docProps/app.xml" Id="R882174e67a494047" /><Relationship Type="http://schemas.openxmlformats.org/officeDocument/2006/relationships/officeDocument" Target="/ppt/presentation.xml" Id="R198ce9872d73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71f837146c47f8"/>
  </p:sldMasterIdLst>
  <p:notesMasterIdLst>
    <p:notesMasterId xmlns:r="http://schemas.openxmlformats.org/officeDocument/2006/relationships" r:id="R1d89dfdae6914521"/>
  </p:notesMasterIdLst>
  <p:sldIdLst>
    <p:sldId xmlns:r="http://schemas.openxmlformats.org/officeDocument/2006/relationships" id="256" r:id="Rbb615a273ac2487a"/>
    <p:sldId xmlns:r="http://schemas.openxmlformats.org/officeDocument/2006/relationships" id="257" r:id="R8b10f20e8f2f4ff6"/>
    <p:sldId xmlns:r="http://schemas.openxmlformats.org/officeDocument/2006/relationships" id="258" r:id="R00e9ee4c047c4de3"/>
    <p:sldId xmlns:r="http://schemas.openxmlformats.org/officeDocument/2006/relationships" id="259" r:id="R6cd171015cf14cb7"/>
    <p:sldId xmlns:r="http://schemas.openxmlformats.org/officeDocument/2006/relationships" id="260" r:id="Rc6a89295eb304755"/>
    <p:sldId xmlns:r="http://schemas.openxmlformats.org/officeDocument/2006/relationships" id="261" r:id="R1e392a38bb304cd0"/>
    <p:sldId xmlns:r="http://schemas.openxmlformats.org/officeDocument/2006/relationships" id="262" r:id="Re8eb1d6f324446f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1f837146c47f8" /><Relationship Type="http://schemas.openxmlformats.org/officeDocument/2006/relationships/theme" Target="/ppt/theme/theme1.xml" Id="R624b23d650f74146" /><Relationship Type="http://schemas.openxmlformats.org/officeDocument/2006/relationships/notesMaster" Target="/ppt/notesMasters/notesMaster1.xml" Id="R1d89dfdae6914521" /><Relationship Type="http://schemas.openxmlformats.org/officeDocument/2006/relationships/presProps" Target="/ppt/presProps.xml" Id="Rc2b976dc00e14887" /><Relationship Type="http://schemas.openxmlformats.org/officeDocument/2006/relationships/viewProps" Target="/ppt/viewProps.xml" Id="R34995a5e19464155" /><Relationship Type="http://schemas.openxmlformats.org/officeDocument/2006/relationships/tableStyles" Target="/ppt/tableStyles.xml" Id="R8955da43d206404a" /><Relationship Type="http://schemas.openxmlformats.org/officeDocument/2006/relationships/slide" Target="/ppt/slides/slide1.xml" Id="Rbb615a273ac2487a" /><Relationship Type="http://schemas.openxmlformats.org/officeDocument/2006/relationships/slide" Target="/ppt/slides/slide2.xml" Id="R8b10f20e8f2f4ff6" /><Relationship Type="http://schemas.openxmlformats.org/officeDocument/2006/relationships/slide" Target="/ppt/slides/slide3.xml" Id="R00e9ee4c047c4de3" /><Relationship Type="http://schemas.openxmlformats.org/officeDocument/2006/relationships/slide" Target="/ppt/slides/slide4.xml" Id="R6cd171015cf14cb7" /><Relationship Type="http://schemas.openxmlformats.org/officeDocument/2006/relationships/slide" Target="/ppt/slides/slide5.xml" Id="Rc6a89295eb304755" /><Relationship Type="http://schemas.openxmlformats.org/officeDocument/2006/relationships/slide" Target="/ppt/slides/slide6.xml" Id="R1e392a38bb304cd0" /><Relationship Type="http://schemas.openxmlformats.org/officeDocument/2006/relationships/slide" Target="/ppt/slides/slide7.xml" Id="Re8eb1d6f324446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fa4288b1b4448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f4894a3cc64abb" /><Relationship Type="http://schemas.openxmlformats.org/officeDocument/2006/relationships/notesMaster" Target="/ppt/notesMasters/notesMaster1.xml" Id="R468aefa9287d45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5f90c2dc94b13" /><Relationship Type="http://schemas.openxmlformats.org/officeDocument/2006/relationships/notesMaster" Target="/ppt/notesMasters/notesMaster1.xml" Id="R2b9216173e694e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539d251b22435c" /><Relationship Type="http://schemas.openxmlformats.org/officeDocument/2006/relationships/notesMaster" Target="/ppt/notesMasters/notesMaster1.xml" Id="Rc57a8f280ce7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ccf159880e4377" /><Relationship Type="http://schemas.openxmlformats.org/officeDocument/2006/relationships/notesMaster" Target="/ppt/notesMasters/notesMaster1.xml" Id="R30221887864145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d743c2ae5043bc" /><Relationship Type="http://schemas.openxmlformats.org/officeDocument/2006/relationships/notesMaster" Target="/ppt/notesMasters/notesMaster1.xml" Id="R924fd719809841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51c0dd5afc41b1" /><Relationship Type="http://schemas.openxmlformats.org/officeDocument/2006/relationships/notesMaster" Target="/ppt/notesMasters/notesMaster1.xml" Id="R8bca82cb45d442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8a17a93b334097" /><Relationship Type="http://schemas.openxmlformats.org/officeDocument/2006/relationships/notesMaster" Target="/ppt/notesMasters/notesMaster1.xml" Id="R5416306f55954a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d7d6902944eb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4e3a920224a4bed" /><Relationship Type="http://schemas.openxmlformats.org/officeDocument/2006/relationships/slideLayout" Target="/ppt/slideLayouts/slideLayout2.xml" Id="Ref80ccebe03b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0ccebe03b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5ed30c64c14e7b" /><Relationship Type="http://schemas.openxmlformats.org/officeDocument/2006/relationships/image" Target="/ppt/media/image.png" Id="Rc77b134c6c234d33" /><Relationship Type="http://schemas.openxmlformats.org/officeDocument/2006/relationships/notesSlide" Target="/ppt/notesSlides/notesSlide1.xml" Id="R6789a07009e4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24928617804ac8" /><Relationship Type="http://schemas.openxmlformats.org/officeDocument/2006/relationships/notesSlide" Target="/ppt/notesSlides/notesSlide2.xml" Id="R5d3e1b6107494f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60a4c688340ba" /><Relationship Type="http://schemas.openxmlformats.org/officeDocument/2006/relationships/notesSlide" Target="/ppt/notesSlides/notesSlide3.xml" Id="Ra2b476f78d004a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bad842c0340b2" /><Relationship Type="http://schemas.openxmlformats.org/officeDocument/2006/relationships/image" Target="/ppt/media/image2.png" Id="R7af711a03f724f5b" /><Relationship Type="http://schemas.openxmlformats.org/officeDocument/2006/relationships/image" Target="/ppt/media/image3.png" Id="R54d4a90dfafe4a43" /><Relationship Type="http://schemas.openxmlformats.org/officeDocument/2006/relationships/image" Target="/ppt/media/image4.png" Id="R1b2a05d4fa554ba5" /><Relationship Type="http://schemas.openxmlformats.org/officeDocument/2006/relationships/image" Target="/ppt/media/image5.png" Id="R2a4a275d4827436a" /><Relationship Type="http://schemas.openxmlformats.org/officeDocument/2006/relationships/notesSlide" Target="/ppt/notesSlides/notesSlide4.xml" Id="R8535542b5bc247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0faf0ace37437d" /><Relationship Type="http://schemas.openxmlformats.org/officeDocument/2006/relationships/image" Target="/ppt/media/image6.png" Id="R2374151ad2934ab9" /><Relationship Type="http://schemas.openxmlformats.org/officeDocument/2006/relationships/image" Target="/ppt/media/image7.png" Id="R1828bf3dc07d4d4a" /><Relationship Type="http://schemas.openxmlformats.org/officeDocument/2006/relationships/image" Target="/ppt/media/image8.png" Id="R9ee7cbf9ca054878" /><Relationship Type="http://schemas.openxmlformats.org/officeDocument/2006/relationships/notesSlide" Target="/ppt/notesSlides/notesSlide5.xml" Id="R048040ff2e0348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01147f4317450d" /><Relationship Type="http://schemas.openxmlformats.org/officeDocument/2006/relationships/notesSlide" Target="/ppt/notesSlides/notesSlide6.xml" Id="R3ab547c61de24c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0966f92beb4a99" /><Relationship Type="http://schemas.openxmlformats.org/officeDocument/2006/relationships/image" Target="/ppt/media/image9.png" Id="R9b2f3b381f394723" /><Relationship Type="http://schemas.openxmlformats.org/officeDocument/2006/relationships/image" Target="/ppt/media/image10.png" Id="R60b93d3b0e9a4371" /><Relationship Type="http://schemas.openxmlformats.org/officeDocument/2006/relationships/notesSlide" Target="/ppt/notesSlides/notesSlide7.xml" Id="Rc15d7fcba4ad48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b134c6c234d3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5DC3915-3516-4A21-9F9B-52C15AE8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053F4412-4005-4A8A-AE0C-F300A573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0267C404-DA1D-4631-8FD1-0DDF260F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6B038411-B2EA-404A-90F1-448D74BB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EDE57-6F63-47DD-91B9-70BDE351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5E71E49-B172-4AF0-91FA-50FA4DA5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1CF40-EDBE-4CA1-BE30-BF329079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906BB-A0F7-4BB4-8793-D4D16033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77BEF-BA4C-4B9D-B112-13C31808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66AB5-D399-4EDA-9133-17001728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0C449-E7FD-4342-AD39-23163678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D2F57-AC29-4E9A-B11E-4D464C17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29C05DB0-0322-4676-9D36-91C40E4E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AF05E2EB-519D-48A6-A54C-D4CCB86C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3A54CF74-F73E-4016-A1A4-F806AC5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16363312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1280C60-BF6F-46FC-BC91-B75D89A2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7E2536-BCDD-428C-B040-044E64FB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ED712C-C2CF-44C8-B836-9077738E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CC1AA-530C-4FA8-9E69-A8934127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54000-CAED-45AC-B1EE-E4BF0225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19BF6-C229-40DF-96C5-2DE8EEFA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B113A-E053-4322-9A24-21D28F12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71983-CE64-4427-BBBA-F2A11F3A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4EAC8-9F75-4BD6-B57A-A2C801AB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DAE8B-A5F3-4AB9-B2D6-D4A2A17A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04D30-A92D-4751-A1C4-948358ED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1F99B-29DB-4693-BAC6-647C4665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E8937-326F-4987-A99A-7E70642F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0D486-707D-4890-A90B-2D8AD93B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EA305-97FD-45F1-9184-116F100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47FC3-7D7E-478E-A96E-B26E5C39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FCA04-4709-48DD-ABB7-C32FCCB7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75DA6-E940-49BE-AE2E-E5525C7F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07E3E-7E50-45FE-9F57-5B2A3CB7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9B2D9-E202-4645-8491-E442DE1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03113-D00A-4DB9-ACDC-EF8A530E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578DC-DEE7-49A0-A54B-B7677881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CB735-1DFD-4684-96A9-673F608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01082-9A37-4DDC-A49B-EC22112F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4B4B7-CC03-4490-9A28-0F8E8076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45EF5-345D-4D9B-BFD5-4261DED6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7625F-15E5-4414-AF12-2CB02F3F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0968D-0E9E-4059-9C4A-3D0A8ED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648111-E659-4918-8AF9-5777402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43A2E-2274-461A-B184-D676EF2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FE0A41-7D77-49D5-8662-D754E590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147CE6-F2E7-4A5D-BD4C-0E24BDD5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53C2E4-6B01-4AB2-AC6B-72BA2044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837E30-6D90-4105-9454-15D5A850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5E0BDF-DEF9-4347-BF4F-D2BF2C79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FF041-D4AF-4B3D-B4AA-D4729202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3E1D67-BE69-4813-8804-834EC613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A4CC6A-7A47-48F9-BB8C-0C2847D6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59287A-4E65-435E-A58C-3DF2CA64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88FBD0-0D29-4F0A-A930-F83BD9A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71286C-D092-443E-9CEC-B27D8611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AA39B8A3-CD58-4CF1-9A8C-0534CC6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459D63C6-357D-4AD3-9F31-8CBA7642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20890989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44B3204-303B-4E3D-A65A-BD146D85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Composite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2D432-E051-4941-9989-AEE6D727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86487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TM-JM-KD inactive dimer model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2E8C06-3DDA-4B71-A58B-CCCBE7B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2M0B TM dimer, 2M20 JM-A reference, 3GT8 inactive KD dimer, MODELLER gap filling을 조합해 EGFR receptor frame을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90647-0912-4581-B4DE-81A8B0A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466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1CDFB-CD88-45E1-8E02-A66B45A3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C5453-D1E8-4CA4-9F2A-0277E6D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09F69-E869-439B-B422-FD4FDE6D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 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BB63A-8153-47B0-AD60-06085565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5994F-1E62-4E24-A11D-6A04AFE7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758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CF563-C0CE-4743-ABB3-50B8E7BF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TM dimer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F8BE0-AAC9-4870-BC1C-7745FFA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5F8AB-6A00-4FB5-94F7-B76CCBC1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381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transmembrane dimer anchor; local script retained 634-670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85253-B7E3-48E8-8E0D-45436FB8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mmCIF maps 634-677; local selection is shorter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76CB3-3803-4396-841E-3CA4ED67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531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386DE-9D6A-4533-9DF4-8A485882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JM-A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E120A-6B5B-4E77-BBEC-AC78EBB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F72A6-08C8-41A5-899B-58434D10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membrane-proximal JM-A orientation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DE6B4-7704-40B7-A16C-A0E20CE2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exact coordinate-generation execution path remains caveated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470E9-9CA3-4A26-8A3A-1C5DE433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303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F66D8-3951-4A1B-B43D-D4DBE125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inactive KD dimer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D4A495-D903-4774-9CB1-39340F96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967AA-F0CA-4CAC-A17E-14FF9E1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symmetric inactive kinase-domain dimer 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77AE5-1100-4656-B6D2-F4AB5C22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43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PDB numbering and working model numbering differ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0C9B8-CB55-4BD0-9C52-D4717282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076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9C466-CCAC-4782-97EA-9E89BC0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81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modeled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203DC-7E2D-4BBD-8258-948E2BD1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817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76358-ACD7-4CAF-8CBD-A6CAF62B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3817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JM-B 684-704 and A-loop 862-876 were filled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97022-E308-49BF-A593-BDEC1A61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modeled coordinates, not template-derived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6EF2B8-84C5-42DA-9E9D-33C95636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90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Construction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668854-01FC-4ADD-BF0D-6BF3BCCD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747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E176C-F878-4556-883E-4C3729F3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195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02A79-AC59-4592-986C-92FFE12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2M0B TM dimer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DCB96-19F7-46FE-92A4-6D2746B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anchor membrane-spanning dimer geometry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BC4B6F-9124-43AB-9210-F34CDE6F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938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414631-7E9C-4CC6-BEDE-CC98DD13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D81C53-4350-404C-875A-019EA08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386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2M20 JM-A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347CF7-1009-448D-8051-6B9F1A2F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863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orient membrane-proximal JM-A segment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DE4FDA-7FB3-451E-8A81-058626F3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130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222F51-A866-4CD6-A0BF-70D7A59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7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80D891-E89C-486F-BA2A-706F7F8F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57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3GT8 inactive KD dimer placement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E4342B-4F04-4692-A896-EAC1488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retain inactive symmetric KD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4C6BDC-0977-4F39-A1EE-0D5FE805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321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54D1B0-FA1B-45EF-8D3D-AEDCB67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18FD66-2597-4136-9DBE-C0FD6B5C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76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MODELLER gap filling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9397C6-8362-4AC4-A600-DB022B4F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24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 and A-loop modeled gaps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838FDB-C495-48E5-BF26-CA259A8B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13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C957E1-84E6-4E81-A00A-B3900795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96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141575-EEC1-4F2B-96CD-24E637D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96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five rotational variants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B05FB4-CAC1-4D3C-9B40-36C0459C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43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 for scan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FEF548-0EB8-485F-B111-7D5D2735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56285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Structure render to add later: reports/assets/slide6_plus10_side_view.png or use 03_receptor_pack/figures/EGFR_plus10_domain_coloring.pml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BE23605F-E9EA-4FD3-955C-D65AFD3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01C0173D-1182-4273-B259-49222572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563100"/>
            <a:ext cx="361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10321841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E6CA7FC-ED9B-4FA5-9C67-EDDDA053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31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Orientation scan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DB6695-0DB2-4CBA-9B20-B6BE2E4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822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Five TM-KD rotations screened; +10° ranked best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84472C8-59B8-4B8E-9832-0EFE30F1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9677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Available parsed metrics support +10° as the working EGFR receptor orientation, with scan-level caveats.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2CEC5-4416-409C-8EAF-A6388EB0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885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+10° selected metric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356F5-EF48-494C-B9B4-4D656567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662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4AB49-0972-4301-AD9C-407483A0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RMSD 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B40B3-8630-49EA-A972-3639BC41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9781E-4ED9-48D7-B07B-BA76AC81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±0.39; lowest among parsed scan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861D9-7423-4BCE-AB88-5723E00A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8245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50022-DB7A-45E2-93E1-1C493F8B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Rg mean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BBD25-8D39-4A05-8F26-487DAE2B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E045C-7444-4B80-9B2D-D2346F64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±0.12; compact/stable relative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95241-EBAF-4484-B425-0CCD15DA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7987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B402A-E8A7-4E1E-B817-1B169F7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Inter-chain H-bond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92A40-B02C-42C6-AB32-A8513856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913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13B1A-3DCB-4AA1-BF74-02B1998A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438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±3.11 where 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7576B-8AEA-4DDB-8495-9286C94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534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Caveat: orientation-wide membrane/contact metrics are incomplete, so this is an available-metric ranking rather than a complete biological stability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6EB17-ABB4-4759-AE42-010ABA65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19" name="slide4-rms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711a03f724f5b"/>
          <a:stretch xmlns:a="http://schemas.openxmlformats.org/drawingml/2006/main"/>
        </p:blipFill>
        <p:spPr>
          <a:xfrm xmlns:a="http://schemas.openxmlformats.org/drawingml/2006/main">
            <a:off x="6716554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394DDA-7840-4426-BE21-4DAA1C5B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RMSD by orientation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133FB-88E6-40AA-983A-7E1821CF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97561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2" name="slide4-r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4a90dfafe4a43"/>
          <a:stretch xmlns:a="http://schemas.openxmlformats.org/drawingml/2006/main"/>
        </p:blipFill>
        <p:spPr>
          <a:xfrm xmlns:a="http://schemas.openxmlformats.org/drawingml/2006/main">
            <a:off x="12574429" y="307086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09FA6-6B1A-41B8-9012-6B3A42B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4864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Radius of gyration by orientation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B07E3-EDCE-472B-839F-30AEED15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5" name="slide4-hb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a05d4fa554ba5"/>
          <a:stretch xmlns:a="http://schemas.openxmlformats.org/drawingml/2006/main"/>
        </p:blipFill>
        <p:spPr>
          <a:xfrm xmlns:a="http://schemas.openxmlformats.org/drawingml/2006/main">
            <a:off x="6716554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9BE211-41F8-4F52-8819-5C499C6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Inter-chain H-bond count where 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BBE29-ACAE-401E-8BFF-C1F89EA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897880"/>
            <a:ext cx="5686425" cy="2750820"/>
          </a:xfrm>
          <a:prstGeom xmlns:a="http://schemas.openxmlformats.org/drawingml/2006/main" prst="roundRect">
            <a:avLst>
              <a:gd name="adj" fmla="val 277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8" name="slide4-sco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a275d4827436a"/>
          <a:stretch xmlns:a="http://schemas.openxmlformats.org/drawingml/2006/main"/>
        </p:blipFill>
        <p:spPr>
          <a:xfrm xmlns:a="http://schemas.openxmlformats.org/drawingml/2006/main">
            <a:off x="12574429" y="5993130"/>
            <a:ext cx="4140518" cy="236601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C52E45-81EE-4314-BD4D-E4DB02C6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Available-metric orientation score</a:t>
            </a:r>
          </a:p>
        </p:txBody>
      </p:sp>
      <p:sp>
        <p:nvSpPr>
          <p:cNvPr id="30" name="footer-label-04 / 09">
            <a:extLst xmlns:a="http://schemas.openxmlformats.org/drawingml/2006/main">
              <a:ext uri="{FF2B5EF4-FFF2-40B4-BE49-F238E27FC236}">
                <a16:creationId xmlns:a16="http://schemas.microsoft.com/office/drawing/2014/main" id="{4A7CAF8D-D8B3-4F76-A7F6-22D90D5D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 xmlns:a="http://schemas.openxmlformats.org/drawingml/2006/main">
              <a:ext uri="{FF2B5EF4-FFF2-40B4-BE49-F238E27FC236}">
                <a16:creationId xmlns:a16="http://schemas.microsoft.com/office/drawing/2014/main" id="{BCC47F2D-A32D-4ACE-BA8A-FBFD9889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95440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02_orientation_metrics/orientation_comparison_table.csv and figures/</a:t>
            </a:r>
          </a:p>
        </p:txBody>
      </p:sp>
    </p:spTree>
    <p:extLst>
      <p:ext uri="{BB962C8B-B14F-4D97-AF65-F5344CB8AC3E}">
        <p14:creationId xmlns:p14="http://schemas.microsoft.com/office/powerpoint/2010/main" val="11324536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07614D2-D1CA-41D5-ABC2-EC7F5AFC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1C8447-FD38-4A35-85A6-7D05FC1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9925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Final +10 no-water 200 ns trajectory is identified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6B66D1-8C50-4EF4-A289-E7FDD48B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811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Final pair: EGFR_plus10_step7_production_nw.gro + EGFR_plus10_step7_200ns_nw.xtc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B4078-8A34-4D27-B5E3-52687D77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80B6B-7C80-4FBF-B825-2687F58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gmx_check atoms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4368E-ACBA-4447-9CA6-F6CDACA4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49,854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43BFA-FD8F-4258-9AAE-FBB155EE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 no-water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1E675-0214-45BD-83EB-54B9F933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EFDDC-C2D6-42BA-8309-8316D6E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coordinate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72FB4-DB18-4484-844E-5780D02F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2,001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BB1DD-2D58-48E0-A804-68E7C465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100 ps output interval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CBD4D-6950-418F-B79D-03E1C1C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D020F-A104-439E-819A-D78174DF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time span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C13C7-610F-4A10-9633-82FE414D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0-200 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40584-7115-493F-B6FE-9A5CFCA7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0-200,000 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A46B0-7E67-4A4E-BB07-163B8911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206883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A45B1-7F0E-413E-8BE8-94FEE9BF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266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analysis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7D1CD-A182-4DD4-9AEF-1468138A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49555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E6755-1071-4E26-95D3-E521B67A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2895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final-pair metric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E5EB8-3C88-4F79-829C-BECD6C75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1" name="slide5-kd-dist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4151ad2934ab9"/>
          <a:stretch xmlns:a="http://schemas.openxmlformats.org/drawingml/2006/main"/>
        </p:blipFill>
        <p:spPr>
          <a:xfrm xmlns:a="http://schemas.openxmlformats.org/drawingml/2006/main">
            <a:off x="9144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7AE21-B015-4A95-AA17-CD9DA1E2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KD-to-membrane absolute distance across final 200 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AE050-B503-4824-A617-D2BADFD1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4" name="slide5-contac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8bf3dc07d4d4a"/>
          <a:stretch xmlns:a="http://schemas.openxmlformats.org/drawingml/2006/main"/>
        </p:blipFill>
        <p:spPr>
          <a:xfrm xmlns:a="http://schemas.openxmlformats.org/drawingml/2006/main">
            <a:off x="653415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03016-7795-43A6-90C8-B6BB7CA6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Inter-protomer heavy contacts within 4.5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BB543-EB2F-4C1D-B5E6-52A7E8A3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754755"/>
            <a:ext cx="5448300" cy="4531995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7" name="slide5-tm-kd-til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7cbf9ca054878"/>
          <a:stretch xmlns:a="http://schemas.openxmlformats.org/drawingml/2006/main"/>
        </p:blipFill>
        <p:spPr>
          <a:xfrm xmlns:a="http://schemas.openxmlformats.org/drawingml/2006/main">
            <a:off x="12153900" y="453167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699D5-08FD-45EA-9A56-9245B3D8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TM-KD vector angle relative to membrane normal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F0B983-4550-4BE9-9D5B-295830E1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Boundary note: 3.rotate_EGFR/10/full_200ns.xtc is not used as final evidence; final claim uses the packaged receptor/trajectory pair and uploaded gmx_check log.</a:t>
            </a:r>
          </a:p>
        </p:txBody>
      </p:sp>
      <p:sp>
        <p:nvSpPr>
          <p:cNvPr id="30" name="footer-label-05 / 09">
            <a:extLst xmlns:a="http://schemas.openxmlformats.org/drawingml/2006/main">
              <a:ext uri="{FF2B5EF4-FFF2-40B4-BE49-F238E27FC236}">
                <a16:creationId xmlns:a16="http://schemas.microsoft.com/office/drawing/2014/main" id="{5CF1B0F8-5A1D-4976-9509-AB982AEE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05 / 09</a:t>
            </a:r>
          </a:p>
        </p:txBody>
      </p:sp>
      <p:sp>
        <p:nvSpPr>
          <p:cNvPr id="31" name="footer-source-05 / 09">
            <a:extLst xmlns:a="http://schemas.openxmlformats.org/drawingml/2006/main">
              <a:ext uri="{FF2B5EF4-FFF2-40B4-BE49-F238E27FC236}">
                <a16:creationId xmlns:a16="http://schemas.microsoft.com/office/drawing/2014/main" id="{308BFC64-42C2-4A05-9C98-D0F6B95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9563100"/>
            <a:ext cx="5086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03_receptor_pack/metadata/gmx_check_EGFR_plus10_step7_200ns_nw.txt and trajectory_metrics/</a:t>
            </a:r>
          </a:p>
        </p:txBody>
      </p:sp>
    </p:spTree>
    <p:extLst>
      <p:ext uri="{BB962C8B-B14F-4D97-AF65-F5344CB8AC3E}">
        <p14:creationId xmlns:p14="http://schemas.microsoft.com/office/powerpoint/2010/main" val="3055735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3876B196-F13D-4EE5-ABD0-2FDC5289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924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Structural interpretation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7ECE21-6D94-45EE-AD5A-4466914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11391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+10° receptor frame is the downstream input candidate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314F472-04FB-4DC9-9A60-F294F88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현재 단계에서는 membrane-compatible inactive dimer frame으로 해석하되, 구조 render는 실제 PDB/GRO에서 생성해야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04939-8F79-47C0-99C5-D648B1AE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29EBB-F1C2-443B-BCE2-C13C4390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render image needed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C0FE3-23AC-4130-8B3B-0D40FB49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4533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026"/>
                </a:solidFill>
              </a:defRPr>
            </a:pPr>
            <a:r>
              <a:rPr sz="2100" b="1">
                <a:solidFill>
                  <a:srgbClr val="132026"/>
                </a:solidFill>
              </a:rPr>
              <a:t>Side view: membrane plane + EGFR dimer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1119E-6676-43C9-A868-419ABE5C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7CECE-B978-4185-A934-4E8E0376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05A"/>
                </a:solidFill>
              </a:defRPr>
            </a:pPr>
            <a:r>
              <a:rPr sz="1200">
                <a:solidFill>
                  <a:srgbClr val="40505A"/>
                </a:solidFill>
              </a:rPr>
              <a:t>Add later: reports/assets/slide6_plus10_side_view.png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17A31-D26F-41F0-AA6A-76A5889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Source: 03_receptor_pack/receptor/EGFR_plus10_final_model_EGFR_rot10_best.pdb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DDE50-D419-4035-AB5F-A9735552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Render script: 03_receptor_pack/figures/EGFR_plus10_domain_coloring.pml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52FFF-8297-46BF-AD9F-11FB2026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956560"/>
            <a:ext cx="5057775" cy="569214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F72BF-F5F9-45EE-8610-2FC9080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render image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ABAB5-7AAC-4811-90E7-A1EA3C4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026"/>
                </a:solidFill>
              </a:defRPr>
            </a:pPr>
            <a:r>
              <a:rPr sz="2100" b="1">
                <a:solidFill>
                  <a:srgbClr val="132026"/>
                </a:solidFill>
              </a:rPr>
              <a:t>Top view: dimer interface orientation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25B36-197B-4CD5-9DA5-F67EE28E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624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420C8-DEE8-4AEB-A6AB-4176F78B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505A"/>
                </a:solidFill>
              </a:defRPr>
            </a:pPr>
            <a:r>
              <a:rPr sz="1200">
                <a:solidFill>
                  <a:srgbClr val="40505A"/>
                </a:solidFill>
              </a:rPr>
              <a:t>Add later: reports/assets/slide6_plus10_top_view.png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9F431-1442-4EB6-B1E0-59EE7DA3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Source: 03_receptor_pack/receptor/EGFR_plus10_step7_production_nw.gro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613E5-393E-4348-A315-FE8D693A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4345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Render script: 03_receptor_pack/figures/EGFR_plus10_domain_coloring.cxc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999B7-95DD-4A1D-A7C1-EF94E12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9527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BBA83-24E9-4CC7-9F57-A37F709D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95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F1E92C-369C-4DFD-BC80-44F67D4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29565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model preserves a membrane-proximal inactive TM-JM-KD dimer frame.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05AC7-5A14-48F8-81BD-400E8A7C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962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BBDCD-DA9F-421B-A492-D0A33694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6240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200 ns metrics support using this receptor frame as the next input candidate.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4BCBF8-7733-4AD9-B116-37BDD0D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648200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4BA63-6BA1-4C7F-9FBA-7045904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838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KD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7129BB-F13A-4436-B8D2-B6F9BAC6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0673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25.66 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68AA9-E7CA-4F4B-B924-23C005F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600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±0.86 from final-pair 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F3A779-5984-40C0-8D4F-4FA4B811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276975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B634F-2DAD-430E-BAB7-0073DA3E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77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150-200 ns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70AAD3-3334-4EB4-80FF-3466A56A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7056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505.28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42E47-1A78-4B76-8ABA-A593DD21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7239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±38.10 heavy contacts within 4.5 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C34156-A7E5-464F-B0B7-4A52F13E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905750"/>
            <a:ext cx="6076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Caveats: GRO lacks chain IDs, so protomers are split by residue order; residue labels 689/692/713/715 are not all lysines in the final topology.</a:t>
            </a:r>
          </a:p>
        </p:txBody>
      </p:sp>
      <p:sp>
        <p:nvSpPr>
          <p:cNvPr id="32" name="footer-label-06 / 09">
            <a:extLst xmlns:a="http://schemas.openxmlformats.org/drawingml/2006/main">
              <a:ext uri="{FF2B5EF4-FFF2-40B4-BE49-F238E27FC236}">
                <a16:creationId xmlns:a16="http://schemas.microsoft.com/office/drawing/2014/main" id="{8C1521DB-A89B-442A-AAFE-00CE23D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06 / 09</a:t>
            </a:r>
          </a:p>
        </p:txBody>
      </p:sp>
      <p:sp>
        <p:nvSpPr>
          <p:cNvPr id="33" name="footer-source-06 / 09">
            <a:extLst xmlns:a="http://schemas.openxmlformats.org/drawingml/2006/main">
              <a:ext uri="{FF2B5EF4-FFF2-40B4-BE49-F238E27FC236}">
                <a16:creationId xmlns:a16="http://schemas.microsoft.com/office/drawing/2014/main" id="{3B6FC030-FCCB-4248-B889-59CEC7D0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9544050"/>
            <a:ext cx="424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final +10 PDB/GRO, membrane_stability_*_mdanalysis.csv, domain coloring scripts</a:t>
            </a:r>
          </a:p>
        </p:txBody>
      </p:sp>
    </p:spTree>
    <p:extLst>
      <p:ext uri="{BB962C8B-B14F-4D97-AF65-F5344CB8AC3E}">
        <p14:creationId xmlns:p14="http://schemas.microsoft.com/office/powerpoint/2010/main" val="17541438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6FEB15E-75C7-400D-AF00-0CE7D66D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600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Trajectory clustering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27DEAE-DCFE-408F-B6F4-6D33FB66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3373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Older representative exists; final-window reps need confirmation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DB7AF1-E8CE-46E8-881D-04EA28D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301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80-100 ns clustering can support context, but requested 160-185 / 170-200 ns representatives are not confirmed by surrounding summaries.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403D8-D54E-497D-8C91-A091F5A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0840"/>
            <a:ext cx="8096250" cy="2783205"/>
          </a:xfrm>
          <a:prstGeom xmlns:a="http://schemas.openxmlformats.org/drawingml/2006/main" prst="roundRect">
            <a:avLst>
              <a:gd name="adj" fmla="val 2738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5" name="slide7-popul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f3b381f394723"/>
          <a:stretch xmlns:a="http://schemas.openxmlformats.org/drawingml/2006/main"/>
        </p:blipFill>
        <p:spPr>
          <a:xfrm xmlns:a="http://schemas.openxmlformats.org/drawingml/2006/main">
            <a:off x="2010181" y="3006090"/>
            <a:ext cx="5676087" cy="23983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0A1A9-7DCE-4524-B67F-D6844570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80-100 ns cluster population; C1 = 150/201 frames (74.6%)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1350E-9947-4872-A2AF-C9BA3FBB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5495"/>
            <a:ext cx="8096250" cy="2783205"/>
          </a:xfrm>
          <a:prstGeom xmlns:a="http://schemas.openxmlformats.org/drawingml/2006/main" prst="roundRect">
            <a:avLst>
              <a:gd name="adj" fmla="val 2738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8" name="slide7-timeli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93d3b0e9a4371"/>
          <a:stretch xmlns:a="http://schemas.openxmlformats.org/drawingml/2006/main"/>
        </p:blipFill>
        <p:spPr>
          <a:xfrm xmlns:a="http://schemas.openxmlformats.org/drawingml/2006/main">
            <a:off x="1436856" y="5960745"/>
            <a:ext cx="6822738" cy="239839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CBA9E-3567-42BB-89EA-6AFFBA2E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80-100 ns cluster timeline; representative C1 frame time = 84.0 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3AFA1-F358-4CDD-A38D-5304C01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371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Representative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C5E4B-667E-4F58-9AE0-5AE376D9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89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8281B-22CB-42E3-9399-FEAE60AC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671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80-100 ns C1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D4263-E0AA-4B99-A24C-967974E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4861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found: C1 150/201 frames, representative 84.0 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9EBEF-E12B-4314-8833-D1B990B0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4861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supporting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249F6-03AB-4A19-8B8A-083BC375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271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2A633-2C0D-4944-95F4-A0143E6D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053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160-185 ns C1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94A8F-8AD0-4BDD-99F4-FA3716D9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3243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confirmed clustering summary not found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F8049-134D-47F5-90D1-7D3FB4C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3243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missing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43C79-7FAE-41F6-9509-325AF8A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653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F3B49-9297-498E-8870-1FF8D3ED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435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170-200 ns C1/C2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2F6E0-40AB-4AF6-946C-5BDEE503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162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confirmed clustering summaries not found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4BA6A-676C-4B12-8C81-0CF1D9B8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1625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missing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B7FDC-178D-42F8-879B-64AF0CD2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035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200E2-43B6-4C81-90D1-93E72E0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817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EGFR_160-185.pdb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83D4F-0AB8-4155-AC11-2CEAD4E6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0007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file exists under 60-85 ns result folder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4E94E0-BC68-4CA9-B705-EE5B2A73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0007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ambiguous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C585A-2608-4815-9568-D747182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4177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BF24D-8619-45CA-A7E2-FEF6914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81990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EGFR_170-200.pdb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520AA1-0175-444A-9898-85166D83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8389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file exists under 70-100 ns result folder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EC191-6224-4849-98F9-8F747E10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8389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ambiguous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2EFEF-A6D7-464A-A5E2-396A7BC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372350"/>
            <a:ext cx="8248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PPT wording rule: do not present the ambiguous PDB filenames as final 160-200 ns representatives until a matching summary/log confirms the interval.</a:t>
            </a:r>
          </a:p>
        </p:txBody>
      </p:sp>
      <p:sp>
        <p:nvSpPr>
          <p:cNvPr id="32" name="footer-label-07 / 09">
            <a:extLst xmlns:a="http://schemas.openxmlformats.org/drawingml/2006/main">
              <a:ext uri="{FF2B5EF4-FFF2-40B4-BE49-F238E27FC236}">
                <a16:creationId xmlns:a16="http://schemas.microsoft.com/office/drawing/2014/main" id="{AEEFD294-33C0-4FAD-A376-10635DF9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07 / 09</a:t>
            </a:r>
          </a:p>
        </p:txBody>
      </p:sp>
      <p:sp>
        <p:nvSpPr>
          <p:cNvPr id="33" name="footer-source-07 / 09">
            <a:extLst xmlns:a="http://schemas.openxmlformats.org/drawingml/2006/main">
              <a:ext uri="{FF2B5EF4-FFF2-40B4-BE49-F238E27FC236}">
                <a16:creationId xmlns:a16="http://schemas.microsoft.com/office/drawing/2014/main" id="{BC8C5C47-5556-40B3-AFD8-2A7A6D0F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5440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4.+10_clustering/cluster_results/80-100ns_cut0.15 and clustering audit reports</a:t>
            </a:r>
          </a:p>
        </p:txBody>
      </p:sp>
    </p:spTree>
    <p:extLst>
      <p:ext uri="{BB962C8B-B14F-4D97-AF65-F5344CB8AC3E}">
        <p14:creationId xmlns:p14="http://schemas.microsoft.com/office/powerpoint/2010/main" val="981327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2026-04-29T12:37:49.9140000Z</dcterms:created>
  <dcterms:modified xsi:type="dcterms:W3CDTF">2026-04-29T12:37:49.9140000Z</dcterms:modified>
</coreProperties>
</file>