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aa2c7d679d4fd0" /><Relationship Type="http://schemas.openxmlformats.org/officeDocument/2006/relationships/extended-properties" Target="/docProps/app.xml" Id="R96629ceaa9d34f25" /><Relationship Type="http://schemas.openxmlformats.org/officeDocument/2006/relationships/officeDocument" Target="/ppt/presentation.xml" Id="Rc7bcb769ec8141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679020236342e5"/>
  </p:sldMasterIdLst>
  <p:notesMasterIdLst>
    <p:notesMasterId xmlns:r="http://schemas.openxmlformats.org/officeDocument/2006/relationships" r:id="R2761fe1fb1ac4f76"/>
  </p:notesMasterIdLst>
  <p:sldIdLst>
    <p:sldId xmlns:r="http://schemas.openxmlformats.org/officeDocument/2006/relationships" id="256" r:id="R40d60b34df2c45c0"/>
    <p:sldId xmlns:r="http://schemas.openxmlformats.org/officeDocument/2006/relationships" id="257" r:id="Re8508bfc6c304036"/>
    <p:sldId xmlns:r="http://schemas.openxmlformats.org/officeDocument/2006/relationships" id="258" r:id="Rb94309be2b9f4aff"/>
    <p:sldId xmlns:r="http://schemas.openxmlformats.org/officeDocument/2006/relationships" id="259" r:id="R552d8190a9d548bd"/>
    <p:sldId xmlns:r="http://schemas.openxmlformats.org/officeDocument/2006/relationships" id="260" r:id="R573cc5fac4d2429e"/>
    <p:sldId xmlns:r="http://schemas.openxmlformats.org/officeDocument/2006/relationships" id="261" r:id="R90ab93b00c4d49cb"/>
    <p:sldId xmlns:r="http://schemas.openxmlformats.org/officeDocument/2006/relationships" id="262" r:id="Rac5b59ade3574e54"/>
    <p:sldId xmlns:r="http://schemas.openxmlformats.org/officeDocument/2006/relationships" id="263" r:id="R1d04cddd59d04f8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79020236342e5" /><Relationship Type="http://schemas.openxmlformats.org/officeDocument/2006/relationships/theme" Target="/ppt/theme/theme1.xml" Id="Rd402cd5f314b42c2" /><Relationship Type="http://schemas.openxmlformats.org/officeDocument/2006/relationships/notesMaster" Target="/ppt/notesMasters/notesMaster1.xml" Id="R2761fe1fb1ac4f76" /><Relationship Type="http://schemas.openxmlformats.org/officeDocument/2006/relationships/presProps" Target="/ppt/presProps.xml" Id="R815ac4ec1dda4189" /><Relationship Type="http://schemas.openxmlformats.org/officeDocument/2006/relationships/viewProps" Target="/ppt/viewProps.xml" Id="R9dad685d2ea44d5e" /><Relationship Type="http://schemas.openxmlformats.org/officeDocument/2006/relationships/tableStyles" Target="/ppt/tableStyles.xml" Id="Rec2b6ad976f346e5" /><Relationship Type="http://schemas.openxmlformats.org/officeDocument/2006/relationships/slide" Target="/ppt/slides/slide1.xml" Id="R40d60b34df2c45c0" /><Relationship Type="http://schemas.openxmlformats.org/officeDocument/2006/relationships/slide" Target="/ppt/slides/slide2.xml" Id="Re8508bfc6c304036" /><Relationship Type="http://schemas.openxmlformats.org/officeDocument/2006/relationships/slide" Target="/ppt/slides/slide3.xml" Id="Rb94309be2b9f4aff" /><Relationship Type="http://schemas.openxmlformats.org/officeDocument/2006/relationships/slide" Target="/ppt/slides/slide4.xml" Id="R552d8190a9d548bd" /><Relationship Type="http://schemas.openxmlformats.org/officeDocument/2006/relationships/slide" Target="/ppt/slides/slide5.xml" Id="R573cc5fac4d2429e" /><Relationship Type="http://schemas.openxmlformats.org/officeDocument/2006/relationships/slide" Target="/ppt/slides/slide6.xml" Id="R90ab93b00c4d49cb" /><Relationship Type="http://schemas.openxmlformats.org/officeDocument/2006/relationships/slide" Target="/ppt/slides/slide7.xml" Id="Rac5b59ade3574e54" /><Relationship Type="http://schemas.openxmlformats.org/officeDocument/2006/relationships/slide" Target="/ppt/slides/slide8.xml" Id="R1d04cddd59d04f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408a7c363744c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961e3da56e402f" /><Relationship Type="http://schemas.openxmlformats.org/officeDocument/2006/relationships/notesMaster" Target="/ppt/notesMasters/notesMaster1.xml" Id="R48d1f326c22f43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a573cc14704ef5" /><Relationship Type="http://schemas.openxmlformats.org/officeDocument/2006/relationships/notesMaster" Target="/ppt/notesMasters/notesMaster1.xml" Id="R68a80aabeed243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03b328df6149bb" /><Relationship Type="http://schemas.openxmlformats.org/officeDocument/2006/relationships/notesMaster" Target="/ppt/notesMasters/notesMaster1.xml" Id="R7b3cd35c2cfc4c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5895b9778642e3" /><Relationship Type="http://schemas.openxmlformats.org/officeDocument/2006/relationships/notesMaster" Target="/ppt/notesMasters/notesMaster1.xml" Id="Rbf197e148e944d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0882fc34b54130" /><Relationship Type="http://schemas.openxmlformats.org/officeDocument/2006/relationships/notesMaster" Target="/ppt/notesMasters/notesMaster1.xml" Id="Rbd03c3a1d7c44a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731b3fad3f464a" /><Relationship Type="http://schemas.openxmlformats.org/officeDocument/2006/relationships/notesMaster" Target="/ppt/notesMasters/notesMaster1.xml" Id="Rd1ad6f6aa9374b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f836375601444e" /><Relationship Type="http://schemas.openxmlformats.org/officeDocument/2006/relationships/notesMaster" Target="/ppt/notesMasters/notesMaster1.xml" Id="R47f423ee0f6543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25575c0fb54b9a" /><Relationship Type="http://schemas.openxmlformats.org/officeDocument/2006/relationships/notesMaster" Target="/ppt/notesMasters/notesMaster1.xml" Id="R84b91c8a521c49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54935f0bf449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adbe2cf8f504727" /><Relationship Type="http://schemas.openxmlformats.org/officeDocument/2006/relationships/slideLayout" Target="/ppt/slideLayouts/slideLayout2.xml" Id="Rec389c13239246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389c13239246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b890b0dc7a4e60" /><Relationship Type="http://schemas.openxmlformats.org/officeDocument/2006/relationships/image" Target="/ppt/media/image.png" Id="Rd5b0468c6dd046d0" /><Relationship Type="http://schemas.openxmlformats.org/officeDocument/2006/relationships/notesSlide" Target="/ppt/notesSlides/notesSlide1.xml" Id="Rd7b8baaffba44b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2e8faa30d9415d" /><Relationship Type="http://schemas.openxmlformats.org/officeDocument/2006/relationships/notesSlide" Target="/ppt/notesSlides/notesSlide2.xml" Id="R69abb1e8348848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375c7569d6400a" /><Relationship Type="http://schemas.openxmlformats.org/officeDocument/2006/relationships/notesSlide" Target="/ppt/notesSlides/notesSlide3.xml" Id="Rabb443fbf06d4c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8df053d57642b7" /><Relationship Type="http://schemas.openxmlformats.org/officeDocument/2006/relationships/image" Target="/ppt/media/image2.png" Id="R5ca7dbfdda814249" /><Relationship Type="http://schemas.openxmlformats.org/officeDocument/2006/relationships/image" Target="/ppt/media/image3.png" Id="Ra435d9a3123f4b2d" /><Relationship Type="http://schemas.openxmlformats.org/officeDocument/2006/relationships/image" Target="/ppt/media/image4.png" Id="R7507077d8ad74f12" /><Relationship Type="http://schemas.openxmlformats.org/officeDocument/2006/relationships/image" Target="/ppt/media/image5.png" Id="R32f97905789d46ee" /><Relationship Type="http://schemas.openxmlformats.org/officeDocument/2006/relationships/notesSlide" Target="/ppt/notesSlides/notesSlide4.xml" Id="Ra1637f12724e45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7cea0df33f4e38" /><Relationship Type="http://schemas.openxmlformats.org/officeDocument/2006/relationships/image" Target="/ppt/media/image6.png" Id="Re1465300ebc14c9d" /><Relationship Type="http://schemas.openxmlformats.org/officeDocument/2006/relationships/image" Target="/ppt/media/image7.png" Id="R9d0bbbea1ee741b5" /><Relationship Type="http://schemas.openxmlformats.org/officeDocument/2006/relationships/image" Target="/ppt/media/image8.png" Id="Re4a4f04758614427" /><Relationship Type="http://schemas.openxmlformats.org/officeDocument/2006/relationships/notesSlide" Target="/ppt/notesSlides/notesSlide5.xml" Id="R949de30523f945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1221613ce64972" /><Relationship Type="http://schemas.openxmlformats.org/officeDocument/2006/relationships/notesSlide" Target="/ppt/notesSlides/notesSlide6.xml" Id="R6d1b104d89c746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245651f0744584" /><Relationship Type="http://schemas.openxmlformats.org/officeDocument/2006/relationships/image" Target="/ppt/media/image9.png" Id="R0bf026e3a67840df" /><Relationship Type="http://schemas.openxmlformats.org/officeDocument/2006/relationships/image" Target="/ppt/media/image10.png" Id="Rf31dc1b2671840f8" /><Relationship Type="http://schemas.openxmlformats.org/officeDocument/2006/relationships/notesSlide" Target="/ppt/notesSlides/notesSlide7.xml" Id="Rc0f4bf4ffa384e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ac41b6521d4d18" /><Relationship Type="http://schemas.openxmlformats.org/officeDocument/2006/relationships/notesSlide" Target="/ppt/notesSlides/notesSlide8.xml" Id="R3f19cceaefc44c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0468c6dd046d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CB8A86E-6C4A-421B-AEED-22232F60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316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EGFR-MYO1D receptor modeling update</a:t>
            </a:r>
          </a:p>
        </p:txBody>
      </p:sp>
      <p:sp>
        <p:nvSpPr>
          <p:cNvPr id="3" name="slide-title-line-1">
            <a:extLst xmlns:a="http://schemas.openxmlformats.org/drawingml/2006/main">
              <a:ext uri="{FF2B5EF4-FFF2-40B4-BE49-F238E27FC236}">
                <a16:creationId xmlns:a16="http://schemas.microsoft.com/office/drawing/2014/main" id="{7FD8D3CD-6EEA-4DBE-85D4-22BF28F2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Membrane-compatible</a:t>
            </a:r>
          </a:p>
        </p:txBody>
      </p:sp>
      <p:sp>
        <p:nvSpPr>
          <p:cNvPr id="4" name="slide-title-line-2">
            <a:extLst xmlns:a="http://schemas.openxmlformats.org/drawingml/2006/main">
              <a:ext uri="{FF2B5EF4-FFF2-40B4-BE49-F238E27FC236}">
                <a16:creationId xmlns:a16="http://schemas.microsoft.com/office/drawing/2014/main" id="{2B3F3696-A1B2-441C-84A1-D744F902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EGFR dimer receptor</a:t>
            </a:r>
          </a:p>
        </p:txBody>
      </p:sp>
      <p:sp>
        <p:nvSpPr>
          <p:cNvPr id="5" name="slide-title-line-3">
            <a:extLst xmlns:a="http://schemas.openxmlformats.org/drawingml/2006/main">
              <a:ext uri="{FF2B5EF4-FFF2-40B4-BE49-F238E27FC236}">
                <a16:creationId xmlns:a16="http://schemas.microsoft.com/office/drawing/2014/main" id="{526D1B0D-C4C7-48E5-AA4A-25C2BEFF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32026"/>
                </a:solidFill>
              </a:defRPr>
            </a:pPr>
            <a:r>
              <a:rPr sz="4350" b="1">
                <a:solidFill>
                  <a:srgbClr val="132026"/>
                </a:solidFill>
              </a:rPr>
              <a:t>model 구축 및 clustering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0083A-B9E5-4C85-9CBC-FE24CEBE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6D"/>
          </a:solidFill>
          <a:ln xmlns:a="http://schemas.openxmlformats.org/drawingml/2006/main" w="0">
            <a:solidFill>
              <a:srgbClr val="23A66D"/>
            </a:solidFill>
            <a:prstDash val="solid"/>
          </a:ln>
        </p:spPr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5537086-2066-4A2D-888B-66937E07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7715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05A"/>
                </a:solidFill>
              </a:defRPr>
            </a:pPr>
            <a:r>
              <a:rPr sz="1875">
                <a:solidFill>
                  <a:srgbClr val="40505A"/>
                </a:solidFill>
              </a:rPr>
              <a:t>후속 MYO1D PPI 분석 전, EGFR receptor input을 +10° model과 final 200 ns MD validation 기준으로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3A3C6-9F7B-4FCD-88C9-2CA20615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667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63689-DD9E-46DA-A9E1-862E2A9B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16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receptor 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9C9F4-1FFE-438E-AE6F-2ACE8D30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3870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42BAE-2BAB-406D-9CDB-66FCFF50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89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7615D-8629-4A6D-8763-D331DA65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38700"/>
            <a:ext cx="2095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8AA23-70D9-4DE6-88FD-E4F74271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339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clustering</a:t>
            </a:r>
          </a:p>
        </p:txBody>
      </p:sp>
      <p:sp>
        <p:nvSpPr>
          <p:cNvPr id="14" name="scope-note">
            <a:extLst xmlns:a="http://schemas.openxmlformats.org/drawingml/2006/main">
              <a:ext uri="{FF2B5EF4-FFF2-40B4-BE49-F238E27FC236}">
                <a16:creationId xmlns:a16="http://schemas.microsoft.com/office/drawing/2014/main" id="{3137A226-50D1-4C1D-B14B-6074D72F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634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47C"/>
                </a:solidFill>
              </a:defRPr>
            </a:pPr>
            <a:r>
              <a:rPr sz="1275">
                <a:solidFill>
                  <a:srgbClr val="65747C"/>
                </a:solidFill>
              </a:rPr>
              <a:t>Scope: PPI docking, pocket discovery, compound docking은 이번 발표에서 결과로 다루지 않음</a:t>
            </a:r>
          </a:p>
        </p:txBody>
      </p:sp>
      <p:sp>
        <p:nvSpPr>
          <p:cNvPr id="15" name="footer-label-01 / 09">
            <a:extLst xmlns:a="http://schemas.openxmlformats.org/drawingml/2006/main">
              <a:ext uri="{FF2B5EF4-FFF2-40B4-BE49-F238E27FC236}">
                <a16:creationId xmlns:a16="http://schemas.microsoft.com/office/drawing/2014/main" id="{E7A48A65-019D-4D8A-B1AC-D756F3E2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01 / 09</a:t>
            </a:r>
          </a:p>
        </p:txBody>
      </p:sp>
      <p:sp>
        <p:nvSpPr>
          <p:cNvPr id="16" name="footer-source-01 / 09">
            <a:extLst xmlns:a="http://schemas.openxmlformats.org/drawingml/2006/main">
              <a:ext uri="{FF2B5EF4-FFF2-40B4-BE49-F238E27FC236}">
                <a16:creationId xmlns:a16="http://schemas.microsoft.com/office/drawing/2014/main" id="{50AB6299-CD85-42BC-8565-2AE1D54A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9563100"/>
            <a:ext cx="3276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Generated cover is conceptual; scientific claims use local files and logs.</a:t>
            </a:r>
          </a:p>
        </p:txBody>
      </p:sp>
    </p:spTree>
    <p:extLst>
      <p:ext uri="{BB962C8B-B14F-4D97-AF65-F5344CB8AC3E}">
        <p14:creationId xmlns:p14="http://schemas.microsoft.com/office/powerpoint/2010/main" val="5279745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0C26E5A-B0AA-4D6B-AC54-6236D505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Modeling logic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90030A-E0DD-4423-97A1-087326BE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5372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Why receptor model first?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052971-07DC-4A75-8367-F43241CA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5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0505A"/>
                </a:solidFill>
              </a:defRPr>
            </a:pPr>
            <a:r>
              <a:rPr sz="1950">
                <a:solidFill>
                  <a:srgbClr val="40505A"/>
                </a:solidFill>
              </a:rPr>
              <a:t>MYO1D PPI docking 전에 EGFR receptor frame을 먼저 고정해야 downstream 해석이 흔들리지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040EE-9FE7-4998-8621-8D2A6775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E25BC-6D32-4FD9-9B61-2BB8CD65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A66D"/>
                </a:solidFill>
              </a:defRPr>
            </a:pPr>
            <a:r>
              <a:rPr sz="1350" b="1">
                <a:solidFill>
                  <a:srgbClr val="23A66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FC7A9-7D0D-456F-96D4-6661C9A9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152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 receptor input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F2EE5-3F72-4BC7-9C3D-559047A1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+10° model + final 200 ns MD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F51CC-B902-4E2E-ACF0-FD0ECAF6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72A79-5A06-493D-9F9B-10A96070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28A59-6EBE-4F9C-92AF-F969A90B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ECE73-1091-4D3F-B4CE-D1AF77A3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MYO1D docking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17CF0-6FE3-4298-87B3-04151113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next work after receptor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5C9BB-A897-4F85-BE27-FD519D85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36720-0F5D-44C4-9188-BCADFAC2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4045C-7CF7-4BF4-AD8B-85CB82D3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D6E1D-EA8A-4301-99EB-2CC81E44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EGFR-side PPI patch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FD2A6-8D38-44CB-A673-47AC3EF0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9095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interface residues and contact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3FCC5-DFEB-4BC4-920D-F52F6D28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BDC29-7A77-40A6-A285-99EFF384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2C466-B6C4-46E4-A939-733E6887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F9333B-5D98-4E11-9C35-DC7C72BD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Pocket discovery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F0AA67-9B38-4CE9-BB79-B7963CE5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PPI-aware pocket hypothesis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41A54-1742-40FD-9219-DDCBE021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DB12A-2D50-4A64-B5CB-02100054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2F3F04-EFAD-4D9E-ABC4-C1F78F62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3B985-1CA2-4B6E-BDC8-5181849A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Compound docking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E12573-E575-472C-8912-860E3AD8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future output, not current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8600-4404-4DB3-8FFA-587A1DFA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11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이번 deck에서 다루는 확정 범위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15F91B-8FDB-42F0-A3D7-B4B4714E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973973-BA75-4C69-9276-F9DC3040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template assembly provenance: TM/JM/KD composite model construction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B8198C-6D69-4A76-A432-E7408E71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F8F7EE-8E30-4EC9-9461-191FAC56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orientation scan: +10° selected among available parsed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29D0AA-4607-4420-A981-84D88B0D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D529BF-46DE-4EBA-BD6C-DA584466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receptor pair: +10 no-water 200 ns trajectory identity confirmed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320C95-50E6-4EDB-8F51-5D1C11F8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276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이번 deck에서 결과로 주장하지 않는 범위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37EC55-DF05-42D2-8A54-8B931986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8A88C4-2377-4322-BF00-9C009CFB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 docking result는 아직 미수행/미정리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09F39E-C72E-435A-A20E-BD8F631F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FFE09A-08DB-46AE-8C6A-FE4A41A5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EGFR-side PPI patch, pocket discovery는 future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6F5F0F-B1FA-4A50-BC2D-C1443C32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A1C450-7E36-434B-B872-7FE609F1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compound docking은 receptor representative 확정 후 시작</a:t>
            </a:r>
          </a:p>
        </p:txBody>
      </p:sp>
      <p:sp>
        <p:nvSpPr>
          <p:cNvPr id="42" name="footer-label-02 / 09">
            <a:extLst xmlns:a="http://schemas.openxmlformats.org/drawingml/2006/main">
              <a:ext uri="{FF2B5EF4-FFF2-40B4-BE49-F238E27FC236}">
                <a16:creationId xmlns:a16="http://schemas.microsoft.com/office/drawing/2014/main" id="{2011C2BA-402C-4F15-9FAD-C93BA2FC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02 / 09</a:t>
            </a:r>
          </a:p>
        </p:txBody>
      </p:sp>
      <p:sp>
        <p:nvSpPr>
          <p:cNvPr id="43" name="footer-source-02 / 09">
            <a:extLst xmlns:a="http://schemas.openxmlformats.org/drawingml/2006/main">
              <a:ext uri="{FF2B5EF4-FFF2-40B4-BE49-F238E27FC236}">
                <a16:creationId xmlns:a16="http://schemas.microsoft.com/office/drawing/2014/main" id="{D28D0AB7-70BE-4C8A-88B3-CA890204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563100"/>
            <a:ext cx="3105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Source: reports/EGFR_modeling_clustering_PPT_data_package.md</a:t>
            </a:r>
          </a:p>
        </p:txBody>
      </p:sp>
    </p:spTree>
    <p:extLst>
      <p:ext uri="{BB962C8B-B14F-4D97-AF65-F5344CB8AC3E}">
        <p14:creationId xmlns:p14="http://schemas.microsoft.com/office/powerpoint/2010/main" val="1421218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1EC7877-8515-4ADA-AB3D-5A7FC662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Composite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F3D547-0E20-4427-B042-C8BBBF64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86487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TM-JM-KD inactive dimer model assembly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46432F-CCE2-470A-9323-1AE3CF8F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2134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2M0B TM dimer, 2M20 JM-A reference, 3GT8 inactive KD dimer, MODELLER gap filling을 조합해 EGFR receptor frame을 구성했다.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B7C3F-6BB3-457A-B146-C8892A7A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4660"/>
            <a:ext cx="10572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263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284C0-6297-4C2E-A503-0045552D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F3499-88C6-409A-AAE0-D8A70BE1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384B0-3C92-45B0-B78A-92EBAA9A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Role in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040BC-0563-45AB-8101-103C64BC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Caveat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56260-A429-4870-B9BB-90E7B992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758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C5EF5-9CCB-466D-B6AD-8D2D89D6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TM dimer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51FAA-EDBC-4423-95C1-F74D6C9A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2M0B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2F53E-6249-4075-9458-DA5F636D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33813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transmembrane dimer anchor; local script retained 634-670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6B936-0AEF-4991-B871-16938B36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mmCIF maps 634-677; local selection is shorter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6255A-3879-42F9-8F46-42380C19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531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6D5AE-DE8B-4228-A3F8-C4610B8C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JM-A 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9E916-2D0F-4215-87DA-B774C16F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E50EF-A29B-4C7B-BFA2-BA4BD892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86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membrane-proximal JM-A orientation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CEF1F-9C29-4759-99EA-879C429A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2915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exact coordinate-generation execution path remains caveated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40170-1BAC-47E2-BEE2-6F1F8B77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303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15696-D855-48F7-8A76-A2DD8273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inactive KD dimer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4FFA1-FCE9-44D7-B673-60221B6E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3GT8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9A7E2-FFC9-4861-AE8D-86DEEEB0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245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symmetric inactive kinase-domain dimer placement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6D4858-0CB2-4D40-8A9A-AFBBC7F7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435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PDB numbering and working model numbering differ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26B92F-5E7B-45A3-A01E-47D8C87A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8076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8EE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AB4651-FF63-4BFE-B34A-3358FF36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81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modeled gaps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C9F747-31F1-432E-8DB4-4F3704EE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3817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MODELLER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03AD82-C8E6-490E-82FA-2507E01B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3817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JM-B 684-704 and A-loop 862-876 were filled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5A952F-5A2E-4A46-9142-D33E7805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008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modeled coordinates, not template-derived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F48C1-6A5D-41BF-B8BF-0F32E24B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990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Construction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C4CC9C-4F40-4D7C-86C4-9626D9EA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4747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B6AAA6-EC3F-44A1-A317-DD48E249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6195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10A74F-6B50-46DA-B95A-2401BD23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6195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2M0B TM dimer alignment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150CE0-AC2B-4A7A-B1D5-296337F4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8671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anchor membrane-spanning dimer geometry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653F7-A28B-445F-B5B5-45F91253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2938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43EDF9-55CA-4158-BE12-CAF48CF8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4577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98E771-30F4-4554-BDCA-9022D011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4386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2M20 JM-A reference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5EE7D1-8DF2-4DBE-A5B0-98B8BEEB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6863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orient membrane-proximal JM-A segment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9B6E95-66BF-4FED-ACB1-03367470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1130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BCB836-B13F-409B-95AA-A0DA0AFC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2578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DBE121-6D3A-4EA5-B83D-BEE43739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2578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3GT8 inactive KD dimer placement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4E56A3-7689-4C4A-90B8-7364815E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5054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retain inactive symmetric KD context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79BBAD-AD8A-426A-AD6B-6155DFC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9321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CFF402-B074-4DFE-B597-79E41E4A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0960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03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6A2E7E-7899-4EB4-B58E-7A33E125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0769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MODELLER gap filling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0DD961-EED6-4B01-AFF0-788A57A0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3246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JM-B and A-loop modeled gaps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BD2125-A8DF-4BC7-9276-98B8194A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13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71A58D-9197-4BFF-9334-E7FF06B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961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E2A41B-8E4E-4695-9EA8-2EB69296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8961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five rotational variants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46B015-95AA-4E0A-AA16-D95EAE03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71437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-20°, -10°, 0°, +10°, +20° for scan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256F4F-D526-45BE-B552-E19D2DEA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562850"/>
            <a:ext cx="569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Structure render to add later: reports/assets/slide6_plus10_side_view.png or use 03_receptor_pack/figures/EGFR_plus10_domain_coloring.pml</a:t>
            </a:r>
          </a:p>
        </p:txBody>
      </p:sp>
      <p:sp>
        <p:nvSpPr>
          <p:cNvPr id="51" name="footer-label-03 / 09">
            <a:extLst xmlns:a="http://schemas.openxmlformats.org/drawingml/2006/main">
              <a:ext uri="{FF2B5EF4-FFF2-40B4-BE49-F238E27FC236}">
                <a16:creationId xmlns:a16="http://schemas.microsoft.com/office/drawing/2014/main" id="{8B32AB74-36D7-430B-9C07-AAEE5966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03 / 09</a:t>
            </a:r>
          </a:p>
        </p:txBody>
      </p:sp>
      <p:sp>
        <p:nvSpPr>
          <p:cNvPr id="52" name="footer-source-03 / 09">
            <a:extLst xmlns:a="http://schemas.openxmlformats.org/drawingml/2006/main">
              <a:ext uri="{FF2B5EF4-FFF2-40B4-BE49-F238E27FC236}">
                <a16:creationId xmlns:a16="http://schemas.microsoft.com/office/drawing/2014/main" id="{33D28FE5-BCAB-4F05-8BEA-12AD94E8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9563100"/>
            <a:ext cx="3619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1.align/*, 01_numbering_provenance/template_model_mapping.csv</a:t>
            </a:r>
          </a:p>
        </p:txBody>
      </p:sp>
    </p:spTree>
    <p:extLst>
      <p:ext uri="{BB962C8B-B14F-4D97-AF65-F5344CB8AC3E}">
        <p14:creationId xmlns:p14="http://schemas.microsoft.com/office/powerpoint/2010/main" val="21187808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33D288B-6EA6-40DE-9E4E-7411409C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Orientation scan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AB10B8-CCB8-49A6-98C5-22C5D01B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822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Five TM-KD rotations screened; +10° ranked best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9CE989-C19A-4C9E-8768-CA53888C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9677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Available parsed metrics support +10° as the working EGFR receptor orientation, with scan-level caveats.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66066-0544-44B2-A794-20747C12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885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+10° selected metric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17B3D-DA37-4C44-B57E-95837F24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662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07F27-88F2-4290-9352-20A8D78F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RMSD 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ABDDA-017A-47EC-9678-83204C1F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2.68 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850D9-B793-493A-95F9-28E9B832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±0.39; lowest among parsed scan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3DE80-39E6-4A4D-A0F4-4C820E9D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8245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89517-5ACA-45D1-9E08-F32B461F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Rg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9AAC1-6289-45A7-9BAB-2117395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28.31 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B036B-4FE8-409D-AAB4-1CE4CBD9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626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±0.12; compact/stable relative 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99820-4840-4C4F-9175-99818818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987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9BE5B-CB88-4279-AEF2-4E04AFF5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Inter-chain H-bond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D186D-AF32-4D9E-B3C1-B4D061D4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913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11.49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F8719-4AD1-4B3E-AB89-54685B8C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438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±3.11 where 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2B5E4-950A-41F2-BBFD-D9237211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534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Caveat: orientation-wide membrane/contact metrics are incomplete, so this is an available-metric ranking rather than a complete biological stability score.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75822-EF66-4846-B0AC-ACB38F86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561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19" name="slide4-rms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7dbfdda814249"/>
          <a:stretch xmlns:a="http://schemas.openxmlformats.org/drawingml/2006/main"/>
        </p:blipFill>
        <p:spPr>
          <a:xfrm xmlns:a="http://schemas.openxmlformats.org/drawingml/2006/main">
            <a:off x="6716554" y="307086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D04F0-B877-4997-9B0C-756F9BB2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864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RMSD by orientation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5CDF3-6504-4BE6-9BE2-22637B4A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297561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2" name="slide4-r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5d9a3123f4b2d"/>
          <a:stretch xmlns:a="http://schemas.openxmlformats.org/drawingml/2006/main"/>
        </p:blipFill>
        <p:spPr>
          <a:xfrm xmlns:a="http://schemas.openxmlformats.org/drawingml/2006/main">
            <a:off x="12574429" y="307086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E2D1B6-389A-418A-AA9B-FFE035E3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4864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Radius of gyration by orientation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862A1-5FD2-40DD-A6F6-3656C941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9788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5" name="slide4-hbo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7077d8ad74f12"/>
          <a:stretch xmlns:a="http://schemas.openxmlformats.org/drawingml/2006/main"/>
        </p:blipFill>
        <p:spPr>
          <a:xfrm xmlns:a="http://schemas.openxmlformats.org/drawingml/2006/main">
            <a:off x="6716554" y="599313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D7E70E-30CC-4777-96CF-E677D066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Inter-chain H-bond count where available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007752-E036-4320-B5C6-B0D3768B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589788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8" name="slide4-sco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97905789d46ee"/>
          <a:stretch xmlns:a="http://schemas.openxmlformats.org/drawingml/2006/main"/>
        </p:blipFill>
        <p:spPr>
          <a:xfrm xmlns:a="http://schemas.openxmlformats.org/drawingml/2006/main">
            <a:off x="12574429" y="599313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DE8710-166F-4067-97B4-DA0D855B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Available-metric orientation score</a:t>
            </a:r>
          </a:p>
        </p:txBody>
      </p:sp>
      <p:sp>
        <p:nvSpPr>
          <p:cNvPr id="30" name="footer-label-04 / 09">
            <a:extLst xmlns:a="http://schemas.openxmlformats.org/drawingml/2006/main">
              <a:ext uri="{FF2B5EF4-FFF2-40B4-BE49-F238E27FC236}">
                <a16:creationId xmlns:a16="http://schemas.microsoft.com/office/drawing/2014/main" id="{3789F504-E0E2-421E-A77B-2393C62E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04 / 09</a:t>
            </a:r>
          </a:p>
        </p:txBody>
      </p:sp>
      <p:sp>
        <p:nvSpPr>
          <p:cNvPr id="31" name="footer-source-04 / 09">
            <a:extLst xmlns:a="http://schemas.openxmlformats.org/drawingml/2006/main">
              <a:ext uri="{FF2B5EF4-FFF2-40B4-BE49-F238E27FC236}">
                <a16:creationId xmlns:a16="http://schemas.microsoft.com/office/drawing/2014/main" id="{B67DB3A3-E52E-4BDE-B49C-5A81C668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95440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02_orientation_metrics/orientation_comparison_table.csv and figures/</a:t>
            </a:r>
          </a:p>
        </p:txBody>
      </p:sp>
    </p:spTree>
    <p:extLst>
      <p:ext uri="{BB962C8B-B14F-4D97-AF65-F5344CB8AC3E}">
        <p14:creationId xmlns:p14="http://schemas.microsoft.com/office/powerpoint/2010/main" val="3361970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BC9927F-AD7E-4B21-9D24-3E6A34FD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FBADF0-AF15-43AE-A067-E830013C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9925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Final +10 no-water 200 ns trajectory is identified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B8450FC-2407-4A13-B567-4AEA444C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Final pair: EGFR_plus10_step7_production_nw.gro + EGFR_plus10_step7_200ns_nw.xtc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5D949-C643-4D65-8DEB-2EE810EA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A04A9-8BDB-4BC4-B591-1FF84E40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gmx_check atoms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F9781-039A-4E61-B2C1-2F4CF22C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49,854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E508F-C65C-4CFF-8AC1-E1C665CD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final no-water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7C66C-9CA2-44EF-9362-E902DE83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0657C-A77F-42DE-A85C-208987E4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coordinate frames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6D29A-F0A4-4321-867E-FA572171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2,001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B86B6-1AC9-4A1F-ACBA-4A2D971E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100 ps output interval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41934-0C9A-42EC-AD24-2E3FEA85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13551-7A81-435F-92E5-B62EBC09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time span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EB1A0-7965-44B3-9693-3D476C88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0-200 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563E4-7291-4058-85DE-AEC67545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0-200,000 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3E3A1-88F5-4705-A10C-484D2526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4538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1E1C6-E894-4E04-A290-D744D192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analysis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8D156-2F10-4585-9B18-D7E3B23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19152-BD65-4A85-A264-D8C29B50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final-pair metric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EB6A3-6DD0-4E20-A28D-2CCA2BDE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1" name="slide5-kd-dista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65300ebc14c9d"/>
          <a:stretch xmlns:a="http://schemas.openxmlformats.org/drawingml/2006/main"/>
        </p:blipFill>
        <p:spPr>
          <a:xfrm xmlns:a="http://schemas.openxmlformats.org/drawingml/2006/main">
            <a:off x="91440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7D76B-4113-4534-B6BC-FBD1A169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KD-to-membrane absolute distance across final 200 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1A8D0-FB60-433E-B038-C936F6A3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4" name="slide5-contac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bbbea1ee741b5"/>
          <a:stretch xmlns:a="http://schemas.openxmlformats.org/drawingml/2006/main"/>
        </p:blipFill>
        <p:spPr>
          <a:xfrm xmlns:a="http://schemas.openxmlformats.org/drawingml/2006/main">
            <a:off x="653415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7634C-6594-4E02-8F32-EC4186F5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Inter-protomer heavy contacts within 4.5 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7D6E82-07AA-4390-8167-944D5EA8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7" name="slide5-tm-kd-til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4f04758614427"/>
          <a:stretch xmlns:a="http://schemas.openxmlformats.org/drawingml/2006/main"/>
        </p:blipFill>
        <p:spPr>
          <a:xfrm xmlns:a="http://schemas.openxmlformats.org/drawingml/2006/main">
            <a:off x="1215390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EF7144-4EBC-43CD-9687-0E14B2EA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TM-KD vector angle relative to membrane normal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D25D60-643D-4822-AB0E-6AF2BE83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96300"/>
            <a:ext cx="1668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Boundary note: 3.rotate_EGFR/10/full_200ns.xtc is not used as final evidence; final claim uses the packaged receptor/trajectory pair and uploaded gmx_check log.</a:t>
            </a:r>
          </a:p>
        </p:txBody>
      </p:sp>
      <p:sp>
        <p:nvSpPr>
          <p:cNvPr id="30" name="footer-label-05 / 09">
            <a:extLst xmlns:a="http://schemas.openxmlformats.org/drawingml/2006/main">
              <a:ext uri="{FF2B5EF4-FFF2-40B4-BE49-F238E27FC236}">
                <a16:creationId xmlns:a16="http://schemas.microsoft.com/office/drawing/2014/main" id="{EB694486-18F9-4ABB-B8FC-63A0D259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05 / 09</a:t>
            </a:r>
          </a:p>
        </p:txBody>
      </p:sp>
      <p:sp>
        <p:nvSpPr>
          <p:cNvPr id="31" name="footer-source-05 / 09">
            <a:extLst xmlns:a="http://schemas.openxmlformats.org/drawingml/2006/main">
              <a:ext uri="{FF2B5EF4-FFF2-40B4-BE49-F238E27FC236}">
                <a16:creationId xmlns:a16="http://schemas.microsoft.com/office/drawing/2014/main" id="{ED120F3D-4A99-4EA5-A622-537C3C92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9563100"/>
            <a:ext cx="508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03_receptor_pack/metadata/gmx_check_EGFR_plus10_step7_200ns_nw.txt and trajectory_metrics/</a:t>
            </a:r>
          </a:p>
        </p:txBody>
      </p:sp>
    </p:spTree>
    <p:extLst>
      <p:ext uri="{BB962C8B-B14F-4D97-AF65-F5344CB8AC3E}">
        <p14:creationId xmlns:p14="http://schemas.microsoft.com/office/powerpoint/2010/main" val="4846020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E7A9223-185E-46AD-9244-648A0222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92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Structural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3E1503-0C98-4FBD-A261-D1F3E1E6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1391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+10° receptor frame is the downstream input candidate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7CCA9D8-C461-40F7-9583-1704F641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2134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현재 단계에서는 membrane-compatible inactive dimer frame으로 해석하되, 구조 render는 실제 PDB/GRO에서 생성해야 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62070-BF70-4FF4-B336-43360EC2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6560"/>
            <a:ext cx="5057775" cy="5692140"/>
          </a:xfrm>
          <a:prstGeom xmlns:a="http://schemas.openxmlformats.org/drawingml/2006/main" prst="roundRect">
            <a:avLst>
              <a:gd name="adj" fmla="val 150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79B2D-19F9-4601-BE13-99119953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render image needed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60E55-33BE-48D2-B876-0B6810A4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4533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026"/>
                </a:solidFill>
              </a:defRPr>
            </a:pPr>
            <a:r>
              <a:rPr sz="2100" b="1">
                <a:solidFill>
                  <a:srgbClr val="132026"/>
                </a:solidFill>
              </a:rPr>
              <a:t>Side view: membrane plane + EGFR dimer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6C87C-B9FF-4D19-9A3B-21C08B15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03A"/>
          </a:solidFill>
          <a:ln xmlns:a="http://schemas.openxmlformats.org/drawingml/2006/main" w="0">
            <a:solidFill>
              <a:srgbClr val="E69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D8ECF-43CD-43A4-8283-13BCAA23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53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05A"/>
                </a:solidFill>
              </a:defRPr>
            </a:pPr>
            <a:r>
              <a:rPr sz="1200">
                <a:solidFill>
                  <a:srgbClr val="40505A"/>
                </a:solidFill>
              </a:rPr>
              <a:t>Add later: reports/assets/slide6_plus10_side_view.png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2FEC5-6EB2-463E-9505-0849DF8D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4533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Source: 03_receptor_pack/receptor/EGFR_plus10_final_model_EGFR_rot10_best.pdb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3B3FE-2C3A-44FF-BAF2-5B176547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Render script: 03_receptor_pack/figures/EGFR_plus10_domain_coloring.pml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BAC9E-593B-48A2-B38B-085F3844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56560"/>
            <a:ext cx="5057775" cy="5692140"/>
          </a:xfrm>
          <a:prstGeom xmlns:a="http://schemas.openxmlformats.org/drawingml/2006/main" prst="roundRect">
            <a:avLst>
              <a:gd name="adj" fmla="val 150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B1A83-C827-4295-AC12-90D7B401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render image needed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F0A48-EB61-4F80-878D-BD2D6092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05200"/>
            <a:ext cx="4533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026"/>
                </a:solidFill>
              </a:defRPr>
            </a:pPr>
            <a:r>
              <a:rPr sz="2100" b="1">
                <a:solidFill>
                  <a:srgbClr val="132026"/>
                </a:solidFill>
              </a:rPr>
              <a:t>Top view: dimer interface orientation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F1AE5-8E46-4DEC-9234-E6674F1E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624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03A"/>
          </a:solidFill>
          <a:ln xmlns:a="http://schemas.openxmlformats.org/drawingml/2006/main" w="0">
            <a:solidFill>
              <a:srgbClr val="E690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B07B2-63E6-48A0-A4A7-C96D9C8F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453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05A"/>
                </a:solidFill>
              </a:defRPr>
            </a:pPr>
            <a:r>
              <a:rPr sz="1200">
                <a:solidFill>
                  <a:srgbClr val="40505A"/>
                </a:solidFill>
              </a:rPr>
              <a:t>Add later: reports/assets/slide6_plus10_top_view.png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52515-6753-420C-AB8C-187617D0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Source: 03_receptor_pack/receptor/EGFR_plus10_step7_production_nw.gro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6953C-AAAE-49F0-913C-6846F07D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4345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Render script: 03_receptor_pack/figures/EGFR_plus10_domain_coloring.cxc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8F9A1-2247-4DDB-B030-7F948980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952750"/>
            <a:ext cx="89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BEF07-9178-43AF-AF36-56285431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295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48CFF-90D5-430F-8473-7ED1351F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295650"/>
            <a:ext cx="5867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+10° model preserves a membrane-proximal inactive TM-JM-KD dimer frame.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8680E-DE9D-4E69-BAE4-42691F77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962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EA0D9-86B7-4BFF-A74B-1E5B149E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62400"/>
            <a:ext cx="5867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200 ns metrics support using this receptor frame as the next input candidate.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5F1036-C478-4DC9-B8D9-069A8EA7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648200"/>
            <a:ext cx="607695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9F6BB-A84D-4CA8-9268-C37F8AE0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8387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150-200 ns KD distance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EC191-4038-4148-949C-318C0894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067300"/>
            <a:ext cx="561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25.66 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CA9EE-DE17-47B1-BEED-01E1DB3E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6007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±0.86 from final-pair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B0BC7B-AE29-4F8E-A766-AD395369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276975"/>
            <a:ext cx="607695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C7DFD-7A34-4D33-A72A-FED2A99A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4770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150-200 ns contacts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DD2561-410F-45D0-BEBA-AA863DB0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705600"/>
            <a:ext cx="561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505.28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CE964F-F24F-4D76-A952-A7B6FC25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72390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±38.10 heavy contacts within 4.5 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CF115E-C531-47B5-A5F4-45553D93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905750"/>
            <a:ext cx="6076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Caveats: GRO lacks chain IDs, so protomers are split by residue order; residue labels 689/692/713/715 are not all lysines in the final topology.</a:t>
            </a:r>
          </a:p>
        </p:txBody>
      </p:sp>
      <p:sp>
        <p:nvSpPr>
          <p:cNvPr id="32" name="footer-label-06 / 09">
            <a:extLst xmlns:a="http://schemas.openxmlformats.org/drawingml/2006/main">
              <a:ext uri="{FF2B5EF4-FFF2-40B4-BE49-F238E27FC236}">
                <a16:creationId xmlns:a16="http://schemas.microsoft.com/office/drawing/2014/main" id="{445F7775-95C4-4DA8-8B7D-0AEEAC9A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06 / 09</a:t>
            </a:r>
          </a:p>
        </p:txBody>
      </p:sp>
      <p:sp>
        <p:nvSpPr>
          <p:cNvPr id="33" name="footer-source-06 / 09">
            <a:extLst xmlns:a="http://schemas.openxmlformats.org/drawingml/2006/main">
              <a:ext uri="{FF2B5EF4-FFF2-40B4-BE49-F238E27FC236}">
                <a16:creationId xmlns:a16="http://schemas.microsoft.com/office/drawing/2014/main" id="{19C52B28-2B24-4AE8-9646-2327A03B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9544050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final +10 PDB/GRO, membrane_stability_*_mdanalysis.csv, domain coloring scripts</a:t>
            </a:r>
          </a:p>
        </p:txBody>
      </p:sp>
    </p:spTree>
    <p:extLst>
      <p:ext uri="{BB962C8B-B14F-4D97-AF65-F5344CB8AC3E}">
        <p14:creationId xmlns:p14="http://schemas.microsoft.com/office/powerpoint/2010/main" val="2052249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D9B571C-0E5E-47FA-9139-E767F16C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600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Trajectory clustering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E78B83-2215-455F-AA3D-0374D789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3373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Older representative exists; final-window reps need confirmation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8AFC6F5-63AF-475A-9804-2251A763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3011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80-100 ns clustering can support context, but requested 160-185 / 170-200 ns representatives are not confirmed by surrounding summaries.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6109B-4A33-4F57-83C5-5314EA45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0840"/>
            <a:ext cx="8096250" cy="2783205"/>
          </a:xfrm>
          <a:prstGeom xmlns:a="http://schemas.openxmlformats.org/drawingml/2006/main" prst="roundRect">
            <a:avLst>
              <a:gd name="adj" fmla="val 2738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5" name="slide7-popula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026e3a67840df"/>
          <a:stretch xmlns:a="http://schemas.openxmlformats.org/drawingml/2006/main"/>
        </p:blipFill>
        <p:spPr>
          <a:xfrm xmlns:a="http://schemas.openxmlformats.org/drawingml/2006/main">
            <a:off x="2010181" y="3006090"/>
            <a:ext cx="5676087" cy="239839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B5FD8-FC2D-4036-B961-8BB632A5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7867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80-100 ns cluster population; C1 = 150/201 frames (74.6%)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5470D-38BB-4B35-92D4-A67ADDFF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5495"/>
            <a:ext cx="8096250" cy="2783205"/>
          </a:xfrm>
          <a:prstGeom xmlns:a="http://schemas.openxmlformats.org/drawingml/2006/main" prst="roundRect">
            <a:avLst>
              <a:gd name="adj" fmla="val 2738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8" name="slide7-timelin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dc1b2671840f8"/>
          <a:stretch xmlns:a="http://schemas.openxmlformats.org/drawingml/2006/main"/>
        </p:blipFill>
        <p:spPr>
          <a:xfrm xmlns:a="http://schemas.openxmlformats.org/drawingml/2006/main">
            <a:off x="1436856" y="5960745"/>
            <a:ext cx="6822738" cy="239839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E3FEB-6F22-4FFD-A7AB-3DD2FE9B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20100"/>
            <a:ext cx="7867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80-100 ns cluster timeline; representative C1 frame time = 84.0 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56B6F-24AB-4027-9EBA-FABFDB58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14650"/>
            <a:ext cx="1371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Representative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E3225-67F6-4241-A9B4-4EA904C5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89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AAB61-5A94-4A5D-AB6D-71FDF9D8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671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80-100 ns C1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F8D18-9583-4FE0-BCD8-0460D5DB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486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found: C1 150/201 frames, representative 84.0 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2BA3B-83F4-47CA-BC8B-CBAB1EDE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4861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A66D"/>
                </a:solidFill>
              </a:defRPr>
            </a:pPr>
            <a:r>
              <a:rPr sz="1050" b="1">
                <a:solidFill>
                  <a:srgbClr val="23A66D"/>
                </a:solidFill>
              </a:rPr>
              <a:t>supporting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686AE-0624-4B3A-93CD-BC22D622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271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A7B1E-BD93-4A3F-B815-63CDEDE0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053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160-185 ns C1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30C43-6D78-4C26-9199-42B45421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3243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confirmed clustering summary not found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ACE8F-6DAB-428E-A13A-9785A19E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43243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missing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E00EE-B4BA-4887-A061-B21CE372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653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6AF2D-42AA-49CA-A8FA-BFD3A69F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435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170-200 ns C1/C2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21DB7-644B-4D7F-A3CB-34A27147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1625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confirmed clustering summaries not found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A1FBF-CFEE-47F9-834B-E68E3764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51625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missing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8E9434-3D03-4670-AFE7-B474E5EC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035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F783DA-DF39-49A7-9AC1-AFD665E9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9817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EGFR_160-185.pdb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DB244-74FA-448A-AEDD-D9912117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0007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file exists under 60-85 ns result folder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06FAD3-B64F-4010-BC33-F53C0746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60007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ambiguous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01E47-D699-4E18-A0B8-CA99EEFB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17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8433A4-1884-49DA-9C44-A259635E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8199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EGFR_170-200.pdb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E5B79B-9703-448C-8A9B-235C5FEB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8389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file exists under 70-100 ns result folder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3CE6D4-EEF0-476A-A4F8-C677E12D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68389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ambiguous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953C9A-4821-4115-A5A6-649D6EAA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372350"/>
            <a:ext cx="824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PPT wording rule: do not present the ambiguous PDB filenames as final 160-200 ns representatives until a matching summary/log confirms the interval.</a:t>
            </a:r>
          </a:p>
        </p:txBody>
      </p:sp>
      <p:sp>
        <p:nvSpPr>
          <p:cNvPr id="32" name="footer-label-07 / 09">
            <a:extLst xmlns:a="http://schemas.openxmlformats.org/drawingml/2006/main">
              <a:ext uri="{FF2B5EF4-FFF2-40B4-BE49-F238E27FC236}">
                <a16:creationId xmlns:a16="http://schemas.microsoft.com/office/drawing/2014/main" id="{6DB4CCF2-F1A4-4B7E-8979-5241FD1B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07 / 09</a:t>
            </a:r>
          </a:p>
        </p:txBody>
      </p:sp>
      <p:sp>
        <p:nvSpPr>
          <p:cNvPr id="33" name="footer-source-07 / 09">
            <a:extLst xmlns:a="http://schemas.openxmlformats.org/drawingml/2006/main">
              <a:ext uri="{FF2B5EF4-FFF2-40B4-BE49-F238E27FC236}">
                <a16:creationId xmlns:a16="http://schemas.microsoft.com/office/drawing/2014/main" id="{A45C1F40-E147-4DCD-A2F5-28628C5C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5440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4.+10_clustering/cluster_results/80-100ns_cut0.15 and clustering audit reports</a:t>
            </a:r>
          </a:p>
        </p:txBody>
      </p:sp>
    </p:spTree>
    <p:extLst>
      <p:ext uri="{BB962C8B-B14F-4D97-AF65-F5344CB8AC3E}">
        <p14:creationId xmlns:p14="http://schemas.microsoft.com/office/powerpoint/2010/main" val="10508788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6F7B843-009A-415A-822D-EB9C002A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Current status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D2CC18-AB5A-49B8-9148-7A56282E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24968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Separate confirmed receptor evidence from unresolved work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70F8D5-5A1E-4ECB-8639-14DC24E7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146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현 단계에서 claim 가능한 receptor-modeling/MD validation 범위와, 확인 후 진행해야 할 downstream work를 분리한다.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3281A-FE50-4E50-9264-2DB78B0D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9390"/>
            <a:ext cx="5422900" cy="4937760"/>
          </a:xfrm>
          <a:prstGeom xmlns:a="http://schemas.openxmlformats.org/drawingml/2006/main" prst="roundRect">
            <a:avLst>
              <a:gd name="adj" fmla="val 1543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A3ABE-6322-4307-8C86-6AEF2A06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971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Confirmed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6E3E2-A97C-4AE5-917D-BFD7A49A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707A5-47C7-4672-8709-275664D2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 TM-JM-KD inactive dimer composite model was constructed.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E97DE-5B9F-4D37-8498-F001DEE4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4E087-E707-4C76-90F5-20D7B91B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+10° is the current receptor input candidate among available parsed orientation metrics.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70189-3138-436B-AE7A-31486982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1058B-ECB6-40A9-97AC-3621371A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no-water trajectory identity is confirmed: 49,854 atoms, 2,001 frames, 0-200 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42606-169C-4935-BD0D-0D71CD61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81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04E18-F83E-42B1-A5B7-9FE16B62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8165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Final-pair membrane-stability metrics are available with OK rows.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1ADBA-F605-4005-AA4B-9EF31D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2739390"/>
            <a:ext cx="5422900" cy="4937760"/>
          </a:xfrm>
          <a:prstGeom xmlns:a="http://schemas.openxmlformats.org/drawingml/2006/main" prst="roundRect">
            <a:avLst>
              <a:gd name="adj" fmla="val 1543"/>
            </a:avLst>
          </a:prstGeom>
          <a:solidFill xmlns:a="http://schemas.openxmlformats.org/drawingml/2006/main">
            <a:srgbClr val="FFF8E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D8C69-8440-48F2-99D4-FD9EF517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1238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Needs confirmation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19829-4A70-453F-8651-1859DDD4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AB8D2-B70E-45F9-8683-929D219A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Requested 160-185 / 170-200 ns representatives need matching clustering summaries.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AB73E-0D7C-44F1-995B-74C2E212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17546-3E4B-43EC-AB8B-AB3FA2B1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7434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Ambiguous EGFR_160-185.pdb and EGFR_170-200.pdb must not be used as confirmed final-window reps.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B43E7-3770-4577-B18B-4E9B580E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B3A98-460C-4431-8599-B8A26BA6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4350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Publication-quality side/top structure renders still need to be generated from actual PDB/GRO.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D10EF-314A-4F48-B89D-9B431241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48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0ADEF2-DE05-4E90-8791-2F90A2FB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84835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JM-A coordinate-generation provenance remains a caveat.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2B5D07-319B-44BF-B5A6-D6AA20AA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739390"/>
            <a:ext cx="5422900" cy="4937760"/>
          </a:xfrm>
          <a:prstGeom xmlns:a="http://schemas.openxmlformats.org/drawingml/2006/main" prst="roundRect">
            <a:avLst>
              <a:gd name="adj" fmla="val 1543"/>
            </a:avLst>
          </a:prstGeom>
          <a:solidFill xmlns:a="http://schemas.openxmlformats.org/drawingml/2006/main">
            <a:srgbClr val="E8F5F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07892D-45B4-4AD3-9114-7084E26A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952750"/>
            <a:ext cx="1085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Future work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020E8-D19C-4AE8-8F08-0AE033EE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295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8F1A7-3048-4BF0-A989-112DAD33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2956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 docking and consensus interface analysis.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100ABF-157E-4A3F-99EE-2F4A925F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733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D3DADD-529D-42DA-8293-CD6BAAF4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73380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EGFR-side PPI patch extraction.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F1A981-15EB-4E72-B5BB-09815071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171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3CAAAA-926E-4AA9-ADCA-005A8BEB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1719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PPI-adjacent pocket discovery.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B53818-2CA8-4ED8-80C3-C38A8CBF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6101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1EB8ED-CF8D-4721-AD99-C696E115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61010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Compound docking after receptor representative is finalized.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D9CBBF-98A4-4F48-BC40-EDDF8DCD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943850"/>
            <a:ext cx="16687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2630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B1330A-2EE4-403D-B7B9-0BD2E7D3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096250"/>
            <a:ext cx="1623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Presentation rule: receptor model and MD validation are current results; MYO1D/PPI/pocket/compound outputs remain future work until new evidence is added.</a:t>
            </a:r>
          </a:p>
        </p:txBody>
      </p:sp>
      <p:sp>
        <p:nvSpPr>
          <p:cNvPr id="36" name="footer-label-08 / 09">
            <a:extLst xmlns:a="http://schemas.openxmlformats.org/drawingml/2006/main">
              <a:ext uri="{FF2B5EF4-FFF2-40B4-BE49-F238E27FC236}">
                <a16:creationId xmlns:a16="http://schemas.microsoft.com/office/drawing/2014/main" id="{7995C809-7913-4E45-A79A-27C1AB45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08 / 09</a:t>
            </a:r>
          </a:p>
        </p:txBody>
      </p:sp>
      <p:sp>
        <p:nvSpPr>
          <p:cNvPr id="37" name="footer-source-08 / 09">
            <a:extLst xmlns:a="http://schemas.openxmlformats.org/drawingml/2006/main">
              <a:ext uri="{FF2B5EF4-FFF2-40B4-BE49-F238E27FC236}">
                <a16:creationId xmlns:a16="http://schemas.microsoft.com/office/drawing/2014/main" id="{29925715-128B-4A9B-8C53-17CA09F5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9544050"/>
            <a:ext cx="440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reports/EGFR_modeling_clustering_PPT_data_package.md and reports/다음할일.md</a:t>
            </a:r>
          </a:p>
        </p:txBody>
      </p:sp>
    </p:spTree>
    <p:extLst>
      <p:ext uri="{BB962C8B-B14F-4D97-AF65-F5344CB8AC3E}">
        <p14:creationId xmlns:p14="http://schemas.microsoft.com/office/powerpoint/2010/main" val="353230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2026-04-29T12:40:13.6520000Z</dcterms:created>
  <dcterms:modified xsi:type="dcterms:W3CDTF">2026-04-29T12:40:13.6520000Z</dcterms:modified>
</coreProperties>
</file>