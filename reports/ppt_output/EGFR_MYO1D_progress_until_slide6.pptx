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36590eeb77480d" /><Relationship Type="http://schemas.openxmlformats.org/officeDocument/2006/relationships/extended-properties" Target="/docProps/app.xml" Id="Rb05a7c43f7914417" /><Relationship Type="http://schemas.openxmlformats.org/officeDocument/2006/relationships/officeDocument" Target="/ppt/presentation.xml" Id="R7da9948607af4f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6ece7a577c4a13"/>
  </p:sldMasterIdLst>
  <p:notesMasterIdLst>
    <p:notesMasterId xmlns:r="http://schemas.openxmlformats.org/officeDocument/2006/relationships" r:id="Rf78562274e424632"/>
  </p:notesMasterIdLst>
  <p:sldIdLst>
    <p:sldId xmlns:r="http://schemas.openxmlformats.org/officeDocument/2006/relationships" id="256" r:id="R947fa90eac304c5d"/>
    <p:sldId xmlns:r="http://schemas.openxmlformats.org/officeDocument/2006/relationships" id="257" r:id="R37555baf9d364352"/>
    <p:sldId xmlns:r="http://schemas.openxmlformats.org/officeDocument/2006/relationships" id="258" r:id="Rfe77827f0a504834"/>
    <p:sldId xmlns:r="http://schemas.openxmlformats.org/officeDocument/2006/relationships" id="259" r:id="R03f4a7f609624704"/>
    <p:sldId xmlns:r="http://schemas.openxmlformats.org/officeDocument/2006/relationships" id="260" r:id="Ra4e27e3275bf4899"/>
    <p:sldId xmlns:r="http://schemas.openxmlformats.org/officeDocument/2006/relationships" id="261" r:id="R5c1d86cda8b34150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6ece7a577c4a13" /><Relationship Type="http://schemas.openxmlformats.org/officeDocument/2006/relationships/theme" Target="/ppt/theme/theme1.xml" Id="R352c2d6104e14467" /><Relationship Type="http://schemas.openxmlformats.org/officeDocument/2006/relationships/notesMaster" Target="/ppt/notesMasters/notesMaster1.xml" Id="Rf78562274e424632" /><Relationship Type="http://schemas.openxmlformats.org/officeDocument/2006/relationships/presProps" Target="/ppt/presProps.xml" Id="Rb255439a00bf4aec" /><Relationship Type="http://schemas.openxmlformats.org/officeDocument/2006/relationships/viewProps" Target="/ppt/viewProps.xml" Id="R43388afa01274ced" /><Relationship Type="http://schemas.openxmlformats.org/officeDocument/2006/relationships/tableStyles" Target="/ppt/tableStyles.xml" Id="Rfb94c70ca1f94752" /><Relationship Type="http://schemas.openxmlformats.org/officeDocument/2006/relationships/slide" Target="/ppt/slides/slide1.xml" Id="R947fa90eac304c5d" /><Relationship Type="http://schemas.openxmlformats.org/officeDocument/2006/relationships/slide" Target="/ppt/slides/slide2.xml" Id="R37555baf9d364352" /><Relationship Type="http://schemas.openxmlformats.org/officeDocument/2006/relationships/slide" Target="/ppt/slides/slide3.xml" Id="Rfe77827f0a504834" /><Relationship Type="http://schemas.openxmlformats.org/officeDocument/2006/relationships/slide" Target="/ppt/slides/slide4.xml" Id="R03f4a7f609624704" /><Relationship Type="http://schemas.openxmlformats.org/officeDocument/2006/relationships/slide" Target="/ppt/slides/slide5.xml" Id="Ra4e27e3275bf4899" /><Relationship Type="http://schemas.openxmlformats.org/officeDocument/2006/relationships/slide" Target="/ppt/slides/slide6.xml" Id="R5c1d86cda8b341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f3474d0b60a40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9e0667e25e4766" /><Relationship Type="http://schemas.openxmlformats.org/officeDocument/2006/relationships/notesMaster" Target="/ppt/notesMasters/notesMaster1.xml" Id="Ra8fcbd7eb8474a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607d2a95a740c4" /><Relationship Type="http://schemas.openxmlformats.org/officeDocument/2006/relationships/notesMaster" Target="/ppt/notesMasters/notesMaster1.xml" Id="R7ec890fea71848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d003c3d26c4eda" /><Relationship Type="http://schemas.openxmlformats.org/officeDocument/2006/relationships/notesMaster" Target="/ppt/notesMasters/notesMaster1.xml" Id="R35adf2b9fc6b4d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06597756024daf" /><Relationship Type="http://schemas.openxmlformats.org/officeDocument/2006/relationships/notesMaster" Target="/ppt/notesMasters/notesMaster1.xml" Id="R56b9f853b73e4e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c58c43006e4c16" /><Relationship Type="http://schemas.openxmlformats.org/officeDocument/2006/relationships/notesMaster" Target="/ppt/notesMasters/notesMaster1.xml" Id="Rd7270227abbc49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487290955543ea" /><Relationship Type="http://schemas.openxmlformats.org/officeDocument/2006/relationships/notesMaster" Target="/ppt/notesMasters/notesMaster1.xml" Id="R00d51a00c25946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374245f767426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943c806592c4337" /><Relationship Type="http://schemas.openxmlformats.org/officeDocument/2006/relationships/slideLayout" Target="/ppt/slideLayouts/slideLayout2.xml" Id="R22f9ae546cb94e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f9ae546cb94e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05e8c57aac4789" /><Relationship Type="http://schemas.openxmlformats.org/officeDocument/2006/relationships/image" Target="/ppt/media/image.png" Id="R8f97b8c8d1824d02" /><Relationship Type="http://schemas.openxmlformats.org/officeDocument/2006/relationships/notesSlide" Target="/ppt/notesSlides/notesSlide1.xml" Id="R50fd6ff2c7464e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b6c1c157bc4001" /><Relationship Type="http://schemas.openxmlformats.org/officeDocument/2006/relationships/notesSlide" Target="/ppt/notesSlides/notesSlide2.xml" Id="R4a59029ecb7248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0fc829973e4742" /><Relationship Type="http://schemas.openxmlformats.org/officeDocument/2006/relationships/notesSlide" Target="/ppt/notesSlides/notesSlide3.xml" Id="Rfb46541c5a034c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dd21e7ad944a11" /><Relationship Type="http://schemas.openxmlformats.org/officeDocument/2006/relationships/image" Target="/ppt/media/image2.png" Id="Rea9dd8c55b4d49c7" /><Relationship Type="http://schemas.openxmlformats.org/officeDocument/2006/relationships/image" Target="/ppt/media/image3.png" Id="R6f39c0096d1f48f3" /><Relationship Type="http://schemas.openxmlformats.org/officeDocument/2006/relationships/image" Target="/ppt/media/image4.png" Id="R2c06d8db35b84b90" /><Relationship Type="http://schemas.openxmlformats.org/officeDocument/2006/relationships/image" Target="/ppt/media/image5.png" Id="R169475a6733647b7" /><Relationship Type="http://schemas.openxmlformats.org/officeDocument/2006/relationships/notesSlide" Target="/ppt/notesSlides/notesSlide4.xml" Id="R44660006c3134e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561c598e9e4d9e" /><Relationship Type="http://schemas.openxmlformats.org/officeDocument/2006/relationships/image" Target="/ppt/media/image6.png" Id="Rb80008730be94ece" /><Relationship Type="http://schemas.openxmlformats.org/officeDocument/2006/relationships/image" Target="/ppt/media/image7.png" Id="R9766c8b95e5842c7" /><Relationship Type="http://schemas.openxmlformats.org/officeDocument/2006/relationships/image" Target="/ppt/media/image8.png" Id="R2e0feab23e9b456c" /><Relationship Type="http://schemas.openxmlformats.org/officeDocument/2006/relationships/notesSlide" Target="/ppt/notesSlides/notesSlide5.xml" Id="Rc9309a24d6664f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03bd9635ac41d3" /><Relationship Type="http://schemas.openxmlformats.org/officeDocument/2006/relationships/notesSlide" Target="/ppt/notesSlides/notesSlide6.xml" Id="Ra310853cb1804fd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cover-backgroun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97b8c8d1824d0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0F033D19-00BD-49D1-B7E2-6D28F637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23900"/>
            <a:ext cx="31623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EGFR-MYO1D receptor modeling update</a:t>
            </a:r>
          </a:p>
        </p:txBody>
      </p:sp>
      <p:sp>
        <p:nvSpPr>
          <p:cNvPr id="3" name="slide-title-line-1">
            <a:extLst xmlns:a="http://schemas.openxmlformats.org/drawingml/2006/main">
              <a:ext uri="{FF2B5EF4-FFF2-40B4-BE49-F238E27FC236}">
                <a16:creationId xmlns:a16="http://schemas.microsoft.com/office/drawing/2014/main" id="{B75972F3-8D9B-4719-B7AE-672E5F57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71600"/>
            <a:ext cx="9334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32026"/>
                </a:solidFill>
              </a:defRPr>
            </a:pPr>
            <a:r>
              <a:rPr sz="4650" b="1">
                <a:solidFill>
                  <a:srgbClr val="132026"/>
                </a:solidFill>
              </a:rPr>
              <a:t>Membrane-compatible</a:t>
            </a:r>
          </a:p>
        </p:txBody>
      </p:sp>
      <p:sp>
        <p:nvSpPr>
          <p:cNvPr id="4" name="slide-title-line-2">
            <a:extLst xmlns:a="http://schemas.openxmlformats.org/drawingml/2006/main">
              <a:ext uri="{FF2B5EF4-FFF2-40B4-BE49-F238E27FC236}">
                <a16:creationId xmlns:a16="http://schemas.microsoft.com/office/drawing/2014/main" id="{1D33FA00-3B50-496B-8021-23BBC3E1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9334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32026"/>
                </a:solidFill>
              </a:defRPr>
            </a:pPr>
            <a:r>
              <a:rPr sz="4650" b="1">
                <a:solidFill>
                  <a:srgbClr val="132026"/>
                </a:solidFill>
              </a:rPr>
              <a:t>EGFR dimer receptor</a:t>
            </a:r>
          </a:p>
        </p:txBody>
      </p:sp>
      <p:sp>
        <p:nvSpPr>
          <p:cNvPr id="5" name="slide-title-line-3">
            <a:extLst xmlns:a="http://schemas.openxmlformats.org/drawingml/2006/main">
              <a:ext uri="{FF2B5EF4-FFF2-40B4-BE49-F238E27FC236}">
                <a16:creationId xmlns:a16="http://schemas.microsoft.com/office/drawing/2014/main" id="{C2CDC9FC-7077-4218-A72B-1AD61FB2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9334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32026"/>
                </a:solidFill>
              </a:defRPr>
            </a:pPr>
            <a:r>
              <a:rPr sz="4350" b="1">
                <a:solidFill>
                  <a:srgbClr val="132026"/>
                </a:solidFill>
              </a:rPr>
              <a:t>model 구축 및 clustering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EA0606-7E7B-4DAE-9FB3-A02B2169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719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66D"/>
          </a:solidFill>
          <a:ln xmlns:a="http://schemas.openxmlformats.org/drawingml/2006/main" w="0">
            <a:solidFill>
              <a:srgbClr val="23A66D"/>
            </a:solidFill>
            <a:prstDash val="solid"/>
          </a:ln>
        </p:spPr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7E14AE0-D0C4-4ABA-95BA-E6C4DBE0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7715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40505A"/>
                </a:solidFill>
              </a:defRPr>
            </a:pPr>
            <a:r>
              <a:rPr sz="1875">
                <a:solidFill>
                  <a:srgbClr val="40505A"/>
                </a:solidFill>
              </a:rPr>
              <a:t>후속 MYO1D PPI 분석 전, EGFR receptor input을 +10° model과 final 200 ns MD validation 기준으로 정리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97318A-E97F-46D7-9CD6-70D5B63D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26670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F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C1D15C-7C53-47F7-988A-E977C1C2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1162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receptor modeling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B82CC1-C742-4FA2-923C-8701BB40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38700"/>
            <a:ext cx="21907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5FA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95828-A62E-425B-869A-0859AB5F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33950"/>
            <a:ext cx="895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C8"/>
                </a:solidFill>
              </a:defRPr>
            </a:pPr>
            <a:r>
              <a:rPr sz="1200" b="1">
                <a:solidFill>
                  <a:srgbClr val="00A8C8"/>
                </a:solidFill>
              </a:rPr>
              <a:t>MD 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5AE932-CC53-4D54-8CE4-7A4FEFEB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838700"/>
            <a:ext cx="20955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2E4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ED2AE1-60ED-40AA-A06B-CC07E449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933950"/>
            <a:ext cx="609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6903A"/>
                </a:solidFill>
              </a:defRPr>
            </a:pPr>
            <a:r>
              <a:rPr sz="1200" b="1">
                <a:solidFill>
                  <a:srgbClr val="E6903A"/>
                </a:solidFill>
              </a:rPr>
              <a:t>clustering</a:t>
            </a:r>
          </a:p>
        </p:txBody>
      </p:sp>
      <p:sp>
        <p:nvSpPr>
          <p:cNvPr id="14" name="scope-note">
            <a:extLst xmlns:a="http://schemas.openxmlformats.org/drawingml/2006/main">
              <a:ext uri="{FF2B5EF4-FFF2-40B4-BE49-F238E27FC236}">
                <a16:creationId xmlns:a16="http://schemas.microsoft.com/office/drawing/2014/main" id="{AB0F3E8A-B66C-4CE2-8305-ED9E0BAE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05450"/>
            <a:ext cx="6343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47C"/>
                </a:solidFill>
              </a:defRPr>
            </a:pPr>
            <a:r>
              <a:rPr sz="1275">
                <a:solidFill>
                  <a:srgbClr val="65747C"/>
                </a:solidFill>
              </a:rPr>
              <a:t>Scope: PPI docking, pocket discovery, compound docking은 이번 발표에서 결과로 다루지 않음</a:t>
            </a:r>
          </a:p>
        </p:txBody>
      </p:sp>
      <p:sp>
        <p:nvSpPr>
          <p:cNvPr id="15" name="footer-label-01 / 09">
            <a:extLst xmlns:a="http://schemas.openxmlformats.org/drawingml/2006/main">
              <a:ext uri="{FF2B5EF4-FFF2-40B4-BE49-F238E27FC236}">
                <a16:creationId xmlns:a16="http://schemas.microsoft.com/office/drawing/2014/main" id="{ED40622E-700E-4CB6-93A7-B55D143B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01 / 09</a:t>
            </a:r>
          </a:p>
        </p:txBody>
      </p:sp>
      <p:sp>
        <p:nvSpPr>
          <p:cNvPr id="16" name="footer-source-01 / 09">
            <a:extLst xmlns:a="http://schemas.openxmlformats.org/drawingml/2006/main">
              <a:ext uri="{FF2B5EF4-FFF2-40B4-BE49-F238E27FC236}">
                <a16:creationId xmlns:a16="http://schemas.microsoft.com/office/drawing/2014/main" id="{448E6BEA-4BD9-4EFD-BD5D-0997F566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9563100"/>
            <a:ext cx="3276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Generated cover is conceptual; scientific claims use local files and logs.</a:t>
            </a:r>
          </a:p>
        </p:txBody>
      </p:sp>
    </p:spTree>
    <p:extLst>
      <p:ext uri="{BB962C8B-B14F-4D97-AF65-F5344CB8AC3E}">
        <p14:creationId xmlns:p14="http://schemas.microsoft.com/office/powerpoint/2010/main" val="138128652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13782078-D305-4863-81FC-938D2641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"/>
            <a:ext cx="1162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Modeling logic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4C6EC4-EFBF-4221-99FE-E2AB16A8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90600"/>
            <a:ext cx="53721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32026"/>
                </a:solidFill>
              </a:defRPr>
            </a:pPr>
            <a:r>
              <a:rPr sz="3900" b="1">
                <a:solidFill>
                  <a:srgbClr val="132026"/>
                </a:solidFill>
              </a:rPr>
              <a:t>Why receptor model first?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BA8CF0B-FF87-48AC-A10C-B0BBBAA8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0553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0505A"/>
                </a:solidFill>
              </a:defRPr>
            </a:pPr>
            <a:r>
              <a:rPr sz="1950">
                <a:solidFill>
                  <a:srgbClr val="40505A"/>
                </a:solidFill>
              </a:rPr>
              <a:t>MYO1D PPI docking 전에 EGFR receptor frame을 먼저 고정해야 downstream 해석이 흔들리지 않는다.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8F5BB8-4A5E-4AA9-84B5-7C9EDA6F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2571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8F7F2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CF80E-0674-4B96-A2D4-005C07F2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A66D"/>
                </a:solidFill>
              </a:defRPr>
            </a:pPr>
            <a:r>
              <a:rPr sz="1350" b="1">
                <a:solidFill>
                  <a:srgbClr val="23A66D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2F815-BB03-4EB5-B558-CAABCDD0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0"/>
            <a:ext cx="21526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EGFR receptor input 확정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2DEC98-5C62-4E1E-A6EE-3D3E8A5B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2152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+10° model + final 200 ns MD 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23E0EC-BE63-4D97-AC4D-53CC8BF4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52750"/>
            <a:ext cx="4000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AB1BA"/>
                </a:solidFill>
              </a:defRPr>
            </a:pPr>
            <a:r>
              <a:rPr sz="2550" b="1">
                <a:solidFill>
                  <a:srgbClr val="9AB1B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95A79C-5247-4A4B-9974-A423187F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52750"/>
            <a:ext cx="2571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02D769-AA20-4A5F-890F-3377AA1E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24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C8"/>
                </a:solidFill>
              </a:defRPr>
            </a:pPr>
            <a:r>
              <a:rPr sz="1350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4E356D-A437-47BA-B33F-FD6B7B3F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29000"/>
            <a:ext cx="215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MYO1D docking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228178-BBC7-440B-B052-B00287F5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90950"/>
            <a:ext cx="2152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next work after receptor 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FC133A-207E-4B81-8D58-9A6CE576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52750"/>
            <a:ext cx="4000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AB1BA"/>
                </a:solidFill>
              </a:defRPr>
            </a:pPr>
            <a:r>
              <a:rPr sz="2550" b="1">
                <a:solidFill>
                  <a:srgbClr val="9AB1B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D4B3CF-E84B-4923-8795-BFAC92EE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52750"/>
            <a:ext cx="2571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F1D82D-5145-4505-8485-6437125D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24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C8"/>
                </a:solidFill>
              </a:defRPr>
            </a:pPr>
            <a:r>
              <a:rPr sz="1350" b="1">
                <a:solidFill>
                  <a:srgbClr val="00A8C8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28A6CC-07BF-4F20-B01C-D5741A96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29000"/>
            <a:ext cx="215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EGFR-side PPI patch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DCA6C5-5B52-4E3B-942C-7307569A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90950"/>
            <a:ext cx="2152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interface residues and contact logic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801097-976D-4489-BBFE-78B1E06B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952750"/>
            <a:ext cx="4000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AB1BA"/>
                </a:solidFill>
              </a:defRPr>
            </a:pPr>
            <a:r>
              <a:rPr sz="2550" b="1">
                <a:solidFill>
                  <a:srgbClr val="9AB1BA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B0DF39-BDA8-4FD6-BACD-45E954EB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952750"/>
            <a:ext cx="2571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275191-E56E-4D1D-A1E4-FB5A35BB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124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903A"/>
                </a:solidFill>
              </a:defRPr>
            </a:pPr>
            <a:r>
              <a:rPr sz="1350" b="1">
                <a:solidFill>
                  <a:srgbClr val="E6903A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4DC08B-8763-4D06-B494-85DEBA58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0"/>
            <a:ext cx="215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Pocket discovery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661B9E-D4D9-44C8-A219-5F19070C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790950"/>
            <a:ext cx="2152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PPI-aware pocket hypothesis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D12C1E-5BBA-4A7D-AC43-06B7A0C3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2952750"/>
            <a:ext cx="4000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AB1BA"/>
                </a:solidFill>
              </a:defRPr>
            </a:pPr>
            <a:r>
              <a:rPr sz="2550" b="1">
                <a:solidFill>
                  <a:srgbClr val="9AB1BA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B4C219-B563-44F2-9B57-C7400C7B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2952750"/>
            <a:ext cx="2571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92CE47-9E6A-41A5-9AA3-63A6062A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3124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903A"/>
                </a:solidFill>
              </a:defRPr>
            </a:pPr>
            <a:r>
              <a:rPr sz="1350" b="1">
                <a:solidFill>
                  <a:srgbClr val="E6903A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33D5BE-1006-4558-A297-56AC8409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3429000"/>
            <a:ext cx="215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Compound docking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EC5B73-1CAD-4829-8E4F-10BD154A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3790950"/>
            <a:ext cx="2152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future output, not current claim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0575AB-E672-4530-9C78-039277BC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2114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이번 deck에서 다루는 확정 범위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C10F15-53FF-4101-9E47-D6BC264A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959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D812B1-818F-4F03-B788-97298279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9590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template assembly provenance: TM/JM/KD composite model construction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8C4CBC-7CFB-47AB-A391-3CF12F81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959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57B4A4-D9CB-437B-A861-E9B360F4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9595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orientation scan: +10° selected among available parsed metrics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414999-C01C-49FB-B1A4-D02E063A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150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65DB21-AF8F-42D0-9D9A-0F0AC92F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1505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final receptor pair: +10 no-water 200 ns trajectory identity confirmed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849076-4101-4DA9-9BF4-96CA2DA4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953000"/>
            <a:ext cx="2762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6903A"/>
                </a:solidFill>
              </a:defRPr>
            </a:pPr>
            <a:r>
              <a:rPr sz="1200" b="1">
                <a:solidFill>
                  <a:srgbClr val="E6903A"/>
                </a:solidFill>
              </a:rPr>
              <a:t>이번 deck에서 결과로 주장하지 않는 범위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31DF4F-2F89-4CB0-AF28-229C8874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2959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D0A3F2-E60B-4AA4-888A-DF21A902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29590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MYO1D docking result는 아직 미수행/미정리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C5748E-1142-439D-AB2C-63EC7CEB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6959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51199B-CE51-46AC-AC8C-9084A02B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69595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EGFR-side PPI patch, pocket discovery는 future work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76E3BF4-99B4-4E2D-8C01-859BF2EC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1150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B7215A3-E220-4560-879E-3E2C8324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11505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compound docking은 receptor representative 확정 후 시작</a:t>
            </a:r>
          </a:p>
        </p:txBody>
      </p:sp>
      <p:sp>
        <p:nvSpPr>
          <p:cNvPr id="42" name="footer-label-02 / 09">
            <a:extLst xmlns:a="http://schemas.openxmlformats.org/drawingml/2006/main">
              <a:ext uri="{FF2B5EF4-FFF2-40B4-BE49-F238E27FC236}">
                <a16:creationId xmlns:a16="http://schemas.microsoft.com/office/drawing/2014/main" id="{C776899D-D6EA-4317-9107-0C378EA0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02 / 09</a:t>
            </a:r>
          </a:p>
        </p:txBody>
      </p:sp>
      <p:sp>
        <p:nvSpPr>
          <p:cNvPr id="43" name="footer-source-02 / 09">
            <a:extLst xmlns:a="http://schemas.openxmlformats.org/drawingml/2006/main">
              <a:ext uri="{FF2B5EF4-FFF2-40B4-BE49-F238E27FC236}">
                <a16:creationId xmlns:a16="http://schemas.microsoft.com/office/drawing/2014/main" id="{C63E166F-B819-4EC2-9DEA-95D07706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9563100"/>
            <a:ext cx="3105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Source: reports/EGFR_modeling_clustering_PPT_data_package.md</a:t>
            </a:r>
          </a:p>
        </p:txBody>
      </p:sp>
    </p:spTree>
    <p:extLst>
      <p:ext uri="{BB962C8B-B14F-4D97-AF65-F5344CB8AC3E}">
        <p14:creationId xmlns:p14="http://schemas.microsoft.com/office/powerpoint/2010/main" val="167921477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41F0E192-A0F9-4E28-A0F3-521294BE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885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Composite construction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75EBC3-3031-4050-821D-ABBEB6C6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33450"/>
            <a:ext cx="86487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32026"/>
                </a:solidFill>
              </a:defRPr>
            </a:pPr>
            <a:r>
              <a:rPr sz="3900" b="1">
                <a:solidFill>
                  <a:srgbClr val="132026"/>
                </a:solidFill>
              </a:rPr>
              <a:t>TM-JM-KD inactive dimer model assembly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DEFF97D-29AF-48C9-A04D-56197491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121348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0505A"/>
                </a:solidFill>
              </a:defRPr>
            </a:pPr>
            <a:r>
              <a:rPr sz="1800">
                <a:solidFill>
                  <a:srgbClr val="40505A"/>
                </a:solidFill>
              </a:rPr>
              <a:t>2M0B TM dimer, 2M20 JM-A reference, 3GT8 inactive KD dimer, MODELLER gap filling을 조합해 EGFR receptor frame을 구성했다.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64E065-CB2E-48BA-A6C2-94651E66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4660"/>
            <a:ext cx="105727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B2630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8B687C-BA8A-47F3-A255-C1EC7D01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Component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3385FA-650D-4361-A2DC-85AAC99B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99888-17F3-4514-8E32-3FBC68CE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4325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Role in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127C53-C476-4796-A066-986CF9B2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43250"/>
            <a:ext cx="3143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Caveat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37A331-9E00-4522-8E4D-38778431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37585"/>
            <a:ext cx="1057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8F7F2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13B943-E63A-436A-91B8-8778CD27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026"/>
                </a:solidFill>
              </a:defRPr>
            </a:pPr>
            <a:r>
              <a:rPr sz="1200" b="1">
                <a:solidFill>
                  <a:srgbClr val="132026"/>
                </a:solidFill>
              </a:rPr>
              <a:t>TM dimer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6FA1E5-6D4A-4184-9FF5-183F38F8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29050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C8"/>
                </a:solidFill>
              </a:defRPr>
            </a:pPr>
            <a:r>
              <a:rPr sz="1200" b="1">
                <a:solidFill>
                  <a:srgbClr val="00A8C8"/>
                </a:solidFill>
              </a:rPr>
              <a:t>2M0B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2961BF-CD3B-4192-AB52-EE801964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52850"/>
            <a:ext cx="338137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0505A"/>
                </a:solidFill>
              </a:defRPr>
            </a:pPr>
            <a:r>
              <a:rPr sz="1125" b="0">
                <a:solidFill>
                  <a:srgbClr val="40505A"/>
                </a:solidFill>
              </a:rPr>
              <a:t>transmembrane dimer anchor; local script retained 634-670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D582A7-7EA8-4EA7-A6C0-97E282D1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4810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47C"/>
                </a:solidFill>
              </a:defRPr>
            </a:pPr>
            <a:r>
              <a:rPr sz="1050" b="0">
                <a:solidFill>
                  <a:srgbClr val="65747C"/>
                </a:solidFill>
              </a:rPr>
              <a:t>mmCIF maps 634-677; local selection is shorter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F6A899-A91F-4F01-8CEC-B24E8FEA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5310"/>
            <a:ext cx="1057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4A7F55-CE7D-483F-80A6-D302AED3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8630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026"/>
                </a:solidFill>
              </a:defRPr>
            </a:pPr>
            <a:r>
              <a:rPr sz="1200" b="1">
                <a:solidFill>
                  <a:srgbClr val="132026"/>
                </a:solidFill>
              </a:rPr>
              <a:t>JM-A reference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03B4ED-707C-426D-89E4-27E48285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86300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C8"/>
                </a:solidFill>
              </a:defRPr>
            </a:pPr>
            <a:r>
              <a:rPr sz="1200" b="1">
                <a:solidFill>
                  <a:srgbClr val="00A8C8"/>
                </a:solidFill>
              </a:rPr>
              <a:t>2M20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8A1AFA-80E1-4260-BA1A-7F1C64EF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86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0505A"/>
                </a:solidFill>
              </a:defRPr>
            </a:pPr>
            <a:r>
              <a:rPr sz="1125" b="0">
                <a:solidFill>
                  <a:srgbClr val="40505A"/>
                </a:solidFill>
              </a:rPr>
              <a:t>membrane-proximal JM-A orientation 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6A0A9B-1BDF-4A43-802C-31CD365F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29150"/>
            <a:ext cx="3143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47C"/>
                </a:solidFill>
              </a:defRPr>
            </a:pPr>
            <a:r>
              <a:rPr sz="1050" b="0">
                <a:solidFill>
                  <a:srgbClr val="65747C"/>
                </a:solidFill>
              </a:rPr>
              <a:t>exact coordinate-generation execution path remains caveated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BFFEA4-940A-4494-A79D-F2065A85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33035"/>
            <a:ext cx="1057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BA84B3-B2F1-4E1F-BDB5-8EA03F44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2450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026"/>
                </a:solidFill>
              </a:defRPr>
            </a:pPr>
            <a:r>
              <a:rPr sz="1200" b="1">
                <a:solidFill>
                  <a:srgbClr val="132026"/>
                </a:solidFill>
              </a:rPr>
              <a:t>inactive KD dimer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739494-E1BC-41AA-98DA-ED8850B3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24500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C8"/>
                </a:solidFill>
              </a:defRPr>
            </a:pPr>
            <a:r>
              <a:rPr sz="1200" b="1">
                <a:solidFill>
                  <a:srgbClr val="00A8C8"/>
                </a:solidFill>
              </a:rPr>
              <a:t>3GT8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CE1239-3210-4B03-982B-0D3E3E27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5245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0505A"/>
                </a:solidFill>
              </a:defRPr>
            </a:pPr>
            <a:r>
              <a:rPr sz="1125" b="0">
                <a:solidFill>
                  <a:srgbClr val="40505A"/>
                </a:solidFill>
              </a:rPr>
              <a:t>symmetric inactive kinase-domain dimer placement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A58B8B-4DA7-4688-B5AA-6BDA0A95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5435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47C"/>
                </a:solidFill>
              </a:defRPr>
            </a:pPr>
            <a:r>
              <a:rPr sz="1050" b="0">
                <a:solidFill>
                  <a:srgbClr val="65747C"/>
                </a:solidFill>
              </a:rPr>
              <a:t>PDB numbering and working model numbering differ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8D4D76-B4E1-43AE-A148-BE3DFFCF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80760"/>
            <a:ext cx="1057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8EE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BDAA97-FC97-4FFD-A7FF-8949CFBE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3817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026"/>
                </a:solidFill>
              </a:defRPr>
            </a:pPr>
            <a:r>
              <a:rPr sz="1200" b="1">
                <a:solidFill>
                  <a:srgbClr val="132026"/>
                </a:solidFill>
              </a:rPr>
              <a:t>modeled gaps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D717C7-CB3D-4BB3-92C1-EEAC9E0E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381750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C8"/>
                </a:solidFill>
              </a:defRPr>
            </a:pPr>
            <a:r>
              <a:rPr sz="1200" b="1">
                <a:solidFill>
                  <a:srgbClr val="00A8C8"/>
                </a:solidFill>
              </a:rPr>
              <a:t>MODELLER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D6E7D1-EFC2-4584-B893-1F6BBF95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38175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0505A"/>
                </a:solidFill>
              </a:defRPr>
            </a:pPr>
            <a:r>
              <a:rPr sz="1125" b="0">
                <a:solidFill>
                  <a:srgbClr val="40505A"/>
                </a:solidFill>
              </a:rPr>
              <a:t>JM-B 684-704 and A-loop 862-876 were filled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62DFDD-C559-4D7B-8EB7-39806BE7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0080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47C"/>
                </a:solidFill>
              </a:defRPr>
            </a:pPr>
            <a:r>
              <a:rPr sz="1050" b="0">
                <a:solidFill>
                  <a:srgbClr val="65747C"/>
                </a:solidFill>
              </a:rPr>
              <a:t>modeled coordinates, not template-derived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EB552E-4AAE-4C85-B83F-C6F07ED9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990850"/>
            <a:ext cx="1447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Construction workflow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F3CFA2-C34A-4409-828D-54112A5B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3474720"/>
            <a:ext cx="5695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958D12-6BCD-4D2D-8871-CB65F749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6195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A66D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CE90F2-7E81-4522-873F-55A693C0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3619500"/>
            <a:ext cx="508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026"/>
                </a:solidFill>
              </a:defRPr>
            </a:pPr>
            <a:r>
              <a:rPr sz="1425" b="1">
                <a:solidFill>
                  <a:srgbClr val="132026"/>
                </a:solidFill>
              </a:rPr>
              <a:t>2M0B TM dimer alignment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6758E4-7C4D-43F6-9862-1F978E12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3867150"/>
            <a:ext cx="508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anchor membrane-spanning dimer geometry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632433-2BDD-4A8F-B676-0F3ACDF0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293870"/>
            <a:ext cx="5695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B6098C-BCCD-4F6D-8E87-E1D050E2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4577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52DB09-CEA3-4727-AF0D-8401CDCB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4438650"/>
            <a:ext cx="508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026"/>
                </a:solidFill>
              </a:defRPr>
            </a:pPr>
            <a:r>
              <a:rPr sz="1425" b="1">
                <a:solidFill>
                  <a:srgbClr val="132026"/>
                </a:solidFill>
              </a:rPr>
              <a:t>2M20 JM-A reference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EF4152-CDE9-4363-833D-E45A0909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4686300"/>
            <a:ext cx="508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orient membrane-proximal JM-A segment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DBE8DE-FA56-4543-B896-07C9CC3E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5113020"/>
            <a:ext cx="5695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E7ACA3-689F-43DC-BC5C-760B2BB9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2578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BA8288-516B-4B88-867B-BE207551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5257800"/>
            <a:ext cx="508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026"/>
                </a:solidFill>
              </a:defRPr>
            </a:pPr>
            <a:r>
              <a:rPr sz="1425" b="1">
                <a:solidFill>
                  <a:srgbClr val="132026"/>
                </a:solidFill>
              </a:rPr>
              <a:t>3GT8 inactive KD dimer placement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885B6AF-1AEE-4634-A8E3-35F436B9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5505450"/>
            <a:ext cx="508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retain inactive symmetric KD context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1F4D876-B341-4A3F-A3B9-B39EAD49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5932170"/>
            <a:ext cx="5695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9028680-6E81-4810-AFDC-A8A1A2EF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0960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903A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D588C1-E24B-45D2-B0FF-FBD6FD96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6076950"/>
            <a:ext cx="508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026"/>
                </a:solidFill>
              </a:defRPr>
            </a:pPr>
            <a:r>
              <a:rPr sz="1425" b="1">
                <a:solidFill>
                  <a:srgbClr val="132026"/>
                </a:solidFill>
              </a:rPr>
              <a:t>MODELLER gap filling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205C59B-6FC2-4837-856C-E840F4E3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6324600"/>
            <a:ext cx="508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JM-B and A-loop modeled gaps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A588A24-6808-4B4E-9A3C-F6F25AD0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751320"/>
            <a:ext cx="5695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9629F23-8874-45A4-8481-4AA0DD26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8961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A66D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BB39EDF-C7BA-4846-ACDC-70B4032F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6896100"/>
            <a:ext cx="508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026"/>
                </a:solidFill>
              </a:defRPr>
            </a:pPr>
            <a:r>
              <a:rPr sz="1425" b="1">
                <a:solidFill>
                  <a:srgbClr val="132026"/>
                </a:solidFill>
              </a:rPr>
              <a:t>five rotational variants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FBD2340-98EB-4CF5-8D01-CC1354EA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7143750"/>
            <a:ext cx="508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-20°, -10°, 0°, +10°, +20° for scan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271CDC3-F825-47AA-BF62-6AB9EFEE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7562850"/>
            <a:ext cx="5695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Structure render to add later: reports/assets/slide6_plus10_side_view.png or use 03_receptor_pack/figures/EGFR_plus10_domain_coloring.pml</a:t>
            </a:r>
          </a:p>
        </p:txBody>
      </p:sp>
      <p:sp>
        <p:nvSpPr>
          <p:cNvPr id="51" name="footer-label-03 / 09">
            <a:extLst xmlns:a="http://schemas.openxmlformats.org/drawingml/2006/main">
              <a:ext uri="{FF2B5EF4-FFF2-40B4-BE49-F238E27FC236}">
                <a16:creationId xmlns:a16="http://schemas.microsoft.com/office/drawing/2014/main" id="{F7C29586-BFD5-40EC-9535-8942E59C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03 / 09</a:t>
            </a:r>
          </a:p>
        </p:txBody>
      </p:sp>
      <p:sp>
        <p:nvSpPr>
          <p:cNvPr id="52" name="footer-source-03 / 09">
            <a:extLst xmlns:a="http://schemas.openxmlformats.org/drawingml/2006/main">
              <a:ext uri="{FF2B5EF4-FFF2-40B4-BE49-F238E27FC236}">
                <a16:creationId xmlns:a16="http://schemas.microsoft.com/office/drawing/2014/main" id="{8D9F5274-525C-41BD-984A-E9852EF1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9563100"/>
            <a:ext cx="3619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Sources: 1.align/*, 01_numbering_provenance/template_model_mapping.csv</a:t>
            </a:r>
          </a:p>
        </p:txBody>
      </p:sp>
    </p:spTree>
    <p:extLst>
      <p:ext uri="{BB962C8B-B14F-4D97-AF65-F5344CB8AC3E}">
        <p14:creationId xmlns:p14="http://schemas.microsoft.com/office/powerpoint/2010/main" val="159093166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86FB54B8-44AB-47E9-94FD-6E7C1E0E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1314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Orientation scan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D120E6-2F79-4D81-A853-DFF24209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99822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32026"/>
                </a:solidFill>
              </a:defRPr>
            </a:pPr>
            <a:r>
              <a:rPr sz="3900" b="1">
                <a:solidFill>
                  <a:srgbClr val="132026"/>
                </a:solidFill>
              </a:rPr>
              <a:t>Five TM-KD rotations screened; +10° ranked best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A321178-A546-41DD-AEB7-DFD90C19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9677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0505A"/>
                </a:solidFill>
              </a:defRPr>
            </a:pPr>
            <a:r>
              <a:rPr sz="1800">
                <a:solidFill>
                  <a:srgbClr val="40505A"/>
                </a:solidFill>
              </a:rPr>
              <a:t>Available parsed metrics support +10° as the working EGFR receptor orientation, with scan-level caveats.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0AEE29-6132-4C31-8CA2-DE8D1235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1885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+10° selected metric snapshot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ED4E00-99C5-4B27-B084-B0A3E4F6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6620"/>
            <a:ext cx="4762500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A4C038-E786-4CFA-9BFE-683393D8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19500"/>
            <a:ext cx="430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RMSD mean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6D6052-CAEB-4F39-B7E2-E469F7B3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48100"/>
            <a:ext cx="4305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3A66D"/>
                </a:solidFill>
              </a:defRPr>
            </a:pPr>
            <a:r>
              <a:rPr sz="3150" b="1">
                <a:solidFill>
                  <a:srgbClr val="23A66D"/>
                </a:solidFill>
              </a:rPr>
              <a:t>2.68 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3C8638-73E7-4120-92A3-A5F9433F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00550"/>
            <a:ext cx="430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±0.39; lowest among parsed scan metrics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1A8318-6A6C-4ED0-92C5-B56CE8F9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08245"/>
            <a:ext cx="4762500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0AF68F-4F59-42E5-9E2B-2C104484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00650"/>
            <a:ext cx="430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Rg mean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796616-DA6F-44FE-8FFF-4EE0708A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29250"/>
            <a:ext cx="4305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A8C8"/>
                </a:solidFill>
              </a:defRPr>
            </a:pPr>
            <a:r>
              <a:rPr sz="3150" b="1">
                <a:solidFill>
                  <a:srgbClr val="00A8C8"/>
                </a:solidFill>
              </a:rPr>
              <a:t>28.31 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83211B-017D-460B-A541-4BFEF562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962650"/>
            <a:ext cx="430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±0.12; compact/stable relative frame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4DC4A0-2D30-4872-AD33-BA877A09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79870"/>
            <a:ext cx="4762500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9685B2-7FFD-4E19-A5E1-A9134BAB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62750"/>
            <a:ext cx="430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Inter-chain H-bond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253DBF-8A36-4F7B-89DD-B29001DB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991350"/>
            <a:ext cx="4305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E6903A"/>
                </a:solidFill>
              </a:defRPr>
            </a:pPr>
            <a:r>
              <a:rPr sz="3150" b="1">
                <a:solidFill>
                  <a:srgbClr val="E6903A"/>
                </a:solidFill>
              </a:rPr>
              <a:t>11.49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0EC377-7E36-416F-BFB4-1B233167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543800"/>
            <a:ext cx="430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±3.11 where available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E7FCFC-A409-477E-A410-35460B0F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53400"/>
            <a:ext cx="476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Caveat: orientation-wide membrane/contact metrics are incomplete, so this is an available-metric ranking rather than a complete biological stability score.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624EAB-A70D-42A8-BEEE-03D737D5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75610"/>
            <a:ext cx="5686425" cy="2750820"/>
          </a:xfrm>
          <a:prstGeom xmlns:a="http://schemas.openxmlformats.org/drawingml/2006/main" prst="roundRect">
            <a:avLst>
              <a:gd name="adj" fmla="val 2770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19" name="slide4-rms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9dd8c55b4d49c7"/>
          <a:stretch xmlns:a="http://schemas.openxmlformats.org/drawingml/2006/main"/>
        </p:blipFill>
        <p:spPr>
          <a:xfrm xmlns:a="http://schemas.openxmlformats.org/drawingml/2006/main">
            <a:off x="6716554" y="3070860"/>
            <a:ext cx="4140518" cy="236601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69F857-2570-4E9F-863F-31F5A19C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486400"/>
            <a:ext cx="5467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RMSD by orientation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242119-0C66-4F79-9A6F-4A592309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475" y="2975610"/>
            <a:ext cx="5686425" cy="2750820"/>
          </a:xfrm>
          <a:prstGeom xmlns:a="http://schemas.openxmlformats.org/drawingml/2006/main" prst="roundRect">
            <a:avLst>
              <a:gd name="adj" fmla="val 2770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22" name="slide4-r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39c0096d1f48f3"/>
          <a:stretch xmlns:a="http://schemas.openxmlformats.org/drawingml/2006/main"/>
        </p:blipFill>
        <p:spPr>
          <a:xfrm xmlns:a="http://schemas.openxmlformats.org/drawingml/2006/main">
            <a:off x="12574429" y="3070860"/>
            <a:ext cx="4140518" cy="236601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D578AB-CFE2-4E30-BAFC-57764F92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5486400"/>
            <a:ext cx="5467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Radius of gyration by orientation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BF1774-D074-48B7-8885-0179671D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897880"/>
            <a:ext cx="5686425" cy="2750820"/>
          </a:xfrm>
          <a:prstGeom xmlns:a="http://schemas.openxmlformats.org/drawingml/2006/main" prst="roundRect">
            <a:avLst>
              <a:gd name="adj" fmla="val 2770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25" name="slide4-hbon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06d8db35b84b90"/>
          <a:stretch xmlns:a="http://schemas.openxmlformats.org/drawingml/2006/main"/>
        </p:blipFill>
        <p:spPr>
          <a:xfrm xmlns:a="http://schemas.openxmlformats.org/drawingml/2006/main">
            <a:off x="6716554" y="5993130"/>
            <a:ext cx="4140518" cy="236601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A8C418-234D-4AAF-818B-9902D147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8420100"/>
            <a:ext cx="5467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Inter-chain H-bond count where available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4CB8C4-FAB6-4C3B-8022-D0CF41D6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475" y="5897880"/>
            <a:ext cx="5686425" cy="2750820"/>
          </a:xfrm>
          <a:prstGeom xmlns:a="http://schemas.openxmlformats.org/drawingml/2006/main" prst="roundRect">
            <a:avLst>
              <a:gd name="adj" fmla="val 2770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28" name="slide4-sco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9475a6733647b7"/>
          <a:stretch xmlns:a="http://schemas.openxmlformats.org/drawingml/2006/main"/>
        </p:blipFill>
        <p:spPr>
          <a:xfrm xmlns:a="http://schemas.openxmlformats.org/drawingml/2006/main">
            <a:off x="12574429" y="5993130"/>
            <a:ext cx="4140518" cy="236601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5A7B22-7704-4957-B49A-35F7E65E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8420100"/>
            <a:ext cx="5467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Available-metric orientation score</a:t>
            </a:r>
          </a:p>
        </p:txBody>
      </p:sp>
      <p:sp>
        <p:nvSpPr>
          <p:cNvPr id="30" name="footer-label-04 / 09">
            <a:extLst xmlns:a="http://schemas.openxmlformats.org/drawingml/2006/main">
              <a:ext uri="{FF2B5EF4-FFF2-40B4-BE49-F238E27FC236}">
                <a16:creationId xmlns:a16="http://schemas.microsoft.com/office/drawing/2014/main" id="{484E8CC2-4080-4783-9B9A-4EEA5E35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821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04 / 09</a:t>
            </a:r>
          </a:p>
        </p:txBody>
      </p:sp>
      <p:sp>
        <p:nvSpPr>
          <p:cNvPr id="31" name="footer-source-04 / 09">
            <a:extLst xmlns:a="http://schemas.openxmlformats.org/drawingml/2006/main">
              <a:ext uri="{FF2B5EF4-FFF2-40B4-BE49-F238E27FC236}">
                <a16:creationId xmlns:a16="http://schemas.microsoft.com/office/drawing/2014/main" id="{50975E2C-E72B-42D5-A0CA-34A2B0A8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9544050"/>
            <a:ext cx="3714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Sources: 02_orientation_metrics/orientation_comparison_table.csv and figures/</a:t>
            </a:r>
          </a:p>
        </p:txBody>
      </p:sp>
    </p:spTree>
    <p:extLst>
      <p:ext uri="{BB962C8B-B14F-4D97-AF65-F5344CB8AC3E}">
        <p14:creationId xmlns:p14="http://schemas.microsoft.com/office/powerpoint/2010/main" val="154824238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28248F8E-79FA-4554-940B-40FEBFC3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"/>
            <a:ext cx="1123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MD validation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DC5B85-4D2E-42FF-A922-12018C61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95350"/>
            <a:ext cx="99250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32026"/>
                </a:solidFill>
              </a:defRPr>
            </a:pPr>
            <a:r>
              <a:rPr sz="3900" b="1">
                <a:solidFill>
                  <a:srgbClr val="132026"/>
                </a:solidFill>
              </a:rPr>
              <a:t>Final +10 no-water 200 ns trajectory is identified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E8DD84E-DC58-458A-89E8-69FA1C1B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811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0505A"/>
                </a:solidFill>
              </a:defRPr>
            </a:pPr>
            <a:r>
              <a:rPr sz="1800">
                <a:solidFill>
                  <a:srgbClr val="40505A"/>
                </a:solidFill>
              </a:rPr>
              <a:t>Final pair: EGFR_plus10_step7_production_nw.gro + EGFR_plus10_step7_200ns_nw.xtc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4F40FC-471B-4E96-8751-3BD997A1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68830"/>
            <a:ext cx="4043363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6F1D04-B8B4-492C-8408-FEE56EB0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6695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gmx_check atoms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75743D-7F23-45E8-964B-B789967A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95550"/>
            <a:ext cx="3581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3A66D"/>
                </a:solidFill>
              </a:defRPr>
            </a:pPr>
            <a:r>
              <a:rPr sz="3150" b="1">
                <a:solidFill>
                  <a:srgbClr val="23A66D"/>
                </a:solidFill>
              </a:rPr>
              <a:t>49,854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729468-AD5C-42BF-8870-4BEB1D76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final no-water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0DF560-347A-436A-8352-A7EEC7BF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913" y="2068830"/>
            <a:ext cx="4043363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D97963-8651-4B76-81ED-53D41A37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6695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coordinate frames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C5B522-8C03-48CF-9F83-01EFBB34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95550"/>
            <a:ext cx="3581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A8C8"/>
                </a:solidFill>
              </a:defRPr>
            </a:pPr>
            <a:r>
              <a:rPr sz="3150" b="1">
                <a:solidFill>
                  <a:srgbClr val="00A8C8"/>
                </a:solidFill>
              </a:rPr>
              <a:t>2,001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78244D-3220-4B15-A33B-1B18713C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2895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100 ps output interval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1BAE42-832E-4B33-9D20-3186FFED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068830"/>
            <a:ext cx="4043363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B6847C-594D-40AB-9080-B4FD5EE1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6695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time span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AA4232-303F-4110-837A-01BA3DA8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95550"/>
            <a:ext cx="3581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E6903A"/>
                </a:solidFill>
              </a:defRPr>
            </a:pPr>
            <a:r>
              <a:rPr sz="3150" b="1">
                <a:solidFill>
                  <a:srgbClr val="E6903A"/>
                </a:solidFill>
              </a:rPr>
              <a:t>0-200 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4A9BF0-DCE5-4F38-BDD9-8C2C6F6A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2895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0-200,000 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9540DD-0CFA-4026-8060-218FE1B6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4538" y="2068830"/>
            <a:ext cx="4043363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6F4DE6-2BDE-46D9-BDCD-49DB1609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226695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analysis status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B30A02-BF21-4526-A32A-C8CCDFCD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2495550"/>
            <a:ext cx="3581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3A66D"/>
                </a:solidFill>
              </a:defRPr>
            </a:pPr>
            <a:r>
              <a:rPr sz="3150" b="1">
                <a:solidFill>
                  <a:srgbClr val="23A66D"/>
                </a:solidFill>
              </a:rPr>
              <a:t>OK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E4E9C1-C180-49C6-B1B5-2186A2F2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302895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final-pair metric rows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E424AC-2B29-4A4B-947E-452368CF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4755"/>
            <a:ext cx="5448300" cy="4531995"/>
          </a:xfrm>
          <a:prstGeom xmlns:a="http://schemas.openxmlformats.org/drawingml/2006/main" prst="roundRect">
            <a:avLst>
              <a:gd name="adj" fmla="val 1681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21" name="slide5-kd-distanc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0008730be94ece"/>
          <a:stretch xmlns:a="http://schemas.openxmlformats.org/drawingml/2006/main"/>
        </p:blipFill>
        <p:spPr>
          <a:xfrm xmlns:a="http://schemas.openxmlformats.org/drawingml/2006/main">
            <a:off x="914400" y="4531678"/>
            <a:ext cx="5219700" cy="278384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425D73-EFAA-4851-BFE3-BD1DD60C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58150"/>
            <a:ext cx="5219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KD-to-membrane absolute distance across final 200 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45E9AB-67A7-45B3-AF21-D7E3EA6E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54755"/>
            <a:ext cx="5448300" cy="4531995"/>
          </a:xfrm>
          <a:prstGeom xmlns:a="http://schemas.openxmlformats.org/drawingml/2006/main" prst="roundRect">
            <a:avLst>
              <a:gd name="adj" fmla="val 1681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24" name="slide5-contact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66c8b95e5842c7"/>
          <a:stretch xmlns:a="http://schemas.openxmlformats.org/drawingml/2006/main"/>
        </p:blipFill>
        <p:spPr>
          <a:xfrm xmlns:a="http://schemas.openxmlformats.org/drawingml/2006/main">
            <a:off x="6534150" y="4531678"/>
            <a:ext cx="5219700" cy="278384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F50BB2-D3FB-4DEE-B5FD-46DD6FDA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8058150"/>
            <a:ext cx="5219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Inter-protomer heavy contacts within 4.5 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A6D871-361F-46E7-B9F0-9DF1829A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3754755"/>
            <a:ext cx="5448300" cy="4531995"/>
          </a:xfrm>
          <a:prstGeom xmlns:a="http://schemas.openxmlformats.org/drawingml/2006/main" prst="roundRect">
            <a:avLst>
              <a:gd name="adj" fmla="val 1681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27" name="slide5-tm-kd-til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0feab23e9b456c"/>
          <a:stretch xmlns:a="http://schemas.openxmlformats.org/drawingml/2006/main"/>
        </p:blipFill>
        <p:spPr>
          <a:xfrm xmlns:a="http://schemas.openxmlformats.org/drawingml/2006/main">
            <a:off x="12153900" y="4531678"/>
            <a:ext cx="5219700" cy="278384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E50B79-450B-4A87-AC9B-4299D35F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8058150"/>
            <a:ext cx="5219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TM-KD vector angle relative to membrane normal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A7471E-A4EE-4964-9441-A1CDBCA5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496300"/>
            <a:ext cx="16687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Boundary note: 3.rotate_EGFR/10/full_200ns.xtc is not used as final evidence; final claim uses the packaged receptor/trajectory pair and uploaded gmx_check log.</a:t>
            </a:r>
          </a:p>
        </p:txBody>
      </p:sp>
      <p:sp>
        <p:nvSpPr>
          <p:cNvPr id="30" name="footer-label-05 / 09">
            <a:extLst xmlns:a="http://schemas.openxmlformats.org/drawingml/2006/main">
              <a:ext uri="{FF2B5EF4-FFF2-40B4-BE49-F238E27FC236}">
                <a16:creationId xmlns:a16="http://schemas.microsoft.com/office/drawing/2014/main" id="{B1039C29-B341-43A1-B0AC-DDFEA37F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05 / 09</a:t>
            </a:r>
          </a:p>
        </p:txBody>
      </p:sp>
      <p:sp>
        <p:nvSpPr>
          <p:cNvPr id="31" name="footer-source-05 / 09">
            <a:extLst xmlns:a="http://schemas.openxmlformats.org/drawingml/2006/main">
              <a:ext uri="{FF2B5EF4-FFF2-40B4-BE49-F238E27FC236}">
                <a16:creationId xmlns:a16="http://schemas.microsoft.com/office/drawing/2014/main" id="{16E4A53C-6DB8-4A3B-9AF9-81C6C007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9563100"/>
            <a:ext cx="5086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Sources: 03_receptor_pack/metadata/gmx_check_EGFR_plus10_step7_200ns_nw.txt and trajectory_metrics/</a:t>
            </a:r>
          </a:p>
        </p:txBody>
      </p:sp>
    </p:spTree>
    <p:extLst>
      <p:ext uri="{BB962C8B-B14F-4D97-AF65-F5344CB8AC3E}">
        <p14:creationId xmlns:p14="http://schemas.microsoft.com/office/powerpoint/2010/main" val="6553961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A662DF0D-87FA-4778-BA0D-C96C4A36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1924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Structural interpretation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21277C1-A4D1-4F04-BCE8-E916B7D4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113919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32026"/>
                </a:solidFill>
              </a:defRPr>
            </a:pPr>
            <a:r>
              <a:rPr sz="3900" b="1">
                <a:solidFill>
                  <a:srgbClr val="132026"/>
                </a:solidFill>
              </a:rPr>
              <a:t>+10° receptor frame is the downstream input candidate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32235D9-4C98-4E7C-8D3E-2B8F79F0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121348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0505A"/>
                </a:solidFill>
              </a:defRPr>
            </a:pPr>
            <a:r>
              <a:rPr sz="1800">
                <a:solidFill>
                  <a:srgbClr val="40505A"/>
                </a:solidFill>
              </a:rPr>
              <a:t>현재 단계에서는 membrane-compatible inactive dimer frame으로 해석하되, 구조 render는 실제 PDB/GRO에서 생성해야 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32F1A-07E0-41B9-8181-8E1F871D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6560"/>
            <a:ext cx="5057775" cy="5692140"/>
          </a:xfrm>
          <a:prstGeom xmlns:a="http://schemas.openxmlformats.org/drawingml/2006/main" prst="roundRect">
            <a:avLst>
              <a:gd name="adj" fmla="val 1507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75CD45-8471-4ACD-9CF4-FA391409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1352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6903A"/>
                </a:solidFill>
              </a:defRPr>
            </a:pPr>
            <a:r>
              <a:rPr sz="1200" b="1">
                <a:solidFill>
                  <a:srgbClr val="E6903A"/>
                </a:solidFill>
              </a:rPr>
              <a:t>render image needed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442A39-1CC8-47CB-BCC3-62078BB7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05200"/>
            <a:ext cx="4533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32026"/>
                </a:solidFill>
              </a:defRPr>
            </a:pPr>
            <a:r>
              <a:rPr sz="2100" b="1">
                <a:solidFill>
                  <a:srgbClr val="132026"/>
                </a:solidFill>
              </a:rPr>
              <a:t>Side view: membrane plane + EGFR dimer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2CFF62-D61D-4100-9539-700D2E97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903A"/>
          </a:solidFill>
          <a:ln xmlns:a="http://schemas.openxmlformats.org/drawingml/2006/main" w="0">
            <a:solidFill>
              <a:srgbClr val="E690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9BB1D5-DCE1-4C24-9A2A-2999F795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453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0505A"/>
                </a:solidFill>
              </a:defRPr>
            </a:pPr>
            <a:r>
              <a:rPr sz="1200">
                <a:solidFill>
                  <a:srgbClr val="40505A"/>
                </a:solidFill>
              </a:rPr>
              <a:t>Add later: reports/assets/slide6_plus10_side_view.png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4D7B47-4135-4D2B-821D-D8110261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4533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Source: 03_receptor_pack/receptor/EGFR_plus10_final_model_EGFR_rot10_best.pdb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BE58FD-040F-46C9-9EAD-2795352D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4533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Render script: 03_receptor_pack/figures/EGFR_plus10_domain_coloring.pml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A66626-52C5-47A7-AA31-B6C6CBCE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956560"/>
            <a:ext cx="5057775" cy="5692140"/>
          </a:xfrm>
          <a:prstGeom xmlns:a="http://schemas.openxmlformats.org/drawingml/2006/main" prst="roundRect">
            <a:avLst>
              <a:gd name="adj" fmla="val 1507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75488F-9D35-4678-87C8-44B1D14F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1352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6903A"/>
                </a:solidFill>
              </a:defRPr>
            </a:pPr>
            <a:r>
              <a:rPr sz="1200" b="1">
                <a:solidFill>
                  <a:srgbClr val="E6903A"/>
                </a:solidFill>
              </a:rPr>
              <a:t>render image needed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754680-38AF-4AE6-957F-FC9475F1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05200"/>
            <a:ext cx="4533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32026"/>
                </a:solidFill>
              </a:defRPr>
            </a:pPr>
            <a:r>
              <a:rPr sz="2100" b="1">
                <a:solidFill>
                  <a:srgbClr val="132026"/>
                </a:solidFill>
              </a:rPr>
              <a:t>Top view: dimer interface orientation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171F52-F5EF-4E2A-9BAE-18C954E8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624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903A"/>
          </a:solidFill>
          <a:ln xmlns:a="http://schemas.openxmlformats.org/drawingml/2006/main" w="0">
            <a:solidFill>
              <a:srgbClr val="E690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BC3A0F-5F31-4BCD-9987-E2ADF6F5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33850"/>
            <a:ext cx="453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0505A"/>
                </a:solidFill>
              </a:defRPr>
            </a:pPr>
            <a:r>
              <a:rPr sz="1200">
                <a:solidFill>
                  <a:srgbClr val="40505A"/>
                </a:solidFill>
              </a:rPr>
              <a:t>Add later: reports/assets/slide6_plus10_top_view.png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01701D-346C-4276-A6C6-84114AEE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38650"/>
            <a:ext cx="4533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Source: 03_receptor_pack/receptor/EGFR_plus10_step7_production_nw.gro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132080-6C6E-4DE3-91EF-B3B40528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43450"/>
            <a:ext cx="4533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Render script: 03_receptor_pack/figures/EGFR_plus10_domain_coloring.cxc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81D81E-C214-4C63-9B44-AE87703D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952750"/>
            <a:ext cx="895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4023C7-B580-492D-8805-4061E21F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2956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D26D45-E087-4CA4-BDA1-3155F96C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3295650"/>
            <a:ext cx="58674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+10° model preserves a membrane-proximal inactive TM-JM-KD dimer frame.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AF4CE0-9391-4627-8420-26217720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962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89C22B-4599-405E-AD46-43FC7475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3962400"/>
            <a:ext cx="58674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Final 200 ns metrics support using this receptor frame as the next input candidate.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9C1E04-57BB-4E72-9B40-8867B452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4648200"/>
            <a:ext cx="6076950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0B6ED5-0D54-439E-8FD7-43F2D8D4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4838700"/>
            <a:ext cx="5619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150-200 ns KD distance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8B8D28-7A41-44DB-B06F-0E2BBC92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5067300"/>
            <a:ext cx="5619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3A66D"/>
                </a:solidFill>
              </a:defRPr>
            </a:pPr>
            <a:r>
              <a:rPr sz="3150" b="1">
                <a:solidFill>
                  <a:srgbClr val="23A66D"/>
                </a:solidFill>
              </a:rPr>
              <a:t>25.66 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B19C01-BA75-4771-88D5-41FBFE8B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5600700"/>
            <a:ext cx="5619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±0.86 from final-pair analysis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969F4E-6EBF-4FE2-91E7-28F1BDD3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276975"/>
            <a:ext cx="6076950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7683C7-D610-4D67-9ECB-CFCFD1CF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6477000"/>
            <a:ext cx="5619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150-200 ns contacts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7A2A29-3E62-4EA2-A617-FBAC8E60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6705600"/>
            <a:ext cx="5619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A8C8"/>
                </a:solidFill>
              </a:defRPr>
            </a:pPr>
            <a:r>
              <a:rPr sz="3150" b="1">
                <a:solidFill>
                  <a:srgbClr val="00A8C8"/>
                </a:solidFill>
              </a:rPr>
              <a:t>505.28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6D4971-C8F7-4D98-A7C1-06D56DC7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7239000"/>
            <a:ext cx="5619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±38.10 heavy contacts within 4.5 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4DA2D9-E953-444F-BA6B-7BDEE401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7905750"/>
            <a:ext cx="6076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Caveats: GRO lacks chain IDs, so protomers are split by residue order; residue labels 689/692/713/715 are not all lysines in the final topology.</a:t>
            </a:r>
          </a:p>
        </p:txBody>
      </p:sp>
      <p:sp>
        <p:nvSpPr>
          <p:cNvPr id="32" name="footer-label-06 / 09">
            <a:extLst xmlns:a="http://schemas.openxmlformats.org/drawingml/2006/main">
              <a:ext uri="{FF2B5EF4-FFF2-40B4-BE49-F238E27FC236}">
                <a16:creationId xmlns:a16="http://schemas.microsoft.com/office/drawing/2014/main" id="{EF1F6FC1-4CD0-453C-9C7C-690F3C41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821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06 / 09</a:t>
            </a:r>
          </a:p>
        </p:txBody>
      </p:sp>
      <p:sp>
        <p:nvSpPr>
          <p:cNvPr id="33" name="footer-source-06 / 09">
            <a:extLst xmlns:a="http://schemas.openxmlformats.org/drawingml/2006/main">
              <a:ext uri="{FF2B5EF4-FFF2-40B4-BE49-F238E27FC236}">
                <a16:creationId xmlns:a16="http://schemas.microsoft.com/office/drawing/2014/main" id="{98A7CE19-5D21-4669-98DA-CD214446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9544050"/>
            <a:ext cx="4248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Sources: final +10 PDB/GRO, membrane_stability_*_mdanalysis.csv, domain coloring scripts</a:t>
            </a:r>
          </a:p>
        </p:txBody>
      </p:sp>
    </p:spTree>
    <p:extLst>
      <p:ext uri="{BB962C8B-B14F-4D97-AF65-F5344CB8AC3E}">
        <p14:creationId xmlns:p14="http://schemas.microsoft.com/office/powerpoint/2010/main" val="5531314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2026-04-29T12:35:47.9300000Z</dcterms:created>
  <dcterms:modified xsi:type="dcterms:W3CDTF">2026-04-29T12:35:47.9300000Z</dcterms:modified>
</coreProperties>
</file>